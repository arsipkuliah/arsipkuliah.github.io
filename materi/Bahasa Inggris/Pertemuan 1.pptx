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6"/>
  </p:notesMasterIdLst>
  <p:sldIdLst>
    <p:sldId id="256" r:id="rId2"/>
    <p:sldId id="257" r:id="rId3"/>
    <p:sldId id="258" r:id="rId4"/>
    <p:sldId id="259" r:id="rId5"/>
    <p:sldId id="261" r:id="rId6"/>
    <p:sldId id="286" r:id="rId7"/>
    <p:sldId id="287" r:id="rId8"/>
    <p:sldId id="262" r:id="rId9"/>
    <p:sldId id="313" r:id="rId10"/>
    <p:sldId id="302" r:id="rId11"/>
    <p:sldId id="303" r:id="rId12"/>
    <p:sldId id="304" r:id="rId13"/>
    <p:sldId id="305" r:id="rId14"/>
    <p:sldId id="306" r:id="rId15"/>
    <p:sldId id="307" r:id="rId16"/>
    <p:sldId id="308" r:id="rId17"/>
    <p:sldId id="309" r:id="rId18"/>
    <p:sldId id="310" r:id="rId19"/>
    <p:sldId id="311" r:id="rId20"/>
    <p:sldId id="312" r:id="rId21"/>
    <p:sldId id="288"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270"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B90892-A435-4BB8-BBB8-70356C2C7A06}" type="datetimeFigureOut">
              <a:rPr lang="id-ID" smtClean="0"/>
              <a:t>12/09/2023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E9FE-32DF-42FD-80E3-3B517924A853}" type="slidenum">
              <a:rPr lang="id-ID" smtClean="0"/>
              <a:t>‹#›</a:t>
            </a:fld>
            <a:endParaRPr lang="id-ID"/>
          </a:p>
        </p:txBody>
      </p:sp>
    </p:spTree>
    <p:extLst>
      <p:ext uri="{BB962C8B-B14F-4D97-AF65-F5344CB8AC3E}">
        <p14:creationId xmlns:p14="http://schemas.microsoft.com/office/powerpoint/2010/main" val="4104245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14A864-E2BB-46D1-AEB9-5193FC3E5F27}" type="datetime1">
              <a:rPr lang="id-ID" smtClean="0"/>
              <a:t>12/09/2023</a:t>
            </a:fld>
            <a:endParaRPr lang="id-ID"/>
          </a:p>
        </p:txBody>
      </p:sp>
      <p:sp>
        <p:nvSpPr>
          <p:cNvPr id="5" name="Footer Placeholder 4"/>
          <p:cNvSpPr>
            <a:spLocks noGrp="1"/>
          </p:cNvSpPr>
          <p:nvPr>
            <p:ph type="ftr" sz="quarter" idx="11"/>
          </p:nvPr>
        </p:nvSpPr>
        <p:spPr>
          <a:xfrm>
            <a:off x="812805" y="6272785"/>
            <a:ext cx="4745736" cy="365125"/>
          </a:xfrm>
        </p:spPr>
        <p:txBody>
          <a:bodyPr/>
          <a:lstStyle/>
          <a:p>
            <a:endParaRPr lang="id-ID"/>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0BEEEC3A-66DB-44B3-B1C4-FF7A07C26C70}" type="slidenum">
              <a:rPr lang="id-ID" smtClean="0"/>
              <a:t>‹#›</a:t>
            </a:fld>
            <a:endParaRPr lang="id-ID"/>
          </a:p>
        </p:txBody>
      </p:sp>
    </p:spTree>
    <p:extLst>
      <p:ext uri="{BB962C8B-B14F-4D97-AF65-F5344CB8AC3E}">
        <p14:creationId xmlns:p14="http://schemas.microsoft.com/office/powerpoint/2010/main" val="2694511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6D8A40-8630-4128-B43D-A8792D906167}" type="datetime1">
              <a:rPr lang="id-ID" smtClean="0"/>
              <a:t>12/09/2023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219797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9AF40CC8-A156-4DD1-BA5B-3A51793C4B0F}" type="datetime1">
              <a:rPr lang="id-ID" smtClean="0"/>
              <a:t>12/09/2023</a:t>
            </a:fld>
            <a:endParaRPr lang="id-ID"/>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id-ID"/>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0BEEEC3A-66DB-44B3-B1C4-FF7A07C26C70}" type="slidenum">
              <a:rPr lang="id-ID" smtClean="0"/>
              <a:t>‹#›</a:t>
            </a:fld>
            <a:endParaRPr lang="id-ID"/>
          </a:p>
        </p:txBody>
      </p:sp>
    </p:spTree>
    <p:extLst>
      <p:ext uri="{BB962C8B-B14F-4D97-AF65-F5344CB8AC3E}">
        <p14:creationId xmlns:p14="http://schemas.microsoft.com/office/powerpoint/2010/main" val="483126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FB8BF3-E2A2-434D-B1AF-3696C83936D9}" type="datetime1">
              <a:rPr lang="id-ID" smtClean="0"/>
              <a:t>12/09/2023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824431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06993E-26EC-4E73-B44E-04C8562B5E4A}" type="datetime1">
              <a:rPr lang="id-ID" smtClean="0"/>
              <a:t>12/09/2023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147375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8499812D-3B7A-4691-AF9F-D418C18F0E51}" type="datetime1">
              <a:rPr lang="id-ID" smtClean="0"/>
              <a:t>12/09/2023</a:t>
            </a:fld>
            <a:endParaRPr lang="id-ID"/>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285768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F726DF-24BE-4CF0-B8E5-A32654FE75D2}" type="datetime1">
              <a:rPr lang="id-ID" smtClean="0"/>
              <a:t>12/09/2023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293845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70A48585-DBB5-4573-8B19-01005E4A1735}" type="datetime1">
              <a:rPr lang="id-ID" smtClean="0"/>
              <a:t>12/09/2023</a:t>
            </a:fld>
            <a:endParaRPr lang="id-ID"/>
          </a:p>
        </p:txBody>
      </p:sp>
      <p:sp>
        <p:nvSpPr>
          <p:cNvPr id="10" name="Footer Placeholder 9"/>
          <p:cNvSpPr>
            <a:spLocks noGrp="1"/>
          </p:cNvSpPr>
          <p:nvPr>
            <p:ph type="ftr" sz="quarter" idx="11"/>
          </p:nvPr>
        </p:nvSpPr>
        <p:spPr/>
        <p:txBody>
          <a:bodyPr/>
          <a:lstStyle/>
          <a:p>
            <a:endParaRPr lang="id-ID"/>
          </a:p>
        </p:txBody>
      </p:sp>
      <p:sp>
        <p:nvSpPr>
          <p:cNvPr id="11" name="Slide Number Placeholder 10"/>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37218996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BC259200-3261-4FE4-8FA9-DEE19439A46B}" type="datetime1">
              <a:rPr lang="id-ID" smtClean="0"/>
              <a:t>12/09/2023</a:t>
            </a:fld>
            <a:endParaRPr lang="id-ID"/>
          </a:p>
        </p:txBody>
      </p:sp>
      <p:sp>
        <p:nvSpPr>
          <p:cNvPr id="10" name="Slide Number Placeholder 9"/>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1595800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E66392-25DA-4861-A646-E9576F376C5A}" type="datetime1">
              <a:rPr lang="id-ID" smtClean="0"/>
              <a:t>12/09/2023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2643049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D6F44-A2B8-46F1-962D-A13113D32898}" type="datetime1">
              <a:rPr lang="id-ID" smtClean="0"/>
              <a:t>12/09/2023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BEEEC3A-66DB-44B3-B1C4-FF7A07C26C70}" type="slidenum">
              <a:rPr lang="id-ID" smtClean="0"/>
              <a:t>‹#›</a:t>
            </a:fld>
            <a:endParaRPr lang="id-ID"/>
          </a:p>
        </p:txBody>
      </p:sp>
    </p:spTree>
    <p:extLst>
      <p:ext uri="{BB962C8B-B14F-4D97-AF65-F5344CB8AC3E}">
        <p14:creationId xmlns:p14="http://schemas.microsoft.com/office/powerpoint/2010/main" val="3891779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70A48585-DBB5-4573-8B19-01005E4A1735}" type="datetime1">
              <a:rPr lang="id-ID" smtClean="0"/>
              <a:t>12/09/2023</a:t>
            </a:fld>
            <a:endParaRPr lang="id-ID"/>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id-ID"/>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0BEEEC3A-66DB-44B3-B1C4-FF7A07C26C70}" type="slidenum">
              <a:rPr lang="id-ID" smtClean="0"/>
              <a:t>‹#›</a:t>
            </a:fld>
            <a:endParaRPr lang="id-ID"/>
          </a:p>
        </p:txBody>
      </p:sp>
    </p:spTree>
    <p:extLst>
      <p:ext uri="{BB962C8B-B14F-4D97-AF65-F5344CB8AC3E}">
        <p14:creationId xmlns:p14="http://schemas.microsoft.com/office/powerpoint/2010/main" val="198539149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0608" y="1811246"/>
            <a:ext cx="7543800" cy="1689761"/>
          </a:xfrm>
        </p:spPr>
        <p:txBody>
          <a:bodyPr>
            <a:noAutofit/>
          </a:bodyPr>
          <a:lstStyle/>
          <a:p>
            <a:pPr algn="ctr"/>
            <a:br>
              <a:rPr lang="en-US" sz="3200" b="1" dirty="0">
                <a:latin typeface="Cambria" panose="02040503050406030204" pitchFamily="18" charset="0"/>
              </a:rPr>
            </a:br>
            <a:r>
              <a:rPr lang="id-ID" sz="3200" b="1" dirty="0">
                <a:latin typeface="Cambria" panose="02040503050406030204" pitchFamily="18" charset="0"/>
              </a:rPr>
              <a:t>PENDIDIKAN KEWARGANEGARAAN</a:t>
            </a:r>
          </a:p>
        </p:txBody>
      </p:sp>
      <p:sp>
        <p:nvSpPr>
          <p:cNvPr id="7" name="Date Placeholder 6"/>
          <p:cNvSpPr>
            <a:spLocks noGrp="1"/>
          </p:cNvSpPr>
          <p:nvPr>
            <p:ph type="dt" sz="half" idx="10"/>
          </p:nvPr>
        </p:nvSpPr>
        <p:spPr/>
        <p:txBody>
          <a:bodyPr/>
          <a:lstStyle/>
          <a:p>
            <a:fld id="{21FF8770-BABB-47E4-8BDA-22F8A1D7E2BE}" type="datetime1">
              <a:rPr lang="id-ID" smtClean="0"/>
              <a:t>12/09/2023</a:t>
            </a:fld>
            <a:endParaRPr lang="id-ID"/>
          </a:p>
        </p:txBody>
      </p:sp>
      <p:sp>
        <p:nvSpPr>
          <p:cNvPr id="8" name="Slide Number Placeholder 7"/>
          <p:cNvSpPr>
            <a:spLocks noGrp="1"/>
          </p:cNvSpPr>
          <p:nvPr>
            <p:ph type="sldNum" sz="quarter" idx="12"/>
          </p:nvPr>
        </p:nvSpPr>
        <p:spPr/>
        <p:txBody>
          <a:bodyPr/>
          <a:lstStyle/>
          <a:p>
            <a:fld id="{0BEEEC3A-66DB-44B3-B1C4-FF7A07C26C70}" type="slidenum">
              <a:rPr lang="id-ID" smtClean="0"/>
              <a:t>1</a:t>
            </a:fld>
            <a:endParaRPr lang="id-ID"/>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920" y="313383"/>
            <a:ext cx="1419048" cy="1523810"/>
          </a:xfrm>
          <a:prstGeom prst="rect">
            <a:avLst/>
          </a:prstGeom>
        </p:spPr>
      </p:pic>
    </p:spTree>
    <p:extLst>
      <p:ext uri="{BB962C8B-B14F-4D97-AF65-F5344CB8AC3E}">
        <p14:creationId xmlns:p14="http://schemas.microsoft.com/office/powerpoint/2010/main" val="4015777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620000" cy="562074"/>
          </a:xfrm>
        </p:spPr>
        <p:txBody>
          <a:bodyPr>
            <a:normAutofit fontScale="90000"/>
          </a:bodyPr>
          <a:lstStyle/>
          <a:p>
            <a:pPr algn="ctr"/>
            <a:r>
              <a:rPr lang="id-ID" sz="2400" b="1" dirty="0"/>
              <a:t>DASAR HUKUM MATA KULIAH PENDIDIKAN KEWARGANEGARAAN</a:t>
            </a:r>
          </a:p>
        </p:txBody>
      </p:sp>
      <p:sp>
        <p:nvSpPr>
          <p:cNvPr id="3" name="Content Placeholder 2"/>
          <p:cNvSpPr>
            <a:spLocks noGrp="1"/>
          </p:cNvSpPr>
          <p:nvPr>
            <p:ph idx="1"/>
          </p:nvPr>
        </p:nvSpPr>
        <p:spPr>
          <a:xfrm>
            <a:off x="17124" y="764704"/>
            <a:ext cx="8460432" cy="5472608"/>
          </a:xfrm>
        </p:spPr>
        <p:txBody>
          <a:bodyPr>
            <a:normAutofit/>
          </a:bodyPr>
          <a:lstStyle/>
          <a:p>
            <a:pPr marL="457200" indent="-342900" algn="just">
              <a:buFont typeface="+mj-lt"/>
              <a:buAutoNum type="arabicPeriod"/>
            </a:pPr>
            <a:r>
              <a:rPr lang="id-ID" sz="1600" dirty="0">
                <a:latin typeface="+mj-lt"/>
              </a:rPr>
              <a:t>Undang-Undang Dasar Negara Republik Indonesia Tahun 1945, Hasil Perubahan;</a:t>
            </a:r>
          </a:p>
          <a:p>
            <a:pPr marL="457200" indent="-342900" algn="just">
              <a:buFont typeface="+mj-lt"/>
              <a:buAutoNum type="arabicPeriod"/>
            </a:pPr>
            <a:r>
              <a:rPr lang="id-ID" sz="1600" dirty="0">
                <a:latin typeface="+mj-lt"/>
              </a:rPr>
              <a:t>Undang-undang Nomor 20 Tahun 2003 tentang Sistem Pendidikan Nasional, Pasal 3 menegaskan “Pendidikan nasional berfungsi mengembangkan kemampuan dan membentuk watak serta peradaban bangsa yang bermartabat dalam rangka mencerdaskan kehidupan bangsa” (...) Pendidikan Nasional bertujuan untuk “(...) berkembangnya potensi peserta didik agar menjadi manusia yang beriman dan bertaqwa kepada tuhan yang maha esa, sehat, berilmu, cakap, kreatif, mandiri dan menjadi warga negara yang demokratis dan bertanggung jawab”. Penjelasan Pasal 37 ayat (1) “</a:t>
            </a:r>
            <a:r>
              <a:rPr lang="id-ID" sz="1600" u="sng" dirty="0">
                <a:latin typeface="+mj-lt"/>
              </a:rPr>
              <a:t>Pendidikan kewarganegaraan dimaksudkan untuk membentuk peserta didik menjadi manusia yang memiliki rasa kebangsaan dan cinta tanah air</a:t>
            </a:r>
            <a:r>
              <a:rPr lang="id-ID" sz="1600" dirty="0">
                <a:latin typeface="+mj-lt"/>
              </a:rPr>
              <a:t>”.</a:t>
            </a:r>
          </a:p>
          <a:p>
            <a:pPr marL="457200" indent="-342900" algn="just">
              <a:buFont typeface="+mj-lt"/>
              <a:buAutoNum type="arabicPeriod"/>
            </a:pPr>
            <a:r>
              <a:rPr lang="id-ID" sz="1600" dirty="0">
                <a:latin typeface="+mj-lt"/>
              </a:rPr>
              <a:t>Undang-undang Nomor 12 Tahun 2012 tentang Pendidikan Tinggi, Paragraf 2 Kurikulum ayat (3) “Kurikulum Pendidikan Tinggi sebagaimana dimaksud pada ayat (1) wajib memuat mata kuliah: a. Agama; b. </a:t>
            </a:r>
            <a:r>
              <a:rPr lang="id-ID" sz="1600" u="sng" dirty="0">
                <a:latin typeface="+mj-lt"/>
              </a:rPr>
              <a:t>Pancasila</a:t>
            </a:r>
            <a:r>
              <a:rPr lang="id-ID" sz="1600" dirty="0">
                <a:latin typeface="+mj-lt"/>
              </a:rPr>
              <a:t>; c. </a:t>
            </a:r>
            <a:r>
              <a:rPr lang="id-ID" sz="1600" u="sng" dirty="0">
                <a:latin typeface="+mj-lt"/>
              </a:rPr>
              <a:t>Kewarganegaraan</a:t>
            </a:r>
            <a:r>
              <a:rPr lang="id-ID" sz="1600" dirty="0">
                <a:latin typeface="+mj-lt"/>
              </a:rPr>
              <a:t>; dan d. Bahasa Indonesia;</a:t>
            </a:r>
          </a:p>
          <a:p>
            <a:pPr marL="457200" lvl="0" indent="-342900" algn="just">
              <a:buFont typeface="+mj-lt"/>
              <a:buAutoNum type="arabicPeriod"/>
            </a:pPr>
            <a:r>
              <a:rPr lang="id-ID" sz="1600" dirty="0">
                <a:latin typeface="+mj-lt"/>
                <a:cs typeface="Times New Roman" panose="02020603050405020304" pitchFamily="18" charset="0"/>
              </a:rPr>
              <a:t>Peraturan Pemerintah Nomor 66 Tahun 2010 tentang Perubahan Atas Peraturan Pemerintah  Nomor 17 Tahun 2010 tentang Pengelolaan dan Penyelenggaraan Pendidikan;</a:t>
            </a:r>
          </a:p>
          <a:p>
            <a:pPr marL="457200" lvl="0" indent="-342900" algn="just">
              <a:buFont typeface="+mj-lt"/>
              <a:buAutoNum type="arabicPeriod"/>
            </a:pPr>
            <a:r>
              <a:rPr lang="id-ID" sz="1600" dirty="0">
                <a:latin typeface="+mj-lt"/>
                <a:cs typeface="Times New Roman" panose="02020603050405020304" pitchFamily="18" charset="0"/>
              </a:rPr>
              <a:t>Peraturan Pemerintah Nomor 4 Tahun 2014 tentang Penyelenggaraan Pendidikan Tinggi dan Pengelolaan Perguruan Tinggi;</a:t>
            </a:r>
          </a:p>
          <a:p>
            <a:pPr marL="457200" lvl="0" indent="-342900" algn="just">
              <a:buFont typeface="+mj-lt"/>
              <a:buAutoNum type="arabicPeriod"/>
            </a:pPr>
            <a:r>
              <a:rPr lang="id-ID" sz="1600" dirty="0">
                <a:latin typeface="+mj-lt"/>
                <a:cs typeface="Times New Roman" panose="02020603050405020304" pitchFamily="18" charset="0"/>
              </a:rPr>
              <a:t>Peraturan Presiden Nomor 123 Tahun 2014 tentang Pendirian Universitas Singaperbangsa Karawang;</a:t>
            </a:r>
          </a:p>
          <a:p>
            <a:pPr marL="457200" lvl="0" indent="-342900" algn="just">
              <a:buFont typeface="+mj-lt"/>
              <a:buAutoNum type="arabicPeriod"/>
            </a:pPr>
            <a:r>
              <a:rPr lang="id-ID" sz="1600" dirty="0">
                <a:latin typeface="+mj-lt"/>
                <a:cs typeface="Times New Roman" panose="02020603050405020304" pitchFamily="18" charset="0"/>
              </a:rPr>
              <a:t>Peraturan Presiden Nomor 8 Tahun 2012 tentang Kerangka Kualifikasi Nasional Indonesia;</a:t>
            </a:r>
          </a:p>
          <a:p>
            <a:pPr marL="457200" lvl="0" indent="-342900" algn="just">
              <a:buFont typeface="+mj-lt"/>
              <a:buAutoNum type="arabicPeriod"/>
            </a:pPr>
            <a:r>
              <a:rPr lang="id-ID" sz="1600" dirty="0">
                <a:latin typeface="+mj-lt"/>
                <a:cs typeface="Times New Roman" panose="02020603050405020304" pitchFamily="18" charset="0"/>
              </a:rPr>
              <a:t>Peraturan Menteri Riset, Teknologi dan Perguruan Tinggi Nomor 44 Tahun 2015 tentang Standar Nasional Pendidikan Tinggi;</a:t>
            </a:r>
          </a:p>
          <a:p>
            <a:pPr marL="114300" indent="0" algn="just">
              <a:buNone/>
            </a:pPr>
            <a:endParaRPr lang="id-ID" sz="1800" dirty="0">
              <a:latin typeface="+mj-lt"/>
            </a:endParaRPr>
          </a:p>
          <a:p>
            <a:pPr marL="114300" indent="0" algn="just">
              <a:buNone/>
            </a:pPr>
            <a:endParaRPr lang="id-ID" dirty="0">
              <a:latin typeface="+mj-lt"/>
            </a:endParaRPr>
          </a:p>
        </p:txBody>
      </p:sp>
      <p:sp>
        <p:nvSpPr>
          <p:cNvPr id="4" name="Date Placeholder 3"/>
          <p:cNvSpPr>
            <a:spLocks noGrp="1"/>
          </p:cNvSpPr>
          <p:nvPr>
            <p:ph type="dt" sz="half" idx="10"/>
          </p:nvPr>
        </p:nvSpPr>
        <p:spPr/>
        <p:txBody>
          <a:bodyPr/>
          <a:lstStyle/>
          <a:p>
            <a:fld id="{027B70DF-2959-4A71-B23F-61CDF3D6E156}" type="datetime1">
              <a:rPr lang="id-ID" smtClean="0"/>
              <a:t>12/09/2023</a:t>
            </a:fld>
            <a:endParaRPr lang="id-ID" dirty="0"/>
          </a:p>
        </p:txBody>
      </p:sp>
      <p:sp>
        <p:nvSpPr>
          <p:cNvPr id="5" name="Slide Number Placeholder 4"/>
          <p:cNvSpPr>
            <a:spLocks noGrp="1"/>
          </p:cNvSpPr>
          <p:nvPr>
            <p:ph type="sldNum" sz="quarter" idx="12"/>
          </p:nvPr>
        </p:nvSpPr>
        <p:spPr/>
        <p:txBody>
          <a:bodyPr/>
          <a:lstStyle/>
          <a:p>
            <a:fld id="{0BEEEC3A-66DB-44B3-B1C4-FF7A07C26C70}" type="slidenum">
              <a:rPr lang="id-ID" smtClean="0"/>
              <a:t>2</a:t>
            </a:fld>
            <a:endParaRPr lang="id-ID"/>
          </a:p>
        </p:txBody>
      </p:sp>
    </p:spTree>
    <p:extLst>
      <p:ext uri="{BB962C8B-B14F-4D97-AF65-F5344CB8AC3E}">
        <p14:creationId xmlns:p14="http://schemas.microsoft.com/office/powerpoint/2010/main" val="390199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562074"/>
          </a:xfrm>
        </p:spPr>
        <p:txBody>
          <a:bodyPr/>
          <a:lstStyle/>
          <a:p>
            <a:pPr algn="ctr"/>
            <a:r>
              <a:rPr lang="id-ID" sz="2400" b="1" dirty="0"/>
              <a:t>LANJUTAN (...) DASAR HUKUM</a:t>
            </a:r>
          </a:p>
        </p:txBody>
      </p:sp>
      <p:sp>
        <p:nvSpPr>
          <p:cNvPr id="3" name="Content Placeholder 2"/>
          <p:cNvSpPr>
            <a:spLocks noGrp="1"/>
          </p:cNvSpPr>
          <p:nvPr>
            <p:ph idx="1"/>
          </p:nvPr>
        </p:nvSpPr>
        <p:spPr>
          <a:xfrm>
            <a:off x="457200" y="836712"/>
            <a:ext cx="7620000" cy="5564088"/>
          </a:xfrm>
        </p:spPr>
        <p:txBody>
          <a:bodyPr>
            <a:normAutofit/>
          </a:bodyPr>
          <a:lstStyle/>
          <a:p>
            <a:pPr marL="457200" indent="-342900" algn="just">
              <a:buFont typeface="+mj-lt"/>
              <a:buAutoNum type="arabicPeriod" startAt="9"/>
            </a:pPr>
            <a:r>
              <a:rPr lang="id-ID" sz="1600" dirty="0">
                <a:latin typeface="+mj-lt"/>
              </a:rPr>
              <a:t>Kepmendiknas Nomor 232/U/2000 tentang Pedoman Penyusunan Kurikulum Pendidikan Tinggi dan Penilaian Hasil Belajar Mahasiswa, menetapkan bahwa Pendidikan Agama, Pendidikan Pancasila dan Pendidikan Kewarganegaraan merupakan kelompok Mata Kuliah Pengembangan Kepribadian yang wajib diberikan dalam kurikulum setiap program studi/kelompok program studi.</a:t>
            </a:r>
          </a:p>
          <a:p>
            <a:pPr marL="457200" indent="-342900" algn="just">
              <a:buFont typeface="+mj-lt"/>
              <a:buAutoNum type="arabicPeriod" startAt="9"/>
            </a:pPr>
            <a:r>
              <a:rPr lang="id-ID" sz="1600" dirty="0">
                <a:latin typeface="+mj-lt"/>
              </a:rPr>
              <a:t>Kepmendiknas Nomor 045/U/2002 tentang Kurikulum Inti Pendidikan Tinggi menetapkan bahwa Pendidikan Agama, Pendidikan Pancasila dan Pendidikan Kewarganegaraan merupakan kelompok Mata Kuliah Pegembangan Kepribadian yang wajib diberikan dalam kurikulum setiap program studi/kelompok program studi.</a:t>
            </a:r>
          </a:p>
          <a:p>
            <a:pPr marL="457200" indent="-342900" algn="just">
              <a:buFont typeface="+mj-lt"/>
              <a:buAutoNum type="arabicPeriod" startAt="9"/>
            </a:pPr>
            <a:r>
              <a:rPr lang="id-ID" sz="1600" dirty="0">
                <a:latin typeface="+mj-lt"/>
              </a:rPr>
              <a:t>Keputusan Dirjen Dikti Depdiknas Nomor 43/Dikti/Kep/2006 tentang Rambu-rambu Pelaksanaan Pembelajaran Kelompok Mata Kuliah Pengembangan Kepribadian di Perguruan Tinggi.</a:t>
            </a:r>
          </a:p>
          <a:p>
            <a:pPr marL="114300" indent="0" algn="just">
              <a:buNone/>
            </a:pPr>
            <a:r>
              <a:rPr lang="id-ID" sz="1400" dirty="0">
                <a:latin typeface="+mj-lt"/>
                <a:cs typeface="Times New Roman" panose="02020603050405020304" pitchFamily="18" charset="0"/>
              </a:rPr>
              <a:t>Catatan:</a:t>
            </a:r>
          </a:p>
          <a:p>
            <a:pPr marL="114300" indent="0" algn="just">
              <a:buNone/>
            </a:pPr>
            <a:r>
              <a:rPr lang="id-ID" sz="1400" dirty="0">
                <a:latin typeface="+mj-lt"/>
                <a:cs typeface="Times New Roman" panose="02020603050405020304" pitchFamily="18" charset="0"/>
              </a:rPr>
              <a:t>Keputusan Dirjen Nomor 43 Tahun 2006 tersebut menetapkan status dan beban studi kelompok mata kuliah Pengembangan Kepribadian (seperti Pendidikan Agama, Pendidikan Kewarganegaraan dan Bahasa). Bahwasannya beban studi untuk Mata Kuliah Pendidikan Agama, Kewarganegaraan dan Bahasa masing-masing sebanyak 3 sks. Berdasarkan uraian di atas dapat diperoleh gambaran bahwa Pendidikan Kewarganegaraan sebagai MPK karena PKn merupakan bagian kelompok MPK.</a:t>
            </a:r>
          </a:p>
        </p:txBody>
      </p:sp>
      <p:sp>
        <p:nvSpPr>
          <p:cNvPr id="4" name="Date Placeholder 3"/>
          <p:cNvSpPr>
            <a:spLocks noGrp="1"/>
          </p:cNvSpPr>
          <p:nvPr>
            <p:ph type="dt" sz="half" idx="10"/>
          </p:nvPr>
        </p:nvSpPr>
        <p:spPr/>
        <p:txBody>
          <a:bodyPr/>
          <a:lstStyle/>
          <a:p>
            <a:fld id="{C033D3BE-B919-457C-9C35-E78FA5BC15E5}"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3</a:t>
            </a:fld>
            <a:endParaRPr lang="id-ID"/>
          </a:p>
        </p:txBody>
      </p:sp>
    </p:spTree>
    <p:extLst>
      <p:ext uri="{BB962C8B-B14F-4D97-AF65-F5344CB8AC3E}">
        <p14:creationId xmlns:p14="http://schemas.microsoft.com/office/powerpoint/2010/main" val="287514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562074"/>
          </a:xfrm>
        </p:spPr>
        <p:txBody>
          <a:bodyPr/>
          <a:lstStyle/>
          <a:p>
            <a:pPr algn="ctr"/>
            <a:r>
              <a:rPr lang="id-ID" sz="2400" b="1" dirty="0"/>
              <a:t>KONSEP MPK</a:t>
            </a:r>
          </a:p>
        </p:txBody>
      </p:sp>
      <p:sp>
        <p:nvSpPr>
          <p:cNvPr id="3" name="Content Placeholder 2"/>
          <p:cNvSpPr>
            <a:spLocks noGrp="1"/>
          </p:cNvSpPr>
          <p:nvPr>
            <p:ph idx="1"/>
          </p:nvPr>
        </p:nvSpPr>
        <p:spPr>
          <a:xfrm>
            <a:off x="457200" y="980728"/>
            <a:ext cx="7620000" cy="5420072"/>
          </a:xfrm>
        </p:spPr>
        <p:txBody>
          <a:bodyPr>
            <a:normAutofit/>
          </a:bodyPr>
          <a:lstStyle/>
          <a:p>
            <a:pPr algn="just"/>
            <a:r>
              <a:rPr lang="id-ID" dirty="0">
                <a:latin typeface="Cambria" panose="02040503050406030204" pitchFamily="18" charset="0"/>
              </a:rPr>
              <a:t>Apa itu MPK?</a:t>
            </a:r>
          </a:p>
          <a:p>
            <a:pPr algn="just"/>
            <a:r>
              <a:rPr lang="id-ID" dirty="0">
                <a:latin typeface="Cambria" panose="02040503050406030204" pitchFamily="18" charset="0"/>
              </a:rPr>
              <a:t>Mengapa Pendidikan Kewarganegaraan (</a:t>
            </a:r>
            <a:r>
              <a:rPr lang="en-US" i="1" dirty="0">
                <a:latin typeface="Cambria" panose="02040503050406030204" pitchFamily="18" charset="0"/>
              </a:rPr>
              <a:t>civic education, citizenship</a:t>
            </a:r>
            <a:r>
              <a:rPr lang="id-ID" i="1" dirty="0">
                <a:latin typeface="Cambria" panose="02040503050406030204" pitchFamily="18" charset="0"/>
              </a:rPr>
              <a:t> </a:t>
            </a:r>
            <a:r>
              <a:rPr lang="en-US" i="1" dirty="0">
                <a:latin typeface="Cambria" panose="02040503050406030204" pitchFamily="18" charset="0"/>
              </a:rPr>
              <a:t>education, democracy education</a:t>
            </a:r>
            <a:r>
              <a:rPr lang="id-ID" dirty="0">
                <a:latin typeface="Cambria" panose="02040503050406030204" pitchFamily="18" charset="0"/>
              </a:rPr>
              <a:t>)</a:t>
            </a:r>
            <a:r>
              <a:rPr lang="id-ID" i="1" dirty="0">
                <a:latin typeface="Cambria" panose="02040503050406030204" pitchFamily="18" charset="0"/>
              </a:rPr>
              <a:t> </a:t>
            </a:r>
            <a:r>
              <a:rPr lang="id-ID" dirty="0">
                <a:latin typeface="Cambria" panose="02040503050406030204" pitchFamily="18" charset="0"/>
              </a:rPr>
              <a:t>diposisikan sebagai MPK ? </a:t>
            </a:r>
          </a:p>
          <a:p>
            <a:pPr algn="just"/>
            <a:r>
              <a:rPr lang="id-ID" dirty="0">
                <a:latin typeface="Cambria" panose="02040503050406030204" pitchFamily="18" charset="0"/>
              </a:rPr>
              <a:t>Apa urgensi Pendidikan Kewarganegaraan sebagi MPK?</a:t>
            </a:r>
          </a:p>
          <a:p>
            <a:pPr marL="114300" indent="0" algn="just">
              <a:buNone/>
            </a:pPr>
            <a:endParaRPr lang="id-ID" sz="1800" dirty="0">
              <a:latin typeface="Cambria" panose="02040503050406030204" pitchFamily="18" charset="0"/>
            </a:endParaRPr>
          </a:p>
          <a:p>
            <a:pPr marL="114300" indent="0" algn="ctr">
              <a:buNone/>
            </a:pPr>
            <a:r>
              <a:rPr lang="id-ID" sz="1800" dirty="0">
                <a:latin typeface="Cambria" panose="02040503050406030204" pitchFamily="18" charset="0"/>
              </a:rPr>
              <a:t>MPK adalah suatu program pendidikan nilai yang dilaksanakan melalui proses pembelajaran di Perguruan Tinggi dan berfungsi sebagai model pengembangan jati diri dan kepribadian para mahasiswa, bertujuan membangun manusia Indonesia yang beriman dan bertaqwa terhadap Tuhan YME, berbudi pekerti luhur, berkepribadian mantap, dan mandiri, serta mempunyai rasa tanggung jawab kemasyarakatan dan kebangsaan.</a:t>
            </a:r>
          </a:p>
          <a:p>
            <a:pPr marL="114300" indent="0" algn="ctr">
              <a:buNone/>
            </a:pPr>
            <a:endParaRPr lang="id-ID" sz="1800" dirty="0">
              <a:latin typeface="Cambria" panose="02040503050406030204" pitchFamily="18" charset="0"/>
            </a:endParaRPr>
          </a:p>
          <a:p>
            <a:pPr marL="114300" indent="0" algn="just">
              <a:buNone/>
            </a:pPr>
            <a:endParaRPr lang="id-ID" sz="1800" dirty="0">
              <a:latin typeface="Cambria" panose="02040503050406030204" pitchFamily="18" charset="0"/>
            </a:endParaRPr>
          </a:p>
        </p:txBody>
      </p:sp>
      <p:sp>
        <p:nvSpPr>
          <p:cNvPr id="4" name="Date Placeholder 3"/>
          <p:cNvSpPr>
            <a:spLocks noGrp="1"/>
          </p:cNvSpPr>
          <p:nvPr>
            <p:ph type="dt" sz="half" idx="10"/>
          </p:nvPr>
        </p:nvSpPr>
        <p:spPr/>
        <p:txBody>
          <a:bodyPr/>
          <a:lstStyle/>
          <a:p>
            <a:fld id="{6708F5F5-6517-4C31-B89A-D55B7832FEF3}"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4</a:t>
            </a:fld>
            <a:endParaRPr lang="id-ID"/>
          </a:p>
        </p:txBody>
      </p:sp>
    </p:spTree>
    <p:extLst>
      <p:ext uri="{BB962C8B-B14F-4D97-AF65-F5344CB8AC3E}">
        <p14:creationId xmlns:p14="http://schemas.microsoft.com/office/powerpoint/2010/main" val="2875141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7620000" cy="5492080"/>
          </a:xfrm>
        </p:spPr>
        <p:txBody>
          <a:bodyPr>
            <a:normAutofit/>
          </a:bodyPr>
          <a:lstStyle/>
          <a:p>
            <a:pPr marL="114300" indent="0" algn="ctr">
              <a:buNone/>
            </a:pPr>
            <a:r>
              <a:rPr lang="id-ID" sz="1800" b="1" dirty="0">
                <a:latin typeface="+mj-lt"/>
              </a:rPr>
              <a:t>Keputusan Dirjen Dikti Depdiknas Nomor 43/Dikti/Kep/2006 tentang Rambu-rambu Pelaksanaan Pembelajaran Kelompok Mata Kuliah Pengembangan Kepribadian di Perguruan Tinggi</a:t>
            </a:r>
          </a:p>
          <a:p>
            <a:pPr marL="114300" indent="0" algn="just">
              <a:buNone/>
            </a:pPr>
            <a:r>
              <a:rPr lang="id-ID" sz="1800" b="1" dirty="0">
                <a:latin typeface="+mj-lt"/>
              </a:rPr>
              <a:t>Visi</a:t>
            </a:r>
            <a:r>
              <a:rPr lang="id-ID" sz="1800" dirty="0">
                <a:latin typeface="+mj-lt"/>
              </a:rPr>
              <a:t>: Kelompok MPK di perguruan tinggi merupakan sumber nilai dan pedoman dalam pengembangan dan penyelenggaraan program studi guna mengantarkan mahasiswa memantapkan kepribadiannya sebagai manusia Indonesia seutuhnya.</a:t>
            </a:r>
          </a:p>
          <a:p>
            <a:pPr marL="114300" indent="0" algn="just">
              <a:buNone/>
            </a:pPr>
            <a:r>
              <a:rPr lang="id-ID" sz="1800" b="1" dirty="0">
                <a:latin typeface="+mj-lt"/>
              </a:rPr>
              <a:t>Misi</a:t>
            </a:r>
            <a:r>
              <a:rPr lang="id-ID" sz="1800" dirty="0">
                <a:latin typeface="+mj-lt"/>
              </a:rPr>
              <a:t>: Kelompok MPK di perguruan tinggi membantu mahasiswa memantapkan kepribadiannya agar secara konsisten mampu mewujudkan nilai-nilai dasar keagamaan dan kebudayaan, rasa kebangsaan dan cinta tanah air sepanjang hayat dalam menguasai, menerapkan dan mengembangkan ilmu pengetahuan, teknologi dan seni yang dimilikinya dengan rasa tanggung jawab.</a:t>
            </a:r>
          </a:p>
          <a:p>
            <a:pPr marL="114300" indent="0" algn="just">
              <a:buNone/>
            </a:pPr>
            <a:r>
              <a:rPr lang="id-ID" sz="1800" b="1" dirty="0">
                <a:latin typeface="Cambria" panose="02040503050406030204" pitchFamily="18" charset="0"/>
              </a:rPr>
              <a:t>Kompetensi Dasar</a:t>
            </a:r>
            <a:r>
              <a:rPr lang="id-ID" sz="1800" dirty="0">
                <a:latin typeface="Cambria" panose="02040503050406030204" pitchFamily="18" charset="0"/>
              </a:rPr>
              <a:t>: Menjadi ilmuwan dan profesional yang memiliki rasa kebangsaan dan cinta tanah air; demokratis yang berkeadaban; menjadi warga negara yang memiliki daya saing; berdisiplin dan berpartisipasi aktif dalam membangun kehidupan yang damai berdasarkan sistem nilai Pancasila.</a:t>
            </a:r>
          </a:p>
          <a:p>
            <a:pPr marL="114300" indent="0" algn="just">
              <a:buNone/>
            </a:pPr>
            <a:endParaRPr lang="id-ID" sz="1800" dirty="0">
              <a:latin typeface="+mj-lt"/>
            </a:endParaRPr>
          </a:p>
        </p:txBody>
      </p:sp>
      <p:sp>
        <p:nvSpPr>
          <p:cNvPr id="4" name="Date Placeholder 3"/>
          <p:cNvSpPr>
            <a:spLocks noGrp="1"/>
          </p:cNvSpPr>
          <p:nvPr>
            <p:ph type="dt" sz="half" idx="10"/>
          </p:nvPr>
        </p:nvSpPr>
        <p:spPr/>
        <p:txBody>
          <a:bodyPr/>
          <a:lstStyle/>
          <a:p>
            <a:fld id="{F3FB0B1E-CC34-4016-81C9-BBEA63A396E6}"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5</a:t>
            </a:fld>
            <a:endParaRPr lang="id-ID"/>
          </a:p>
        </p:txBody>
      </p:sp>
    </p:spTree>
    <p:extLst>
      <p:ext uri="{BB962C8B-B14F-4D97-AF65-F5344CB8AC3E}">
        <p14:creationId xmlns:p14="http://schemas.microsoft.com/office/powerpoint/2010/main" val="2875141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460432" cy="6858000"/>
          </a:xfrm>
        </p:spPr>
        <p:txBody>
          <a:bodyPr>
            <a:noAutofit/>
          </a:bodyPr>
          <a:lstStyle/>
          <a:p>
            <a:pPr algn="ctr">
              <a:buNone/>
            </a:pPr>
            <a:r>
              <a:rPr lang="en-US" sz="1000" b="1" dirty="0" err="1">
                <a:latin typeface="+mj-lt"/>
              </a:rPr>
              <a:t>Materi</a:t>
            </a:r>
            <a:r>
              <a:rPr lang="en-US" sz="1000" b="1" dirty="0">
                <a:latin typeface="+mj-lt"/>
              </a:rPr>
              <a:t> </a:t>
            </a:r>
            <a:r>
              <a:rPr lang="id-ID" sz="1000" b="1" dirty="0">
                <a:latin typeface="+mj-lt"/>
              </a:rPr>
              <a:t>Kelompok Diskusi (FGD)</a:t>
            </a:r>
          </a:p>
          <a:p>
            <a:pPr>
              <a:buNone/>
            </a:pPr>
            <a:r>
              <a:rPr lang="id-ID" sz="1000" b="1" dirty="0">
                <a:latin typeface="+mj-lt"/>
              </a:rPr>
              <a:t>A. Filsafat Pancasila</a:t>
            </a:r>
          </a:p>
          <a:p>
            <a:pPr lvl="1">
              <a:buNone/>
            </a:pPr>
            <a:r>
              <a:rPr lang="id-ID" sz="1000" dirty="0">
                <a:latin typeface="+mj-lt"/>
              </a:rPr>
              <a:t>1.	Definisi dan karakteristik filsafat; </a:t>
            </a:r>
          </a:p>
          <a:p>
            <a:pPr lvl="1">
              <a:buNone/>
            </a:pPr>
            <a:r>
              <a:rPr lang="id-ID" sz="1000" dirty="0">
                <a:latin typeface="+mj-lt"/>
              </a:rPr>
              <a:t>2.	Beberapa pemikiran tentang filsafat Pancasila; </a:t>
            </a:r>
          </a:p>
          <a:p>
            <a:pPr lvl="1">
              <a:buNone/>
            </a:pPr>
            <a:r>
              <a:rPr lang="id-ID" sz="1000" dirty="0">
                <a:latin typeface="+mj-lt"/>
              </a:rPr>
              <a:t>3.	Pokok-pokok filsafat Pancasila; </a:t>
            </a:r>
          </a:p>
          <a:p>
            <a:pPr lvl="1">
              <a:buNone/>
            </a:pPr>
            <a:r>
              <a:rPr lang="id-ID" sz="1000" dirty="0">
                <a:latin typeface="+mj-lt"/>
              </a:rPr>
              <a:t>4.	Aktualisasi filsafat Pancasila; </a:t>
            </a:r>
          </a:p>
          <a:p>
            <a:pPr lvl="1">
              <a:buNone/>
            </a:pPr>
            <a:r>
              <a:rPr lang="id-ID" sz="1000" dirty="0">
                <a:latin typeface="+mj-lt"/>
              </a:rPr>
              <a:t>5.	Filsafat sebagai Filsafat Hidup; </a:t>
            </a:r>
          </a:p>
          <a:p>
            <a:pPr lvl="1">
              <a:buNone/>
            </a:pPr>
            <a:r>
              <a:rPr lang="id-ID" sz="1000" dirty="0">
                <a:latin typeface="+mj-lt"/>
              </a:rPr>
              <a:t>6.	Filsafat Pancasila sebagai Pandangan hidup; </a:t>
            </a:r>
          </a:p>
          <a:p>
            <a:pPr lvl="1">
              <a:buNone/>
            </a:pPr>
            <a:r>
              <a:rPr lang="id-ID" sz="1000" dirty="0">
                <a:latin typeface="+mj-lt"/>
              </a:rPr>
              <a:t>7.	Pancasila sebagai Ideologi Bangsa;</a:t>
            </a:r>
          </a:p>
          <a:p>
            <a:pPr lvl="1">
              <a:buNone/>
            </a:pPr>
            <a:r>
              <a:rPr lang="id-ID" sz="1000" dirty="0">
                <a:latin typeface="+mj-lt"/>
              </a:rPr>
              <a:t>8.   Pancasila sebagai sistem filsafat;</a:t>
            </a:r>
          </a:p>
          <a:p>
            <a:pPr>
              <a:buNone/>
            </a:pPr>
            <a:r>
              <a:rPr lang="id-ID" sz="1000" b="1" dirty="0">
                <a:latin typeface="+mj-lt"/>
              </a:rPr>
              <a:t>B. Identitas Nasional</a:t>
            </a:r>
          </a:p>
          <a:p>
            <a:pPr lvl="1">
              <a:buNone/>
            </a:pPr>
            <a:r>
              <a:rPr lang="id-ID" sz="1000" dirty="0">
                <a:latin typeface="+mj-lt"/>
              </a:rPr>
              <a:t>1.	Pengertian identitas nasional;</a:t>
            </a:r>
          </a:p>
          <a:p>
            <a:pPr lvl="1">
              <a:buNone/>
            </a:pPr>
            <a:r>
              <a:rPr lang="id-ID" sz="1000" dirty="0">
                <a:latin typeface="+mj-lt"/>
              </a:rPr>
              <a:t>2.	Unsur-unsur pembentuk identitas nasional; </a:t>
            </a:r>
          </a:p>
          <a:p>
            <a:pPr lvl="1">
              <a:buNone/>
            </a:pPr>
            <a:r>
              <a:rPr lang="id-ID" sz="1000" dirty="0">
                <a:latin typeface="+mj-lt"/>
              </a:rPr>
              <a:t>3.	Jati diri bangsa dalam arus globalisasi dan krisis identitas; </a:t>
            </a:r>
          </a:p>
          <a:p>
            <a:pPr lvl="1">
              <a:buNone/>
            </a:pPr>
            <a:r>
              <a:rPr lang="id-ID" sz="1000" dirty="0">
                <a:latin typeface="+mj-lt"/>
              </a:rPr>
              <a:t>4.	Terbentuknya nasionalisme;</a:t>
            </a:r>
          </a:p>
          <a:p>
            <a:pPr lvl="1">
              <a:buNone/>
            </a:pPr>
            <a:r>
              <a:rPr lang="id-ID" sz="1000" dirty="0">
                <a:latin typeface="+mj-lt"/>
              </a:rPr>
              <a:t>5.	Integrasi nasional;</a:t>
            </a:r>
          </a:p>
          <a:p>
            <a:pPr>
              <a:buNone/>
            </a:pPr>
            <a:r>
              <a:rPr lang="id-ID" sz="1000" b="1" dirty="0">
                <a:latin typeface="+mj-lt"/>
              </a:rPr>
              <a:t>C. Negara dan Konstitusi</a:t>
            </a:r>
          </a:p>
          <a:p>
            <a:pPr lvl="1">
              <a:buNone/>
            </a:pPr>
            <a:r>
              <a:rPr lang="id-ID" sz="1000" dirty="0">
                <a:latin typeface="+mj-lt"/>
              </a:rPr>
              <a:t>1.	Pengertian negara dan warga negara; </a:t>
            </a:r>
          </a:p>
          <a:p>
            <a:pPr lvl="1">
              <a:buNone/>
            </a:pPr>
            <a:r>
              <a:rPr lang="id-ID" sz="1000" dirty="0">
                <a:latin typeface="+mj-lt"/>
              </a:rPr>
              <a:t>2.	Teori terbentuknya Negara;</a:t>
            </a:r>
          </a:p>
          <a:p>
            <a:pPr lvl="1">
              <a:buNone/>
            </a:pPr>
            <a:r>
              <a:rPr lang="id-ID" sz="1000" dirty="0">
                <a:latin typeface="+mj-lt"/>
              </a:rPr>
              <a:t>3.	Kedudukan dan peran warga negara di dalam negara; </a:t>
            </a:r>
          </a:p>
          <a:p>
            <a:pPr lvl="1">
              <a:buNone/>
            </a:pPr>
            <a:r>
              <a:rPr lang="id-ID" sz="1000" dirty="0">
                <a:latin typeface="+mj-lt"/>
              </a:rPr>
              <a:t>4.	Arti penting dan pengertian konstitusi;</a:t>
            </a:r>
          </a:p>
          <a:p>
            <a:pPr lvl="1">
              <a:buNone/>
            </a:pPr>
            <a:r>
              <a:rPr lang="id-ID" sz="1000" dirty="0">
                <a:latin typeface="+mj-lt"/>
              </a:rPr>
              <a:t>5.	Hakikat konstitusi dan tujuan konstitusi; </a:t>
            </a:r>
          </a:p>
          <a:p>
            <a:pPr lvl="1">
              <a:buNone/>
            </a:pPr>
            <a:r>
              <a:rPr lang="id-ID" sz="1000" dirty="0">
                <a:latin typeface="+mj-lt"/>
              </a:rPr>
              <a:t>6.	Sejarah pembentukan UUD 1945; </a:t>
            </a:r>
          </a:p>
          <a:p>
            <a:pPr lvl="1">
              <a:buNone/>
            </a:pPr>
            <a:r>
              <a:rPr lang="id-ID" sz="1000" dirty="0">
                <a:latin typeface="+mj-lt"/>
              </a:rPr>
              <a:t>7.	Amandemen UUD 1945;</a:t>
            </a:r>
          </a:p>
          <a:p>
            <a:pPr>
              <a:buNone/>
            </a:pPr>
            <a:r>
              <a:rPr lang="id-ID" sz="1000" b="1" dirty="0">
                <a:latin typeface="+mj-lt"/>
              </a:rPr>
              <a:t>D. </a:t>
            </a:r>
            <a:r>
              <a:rPr lang="es-ES" sz="1000" b="1" dirty="0" err="1">
                <a:latin typeface="+mj-lt"/>
              </a:rPr>
              <a:t>Hubungan</a:t>
            </a:r>
            <a:r>
              <a:rPr lang="es-ES" sz="1000" b="1" dirty="0">
                <a:latin typeface="+mj-lt"/>
              </a:rPr>
              <a:t> Negara dan </a:t>
            </a:r>
            <a:r>
              <a:rPr lang="es-ES" sz="1000" b="1" dirty="0" err="1">
                <a:latin typeface="+mj-lt"/>
              </a:rPr>
              <a:t>Warga</a:t>
            </a:r>
            <a:r>
              <a:rPr lang="es-ES" sz="1000" b="1" dirty="0">
                <a:latin typeface="+mj-lt"/>
              </a:rPr>
              <a:t> Negara</a:t>
            </a:r>
            <a:endParaRPr lang="id-ID" sz="1000" b="1" dirty="0">
              <a:latin typeface="+mj-lt"/>
            </a:endParaRPr>
          </a:p>
          <a:p>
            <a:pPr lvl="1">
              <a:buNone/>
            </a:pPr>
            <a:r>
              <a:rPr lang="id-ID" sz="1000" dirty="0">
                <a:latin typeface="+mj-lt"/>
              </a:rPr>
              <a:t>1.	Pengertian Hak dan Kewajiban Warga Negara;</a:t>
            </a:r>
          </a:p>
          <a:p>
            <a:pPr lvl="1">
              <a:buNone/>
            </a:pPr>
            <a:r>
              <a:rPr lang="id-ID" sz="1000" dirty="0">
                <a:latin typeface="+mj-lt"/>
              </a:rPr>
              <a:t>2.	Hak dan Kewajiban Warga Negara Menurut UUD 1945;</a:t>
            </a:r>
          </a:p>
          <a:p>
            <a:pPr lvl="1">
              <a:buNone/>
            </a:pPr>
            <a:r>
              <a:rPr lang="id-ID" sz="1000" dirty="0">
                <a:latin typeface="+mj-lt"/>
              </a:rPr>
              <a:t>3.	Pelaksanaan Hak dan Kewajiban Negara dan Warga Negara di Negara Pancasila.</a:t>
            </a:r>
          </a:p>
        </p:txBody>
      </p:sp>
    </p:spTree>
    <p:extLst>
      <p:ext uri="{BB962C8B-B14F-4D97-AF65-F5344CB8AC3E}">
        <p14:creationId xmlns:p14="http://schemas.microsoft.com/office/powerpoint/2010/main" val="3395093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41368"/>
          </a:xfrm>
        </p:spPr>
        <p:txBody>
          <a:bodyPr>
            <a:noAutofit/>
          </a:bodyPr>
          <a:lstStyle/>
          <a:p>
            <a:pPr>
              <a:buNone/>
            </a:pPr>
            <a:r>
              <a:rPr lang="id-ID" sz="900" b="1" dirty="0">
                <a:latin typeface="Times New Roman" panose="02020603050405020304" pitchFamily="18" charset="0"/>
                <a:cs typeface="Times New Roman" panose="02020603050405020304" pitchFamily="18" charset="0"/>
              </a:rPr>
              <a:t>E. DEMOKRASI INDONESIA</a:t>
            </a:r>
          </a:p>
          <a:p>
            <a:pPr lvl="1">
              <a:buNone/>
            </a:pPr>
            <a:r>
              <a:rPr lang="id-ID" sz="900" dirty="0">
                <a:latin typeface="Times New Roman" panose="02020603050405020304" pitchFamily="18" charset="0"/>
                <a:cs typeface="Times New Roman" panose="02020603050405020304" pitchFamily="18" charset="0"/>
              </a:rPr>
              <a:t>1.	Konsep dasar Demokrasi; </a:t>
            </a:r>
          </a:p>
          <a:p>
            <a:pPr lvl="1">
              <a:buNone/>
            </a:pPr>
            <a:r>
              <a:rPr lang="id-ID" sz="900" dirty="0">
                <a:latin typeface="Times New Roman" panose="02020603050405020304" pitchFamily="18" charset="0"/>
                <a:cs typeface="Times New Roman" panose="02020603050405020304" pitchFamily="18" charset="0"/>
              </a:rPr>
              <a:t>2.	Prinsip-prinsip dan indikator Demokrasi;</a:t>
            </a:r>
          </a:p>
          <a:p>
            <a:pPr lvl="1">
              <a:buNone/>
            </a:pPr>
            <a:r>
              <a:rPr lang="id-ID" sz="900" dirty="0">
                <a:latin typeface="Times New Roman" panose="02020603050405020304" pitchFamily="18" charset="0"/>
                <a:cs typeface="Times New Roman" panose="02020603050405020304" pitchFamily="18" charset="0"/>
              </a:rPr>
              <a:t>3.	Sejarah dan perkembangan Demokrasi;</a:t>
            </a:r>
          </a:p>
          <a:p>
            <a:pPr lvl="1">
              <a:buNone/>
            </a:pPr>
            <a:r>
              <a:rPr lang="id-ID" sz="900" dirty="0">
                <a:latin typeface="Times New Roman" panose="02020603050405020304" pitchFamily="18" charset="0"/>
                <a:cs typeface="Times New Roman" panose="02020603050405020304" pitchFamily="18" charset="0"/>
              </a:rPr>
              <a:t>4.	Pendidikan Demokrasi;</a:t>
            </a:r>
          </a:p>
          <a:p>
            <a:pPr>
              <a:buNone/>
            </a:pPr>
            <a:r>
              <a:rPr lang="id-ID" sz="900" b="1" dirty="0">
                <a:latin typeface="Times New Roman" panose="02020603050405020304" pitchFamily="18" charset="0"/>
                <a:cs typeface="Times New Roman" panose="02020603050405020304" pitchFamily="18" charset="0"/>
              </a:rPr>
              <a:t>F</a:t>
            </a:r>
            <a:r>
              <a:rPr lang="en-US" sz="900" b="1" dirty="0">
                <a:latin typeface="Times New Roman" panose="02020603050405020304" pitchFamily="18" charset="0"/>
                <a:cs typeface="Times New Roman" panose="02020603050405020304" pitchFamily="18" charset="0"/>
              </a:rPr>
              <a:t>.</a:t>
            </a:r>
            <a:r>
              <a:rPr lang="id-ID" sz="900" b="1" dirty="0">
                <a:latin typeface="Times New Roman" panose="02020603050405020304" pitchFamily="18" charset="0"/>
                <a:cs typeface="Times New Roman" panose="02020603050405020304" pitchFamily="18" charset="0"/>
              </a:rPr>
              <a:t>  </a:t>
            </a:r>
            <a:r>
              <a:rPr lang="fi-FI" sz="900" b="1" dirty="0">
                <a:latin typeface="Times New Roman" panose="02020603050405020304" pitchFamily="18" charset="0"/>
                <a:cs typeface="Times New Roman" panose="02020603050405020304" pitchFamily="18" charset="0"/>
              </a:rPr>
              <a:t>NEGARA HUKUM DAN HAK ASASI MANUSIA</a:t>
            </a:r>
            <a:endParaRPr lang="id-ID" sz="900" b="1" dirty="0">
              <a:latin typeface="Times New Roman" panose="02020603050405020304" pitchFamily="18" charset="0"/>
              <a:cs typeface="Times New Roman" panose="02020603050405020304" pitchFamily="18" charset="0"/>
            </a:endParaRPr>
          </a:p>
          <a:p>
            <a:pPr lvl="1">
              <a:buNone/>
            </a:pPr>
            <a:r>
              <a:rPr lang="id-ID" sz="900" dirty="0">
                <a:latin typeface="Times New Roman" panose="02020603050405020304" pitchFamily="18" charset="0"/>
                <a:cs typeface="Times New Roman" panose="02020603050405020304" pitchFamily="18" charset="0"/>
              </a:rPr>
              <a:t>1.	Pengertian dan ciri-ciri negara hukum; </a:t>
            </a:r>
          </a:p>
          <a:p>
            <a:pPr lvl="1">
              <a:buNone/>
            </a:pPr>
            <a:r>
              <a:rPr lang="id-ID" sz="900" dirty="0">
                <a:latin typeface="Times New Roman" panose="02020603050405020304" pitchFamily="18" charset="0"/>
                <a:cs typeface="Times New Roman" panose="02020603050405020304" pitchFamily="18" charset="0"/>
              </a:rPr>
              <a:t>2.	Indonesia sebagai negara hukum; </a:t>
            </a:r>
          </a:p>
          <a:p>
            <a:pPr lvl="1">
              <a:buNone/>
            </a:pPr>
            <a:r>
              <a:rPr lang="id-ID" sz="900" dirty="0">
                <a:latin typeface="Times New Roman" panose="02020603050405020304" pitchFamily="18" charset="0"/>
                <a:cs typeface="Times New Roman" panose="02020603050405020304" pitchFamily="18" charset="0"/>
              </a:rPr>
              <a:t>3.	Negara hukum Pancasila;</a:t>
            </a:r>
          </a:p>
          <a:p>
            <a:pPr lvl="1">
              <a:buNone/>
            </a:pPr>
            <a:r>
              <a:rPr lang="id-ID" sz="900" dirty="0">
                <a:latin typeface="Times New Roman" panose="02020603050405020304" pitchFamily="18" charset="0"/>
                <a:cs typeface="Times New Roman" panose="02020603050405020304" pitchFamily="18" charset="0"/>
              </a:rPr>
              <a:t>4.	Pengertian dan sejarah hak asasi manusia;</a:t>
            </a:r>
          </a:p>
          <a:p>
            <a:pPr lvl="1">
              <a:buNone/>
            </a:pPr>
            <a:r>
              <a:rPr lang="id-ID" sz="900" dirty="0">
                <a:latin typeface="Times New Roman" panose="02020603050405020304" pitchFamily="18" charset="0"/>
                <a:cs typeface="Times New Roman" panose="02020603050405020304" pitchFamily="18" charset="0"/>
              </a:rPr>
              <a:t>5.	Dasar-dasar konstitusional pelaksanaan prinsip-prinsip HAM;</a:t>
            </a:r>
          </a:p>
          <a:p>
            <a:pPr lvl="1">
              <a:buNone/>
            </a:pPr>
            <a:r>
              <a:rPr lang="id-ID" sz="900" dirty="0">
                <a:latin typeface="Times New Roman" panose="02020603050405020304" pitchFamily="18" charset="0"/>
                <a:cs typeface="Times New Roman" panose="02020603050405020304" pitchFamily="18" charset="0"/>
              </a:rPr>
              <a:t>6.	Pelaksanaan HAM dalam relasi hukum dan kekuasaan;</a:t>
            </a:r>
          </a:p>
          <a:p>
            <a:pPr>
              <a:buNone/>
            </a:pPr>
            <a:r>
              <a:rPr lang="id-ID" sz="900" b="1" dirty="0">
                <a:latin typeface="Times New Roman" panose="02020603050405020304" pitchFamily="18" charset="0"/>
                <a:cs typeface="Times New Roman" panose="02020603050405020304" pitchFamily="18" charset="0"/>
              </a:rPr>
              <a:t>G. WAWASAN NUSANTARA</a:t>
            </a:r>
          </a:p>
          <a:p>
            <a:pPr>
              <a:buNone/>
            </a:pPr>
            <a:r>
              <a:rPr lang="id-ID" sz="900" b="1" dirty="0">
                <a:latin typeface="Times New Roman" panose="02020603050405020304" pitchFamily="18" charset="0"/>
                <a:cs typeface="Times New Roman" panose="02020603050405020304" pitchFamily="18" charset="0"/>
              </a:rPr>
              <a:t>	  </a:t>
            </a:r>
            <a:r>
              <a:rPr lang="id-ID" sz="900" dirty="0">
                <a:latin typeface="Times New Roman" panose="02020603050405020304" pitchFamily="18" charset="0"/>
                <a:cs typeface="Times New Roman" panose="02020603050405020304" pitchFamily="18" charset="0"/>
              </a:rPr>
              <a:t>1.  Pengertian, latar belakang dan unsur-unsur geopolitik;</a:t>
            </a:r>
          </a:p>
          <a:p>
            <a:pPr>
              <a:buNone/>
            </a:pPr>
            <a:r>
              <a:rPr lang="id-ID" sz="900" dirty="0">
                <a:latin typeface="Times New Roman" panose="02020603050405020304" pitchFamily="18" charset="0"/>
                <a:cs typeface="Times New Roman" panose="02020603050405020304" pitchFamily="18" charset="0"/>
              </a:rPr>
              <a:t>	  2.  Perkembangan geopolitik di Indonesia;</a:t>
            </a:r>
          </a:p>
          <a:p>
            <a:pPr>
              <a:buNone/>
            </a:pPr>
            <a:r>
              <a:rPr lang="id-ID" sz="900" dirty="0">
                <a:latin typeface="Times New Roman" panose="02020603050405020304" pitchFamily="18" charset="0"/>
                <a:cs typeface="Times New Roman" panose="02020603050405020304" pitchFamily="18" charset="0"/>
              </a:rPr>
              <a:t>	  3.  Implementasi geopolitik dalam hukum kewilayahan;</a:t>
            </a:r>
          </a:p>
          <a:p>
            <a:pPr>
              <a:buNone/>
            </a:pPr>
            <a:r>
              <a:rPr lang="id-ID" sz="900" dirty="0">
                <a:latin typeface="Times New Roman" panose="02020603050405020304" pitchFamily="18" charset="0"/>
                <a:cs typeface="Times New Roman" panose="02020603050405020304" pitchFamily="18" charset="0"/>
              </a:rPr>
              <a:t>	  4.  Otonomi daerah;</a:t>
            </a:r>
          </a:p>
          <a:p>
            <a:pPr>
              <a:buNone/>
            </a:pPr>
            <a:r>
              <a:rPr lang="id-ID" sz="900" dirty="0">
                <a:latin typeface="Times New Roman" panose="02020603050405020304" pitchFamily="18" charset="0"/>
                <a:cs typeface="Times New Roman" panose="02020603050405020304" pitchFamily="18" charset="0"/>
              </a:rPr>
              <a:t>	  5.  Konsep dasar geostrategi;</a:t>
            </a:r>
          </a:p>
          <a:p>
            <a:pPr>
              <a:buNone/>
            </a:pPr>
            <a:r>
              <a:rPr lang="id-ID" sz="900" dirty="0">
                <a:latin typeface="Times New Roman" panose="02020603050405020304" pitchFamily="18" charset="0"/>
                <a:cs typeface="Times New Roman" panose="02020603050405020304" pitchFamily="18" charset="0"/>
              </a:rPr>
              <a:t>	  6.  Model dan unsur-unsur geostrategi;</a:t>
            </a:r>
          </a:p>
          <a:p>
            <a:pPr>
              <a:buNone/>
            </a:pPr>
            <a:r>
              <a:rPr lang="id-ID" sz="900" dirty="0">
                <a:latin typeface="Times New Roman" panose="02020603050405020304" pitchFamily="18" charset="0"/>
                <a:cs typeface="Times New Roman" panose="02020603050405020304" pitchFamily="18" charset="0"/>
              </a:rPr>
              <a:t>	  7.  Konsep bela negara dan astagatra;</a:t>
            </a:r>
          </a:p>
          <a:p>
            <a:pPr>
              <a:buNone/>
            </a:pPr>
            <a:r>
              <a:rPr lang="id-ID" sz="900" b="1" dirty="0">
                <a:latin typeface="Times New Roman" panose="02020603050405020304" pitchFamily="18" charset="0"/>
                <a:cs typeface="Times New Roman" panose="02020603050405020304" pitchFamily="18" charset="0"/>
              </a:rPr>
              <a:t>H. KETAHANAN NASIONAL</a:t>
            </a:r>
          </a:p>
          <a:p>
            <a:pPr lvl="1">
              <a:buNone/>
            </a:pPr>
            <a:r>
              <a:rPr lang="id-ID" sz="900" dirty="0">
                <a:latin typeface="Times New Roman" panose="02020603050405020304" pitchFamily="18" charset="0"/>
                <a:cs typeface="Times New Roman" panose="02020603050405020304" pitchFamily="18" charset="0"/>
              </a:rPr>
              <a:t>1.	Pengertian dan latar belakang ketahanan nasional;</a:t>
            </a:r>
          </a:p>
          <a:p>
            <a:pPr lvl="1">
              <a:buNone/>
            </a:pPr>
            <a:r>
              <a:rPr lang="id-ID" sz="900" dirty="0">
                <a:latin typeface="Times New Roman" panose="02020603050405020304" pitchFamily="18" charset="0"/>
                <a:cs typeface="Times New Roman" panose="02020603050405020304" pitchFamily="18" charset="0"/>
              </a:rPr>
              <a:t>2.	Ciri-ciri ketahanan nasional;</a:t>
            </a:r>
          </a:p>
          <a:p>
            <a:pPr lvl="1">
              <a:buAutoNum type="arabicPeriod" startAt="3"/>
            </a:pPr>
            <a:r>
              <a:rPr lang="id-ID" sz="900" dirty="0">
                <a:latin typeface="Times New Roman" panose="02020603050405020304" pitchFamily="18" charset="0"/>
                <a:cs typeface="Times New Roman" panose="02020603050405020304" pitchFamily="18" charset="0"/>
              </a:rPr>
              <a:t>Hubungan wawasan nusantara dengan ketahanan nasional;</a:t>
            </a:r>
          </a:p>
          <a:p>
            <a:pPr lvl="1">
              <a:buAutoNum type="arabicPeriod" startAt="3"/>
            </a:pPr>
            <a:r>
              <a:rPr lang="id-ID" sz="900" dirty="0">
                <a:latin typeface="Times New Roman" panose="02020603050405020304" pitchFamily="18" charset="0"/>
                <a:cs typeface="Times New Roman" panose="02020603050405020304" pitchFamily="18" charset="0"/>
              </a:rPr>
              <a:t>Hubungan ketahanan nasional dengan bela negara;</a:t>
            </a:r>
          </a:p>
          <a:p>
            <a:pPr>
              <a:buNone/>
            </a:pPr>
            <a:r>
              <a:rPr lang="id-ID" sz="900" b="1" dirty="0">
                <a:latin typeface="Times New Roman" panose="02020603050405020304" pitchFamily="18" charset="0"/>
                <a:cs typeface="Times New Roman" panose="02020603050405020304" pitchFamily="18" charset="0"/>
              </a:rPr>
              <a:t>I. INTEGRASI NASIONAL </a:t>
            </a:r>
          </a:p>
          <a:p>
            <a:pPr marL="411480" lvl="1" indent="0">
              <a:buNone/>
            </a:pPr>
            <a:r>
              <a:rPr lang="it-IT" sz="900" dirty="0">
                <a:latin typeface="Times New Roman" panose="02020603050405020304" pitchFamily="18" charset="0"/>
                <a:cs typeface="Times New Roman" panose="02020603050405020304" pitchFamily="18" charset="0"/>
              </a:rPr>
              <a:t>1.</a:t>
            </a:r>
            <a:r>
              <a:rPr lang="id-ID" sz="900" dirty="0">
                <a:latin typeface="Times New Roman" panose="02020603050405020304" pitchFamily="18" charset="0"/>
                <a:cs typeface="Times New Roman" panose="02020603050405020304" pitchFamily="18" charset="0"/>
              </a:rPr>
              <a:t>   </a:t>
            </a:r>
            <a:r>
              <a:rPr lang="it-IT" sz="900" dirty="0">
                <a:latin typeface="Times New Roman" panose="02020603050405020304" pitchFamily="18" charset="0"/>
                <a:cs typeface="Times New Roman" panose="02020603050405020304" pitchFamily="18" charset="0"/>
              </a:rPr>
              <a:t>Integrasi Nasional dan Pluralitas Masyarakat Indonesia</a:t>
            </a:r>
            <a:r>
              <a:rPr lang="id-ID" sz="900" dirty="0">
                <a:latin typeface="Times New Roman" panose="02020603050405020304" pitchFamily="18" charset="0"/>
                <a:cs typeface="Times New Roman" panose="02020603050405020304" pitchFamily="18" charset="0"/>
              </a:rPr>
              <a:t>;</a:t>
            </a:r>
            <a:endParaRPr lang="it-IT" sz="900" dirty="0">
              <a:latin typeface="Times New Roman" panose="02020603050405020304" pitchFamily="18" charset="0"/>
              <a:cs typeface="Times New Roman" panose="02020603050405020304" pitchFamily="18" charset="0"/>
            </a:endParaRPr>
          </a:p>
          <a:p>
            <a:pPr marL="411480" lvl="1" indent="0">
              <a:buNone/>
            </a:pPr>
            <a:r>
              <a:rPr lang="it-IT" sz="900" dirty="0">
                <a:latin typeface="Times New Roman" panose="02020603050405020304" pitchFamily="18" charset="0"/>
                <a:cs typeface="Times New Roman" panose="02020603050405020304" pitchFamily="18" charset="0"/>
              </a:rPr>
              <a:t>2.</a:t>
            </a:r>
            <a:r>
              <a:rPr lang="id-ID" sz="900" dirty="0">
                <a:latin typeface="Times New Roman" panose="02020603050405020304" pitchFamily="18" charset="0"/>
                <a:cs typeface="Times New Roman" panose="02020603050405020304" pitchFamily="18" charset="0"/>
              </a:rPr>
              <a:t>   </a:t>
            </a:r>
            <a:r>
              <a:rPr lang="it-IT" sz="900" dirty="0">
                <a:latin typeface="Times New Roman" panose="02020603050405020304" pitchFamily="18" charset="0"/>
                <a:cs typeface="Times New Roman" panose="02020603050405020304" pitchFamily="18" charset="0"/>
              </a:rPr>
              <a:t>Strategi Integrasi</a:t>
            </a:r>
            <a:r>
              <a:rPr lang="id-ID" sz="900" dirty="0">
                <a:latin typeface="Times New Roman" panose="02020603050405020304" pitchFamily="18" charset="0"/>
                <a:cs typeface="Times New Roman" panose="02020603050405020304" pitchFamily="18" charset="0"/>
              </a:rPr>
              <a:t>;</a:t>
            </a:r>
            <a:endParaRPr lang="it-IT" sz="900" dirty="0">
              <a:latin typeface="Times New Roman" panose="02020603050405020304" pitchFamily="18" charset="0"/>
              <a:cs typeface="Times New Roman" panose="02020603050405020304" pitchFamily="18" charset="0"/>
            </a:endParaRPr>
          </a:p>
          <a:p>
            <a:pPr marL="411480" lvl="1" indent="0">
              <a:buNone/>
            </a:pPr>
            <a:r>
              <a:rPr lang="it-IT" sz="900" dirty="0">
                <a:latin typeface="Times New Roman" panose="02020603050405020304" pitchFamily="18" charset="0"/>
                <a:cs typeface="Times New Roman" panose="02020603050405020304" pitchFamily="18" charset="0"/>
              </a:rPr>
              <a:t>3.</a:t>
            </a:r>
            <a:r>
              <a:rPr lang="id-ID" sz="900" dirty="0">
                <a:latin typeface="Times New Roman" panose="02020603050405020304" pitchFamily="18" charset="0"/>
                <a:cs typeface="Times New Roman" panose="02020603050405020304" pitchFamily="18" charset="0"/>
              </a:rPr>
              <a:t>   </a:t>
            </a:r>
            <a:r>
              <a:rPr lang="it-IT" sz="900" dirty="0">
                <a:latin typeface="Times New Roman" panose="02020603050405020304" pitchFamily="18" charset="0"/>
                <a:cs typeface="Times New Roman" panose="02020603050405020304" pitchFamily="18" charset="0"/>
              </a:rPr>
              <a:t>Integrasi Nasional Indonesia</a:t>
            </a:r>
            <a:r>
              <a:rPr lang="id-ID" sz="900" dirty="0">
                <a:latin typeface="Times New Roman" panose="02020603050405020304" pitchFamily="18" charset="0"/>
                <a:cs typeface="Times New Roman" panose="02020603050405020304" pitchFamily="18" charset="0"/>
              </a:rPr>
              <a:t>.</a:t>
            </a:r>
            <a:endParaRPr lang="it-IT" sz="900" dirty="0">
              <a:latin typeface="Times New Roman" panose="02020603050405020304" pitchFamily="18" charset="0"/>
              <a:cs typeface="Times New Roman" panose="02020603050405020304" pitchFamily="18" charset="0"/>
            </a:endParaRPr>
          </a:p>
          <a:p>
            <a:pPr lvl="1">
              <a:buAutoNum type="arabicPeriod" startAt="3"/>
            </a:pPr>
            <a:endParaRPr lang="id-ID" sz="900" dirty="0">
              <a:latin typeface="Times New Roman" panose="02020603050405020304" pitchFamily="18" charset="0"/>
              <a:cs typeface="Times New Roman" panose="02020603050405020304" pitchFamily="18" charset="0"/>
            </a:endParaRPr>
          </a:p>
          <a:p>
            <a:pPr lvl="1">
              <a:buAutoNum type="arabicPeriod" startAt="3"/>
            </a:pPr>
            <a:endParaRPr lang="id-ID" sz="900" dirty="0">
              <a:latin typeface="Times New Roman" panose="02020603050405020304" pitchFamily="18" charset="0"/>
              <a:cs typeface="Times New Roman" panose="02020603050405020304" pitchFamily="18" charset="0"/>
            </a:endParaRPr>
          </a:p>
          <a:p>
            <a:pPr lvl="1">
              <a:buAutoNum type="arabicPeriod" startAt="3"/>
            </a:pPr>
            <a:endParaRPr lang="id-ID" sz="900" dirty="0">
              <a:latin typeface="Times New Roman" panose="02020603050405020304" pitchFamily="18" charset="0"/>
              <a:cs typeface="Times New Roman" panose="02020603050405020304" pitchFamily="18" charset="0"/>
            </a:endParaRPr>
          </a:p>
          <a:p>
            <a:pPr lvl="1">
              <a:buAutoNum type="arabicPeriod" startAt="3"/>
            </a:pPr>
            <a:endParaRPr lang="id-ID" sz="900" dirty="0">
              <a:latin typeface="Times New Roman" panose="02020603050405020304" pitchFamily="18" charset="0"/>
              <a:cs typeface="Times New Roman" panose="02020603050405020304" pitchFamily="18" charset="0"/>
            </a:endParaRPr>
          </a:p>
          <a:p>
            <a:pPr lvl="1">
              <a:buAutoNum type="arabicPeriod" startAt="3"/>
            </a:pPr>
            <a:endParaRPr lang="id-ID" sz="900" dirty="0">
              <a:latin typeface="Times New Roman" panose="02020603050405020304" pitchFamily="18" charset="0"/>
              <a:cs typeface="Times New Roman" panose="02020603050405020304" pitchFamily="18" charset="0"/>
            </a:endParaRPr>
          </a:p>
          <a:p>
            <a:pPr marL="114300" indent="0">
              <a:buNone/>
            </a:pPr>
            <a:endParaRPr lang="id-ID"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753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7620000" cy="562074"/>
          </a:xfrm>
        </p:spPr>
        <p:txBody>
          <a:bodyPr/>
          <a:lstStyle/>
          <a:p>
            <a:pPr algn="just"/>
            <a:r>
              <a:rPr lang="id-ID" sz="2400" dirty="0"/>
              <a:t>Lanjutan (...)</a:t>
            </a:r>
          </a:p>
        </p:txBody>
      </p:sp>
      <p:sp>
        <p:nvSpPr>
          <p:cNvPr id="3" name="Content Placeholder 2"/>
          <p:cNvSpPr>
            <a:spLocks noGrp="1"/>
          </p:cNvSpPr>
          <p:nvPr>
            <p:ph idx="1"/>
          </p:nvPr>
        </p:nvSpPr>
        <p:spPr>
          <a:xfrm>
            <a:off x="539552" y="476672"/>
            <a:ext cx="7620000" cy="5564088"/>
          </a:xfrm>
        </p:spPr>
        <p:txBody>
          <a:bodyPr>
            <a:noAutofit/>
          </a:bodyPr>
          <a:lstStyle/>
          <a:p>
            <a:pPr marL="114300" indent="0" algn="ctr">
              <a:buNone/>
            </a:pPr>
            <a:r>
              <a:rPr lang="id-ID" sz="1600" dirty="0">
                <a:latin typeface="+mj-lt"/>
              </a:rPr>
              <a:t>DINAMIKA BANGSA DINAMIKA KITA BERSAMA?</a:t>
            </a:r>
          </a:p>
          <a:p>
            <a:pPr marL="457200" indent="-342900" algn="just">
              <a:buFont typeface="+mj-lt"/>
              <a:buAutoNum type="arabicPeriod"/>
            </a:pPr>
            <a:r>
              <a:rPr lang="id-ID" sz="1600" dirty="0">
                <a:latin typeface="+mj-lt"/>
              </a:rPr>
              <a:t>Demokratisasi, transparansi yang hampir membuat tak ada lagi batas kerahasiaan dinegara kita, bahkan untuk hal-hal yang seharusnya dirahasiakan?</a:t>
            </a:r>
          </a:p>
          <a:p>
            <a:pPr marL="457200" indent="-342900" algn="just">
              <a:buFont typeface="+mj-lt"/>
              <a:buAutoNum type="arabicPeriod"/>
            </a:pPr>
            <a:r>
              <a:rPr lang="id-ID" sz="1600" dirty="0">
                <a:latin typeface="+mj-lt"/>
              </a:rPr>
              <a:t>Liberalisasi bersamaan dengan demokratisasi di bidang politik, melahirkan sistem multi partai yang cenderung tidak efektif,  pemilihan Presiden – Wakil Presiden secara langsung yang belum diimbangi kesiapan infrastruktur sosial berupa kesiapan mental elit politik dan masyarakat yang kondusif bagi terciptanya demokrasi yang bermartabat?</a:t>
            </a:r>
          </a:p>
          <a:p>
            <a:pPr marL="457200" indent="-342900" algn="just">
              <a:buFont typeface="+mj-lt"/>
              <a:buAutoNum type="arabicPeriod"/>
            </a:pPr>
            <a:r>
              <a:rPr lang="id-ID" sz="1600" dirty="0">
                <a:latin typeface="+mj-lt"/>
              </a:rPr>
              <a:t>Kekuasaan DPR-DPRD yang sangat kuat seringkali disalahgunakan sebagai ajang manuver kekuatan politik yang berdampak timbulnya ketegangan-ketegangan suasana politik nasional dan hubungan eksekutif dan legislatif?</a:t>
            </a:r>
          </a:p>
          <a:p>
            <a:pPr marL="457200" indent="-342900" algn="just">
              <a:buFont typeface="+mj-lt"/>
              <a:buAutoNum type="arabicPeriod"/>
            </a:pPr>
            <a:r>
              <a:rPr lang="id-ID" sz="1600" dirty="0">
                <a:latin typeface="+mj-lt"/>
              </a:rPr>
              <a:t> Pengembangan otonomi daerah berekses pada semakin bermunculan daerah otonomi khusus, pemekaran wilayah yang kadang tidak dilandasi asas-asas kepentingan nasional sehingga sistem ketatanegaraan dan sistem pemerintahan terkesan menjadi “chaos”?</a:t>
            </a:r>
          </a:p>
          <a:p>
            <a:pPr marL="457200" indent="-342900" algn="just">
              <a:buFont typeface="+mj-lt"/>
              <a:buAutoNum type="arabicPeriod"/>
            </a:pPr>
            <a:r>
              <a:rPr lang="id-ID" sz="1600" dirty="0">
                <a:latin typeface="+mj-lt"/>
              </a:rPr>
              <a:t>Lembaga Yudikatif dan Penegak Hukum yang belum dapat mencapai kepercayaan “trust” penuh akibat tindakan-tindakan aparat yang dilakukan? </a:t>
            </a:r>
          </a:p>
          <a:p>
            <a:pPr marL="457200" indent="-342900" algn="just">
              <a:buFont typeface="+mj-lt"/>
              <a:buAutoNum type="arabicPeriod"/>
            </a:pPr>
            <a:endParaRPr lang="id-ID" sz="1600" dirty="0">
              <a:latin typeface="+mj-lt"/>
            </a:endParaRPr>
          </a:p>
          <a:p>
            <a:pPr marL="114300" indent="0" algn="ctr">
              <a:buNone/>
            </a:pPr>
            <a:r>
              <a:rPr lang="id-ID" sz="1600" dirty="0">
                <a:latin typeface="+mj-lt"/>
              </a:rPr>
              <a:t>FAKTOR EKSTERNAL + FAKTOR INTERNAL = NILAI AJARAN ASING + PENERIMAAN DAN DISORIENTASI NILAI PANCASILA</a:t>
            </a:r>
          </a:p>
          <a:p>
            <a:pPr marL="114300" indent="0" algn="just">
              <a:buNone/>
            </a:pPr>
            <a:r>
              <a:rPr lang="id-ID" sz="1600" dirty="0">
                <a:latin typeface="+mj-lt"/>
              </a:rPr>
              <a:t> </a:t>
            </a:r>
          </a:p>
        </p:txBody>
      </p:sp>
      <p:sp>
        <p:nvSpPr>
          <p:cNvPr id="4" name="Date Placeholder 3"/>
          <p:cNvSpPr>
            <a:spLocks noGrp="1"/>
          </p:cNvSpPr>
          <p:nvPr>
            <p:ph type="dt" sz="half" idx="10"/>
          </p:nvPr>
        </p:nvSpPr>
        <p:spPr/>
        <p:txBody>
          <a:bodyPr/>
          <a:lstStyle/>
          <a:p>
            <a:fld id="{87E12B2C-B5F2-431B-89AA-AA2739680C50}" type="datetime1">
              <a:rPr lang="id-ID" smtClean="0"/>
              <a:t>12/09/2023</a:t>
            </a:fld>
            <a:endParaRPr lang="id-ID" dirty="0"/>
          </a:p>
        </p:txBody>
      </p:sp>
      <p:sp>
        <p:nvSpPr>
          <p:cNvPr id="5" name="Slide Number Placeholder 4"/>
          <p:cNvSpPr>
            <a:spLocks noGrp="1"/>
          </p:cNvSpPr>
          <p:nvPr>
            <p:ph type="sldNum" sz="quarter" idx="12"/>
          </p:nvPr>
        </p:nvSpPr>
        <p:spPr/>
        <p:txBody>
          <a:bodyPr/>
          <a:lstStyle/>
          <a:p>
            <a:fld id="{0BEEEC3A-66DB-44B3-B1C4-FF7A07C26C70}" type="slidenum">
              <a:rPr lang="id-ID" smtClean="0"/>
              <a:t>8</a:t>
            </a:fld>
            <a:endParaRPr lang="id-ID"/>
          </a:p>
        </p:txBody>
      </p:sp>
    </p:spTree>
    <p:extLst>
      <p:ext uri="{BB962C8B-B14F-4D97-AF65-F5344CB8AC3E}">
        <p14:creationId xmlns:p14="http://schemas.microsoft.com/office/powerpoint/2010/main" val="287514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76672"/>
            <a:ext cx="8460432" cy="6381328"/>
          </a:xfrm>
        </p:spPr>
        <p:txBody>
          <a:bodyPr>
            <a:normAutofit/>
          </a:bodyPr>
          <a:lstStyle/>
          <a:p>
            <a:pPr algn="just"/>
            <a:r>
              <a:rPr lang="id-ID" sz="1800" dirty="0">
                <a:latin typeface="+mj-lt"/>
              </a:rPr>
              <a:t>Searah dengan perubahan pendidikan ke masa depan dan dinamika internal bangsa Indonesia, program pembelajaran Pancasila dan Pendidikan Kewarganegaraan di Perguruan Tinggi harus mampu mencapai tujuan:</a:t>
            </a:r>
          </a:p>
          <a:p>
            <a:pPr marL="571500" indent="-457200" algn="just">
              <a:buFont typeface="+mj-lt"/>
              <a:buAutoNum type="alphaLcPeriod"/>
            </a:pPr>
            <a:r>
              <a:rPr lang="id-ID" sz="1800" dirty="0">
                <a:latin typeface="+mj-lt"/>
              </a:rPr>
              <a:t>Mengembangkan sikap dan perilaku kewarganegaraan yang mengapresiasi nilai-nilai moral-etika dan religius;</a:t>
            </a:r>
          </a:p>
          <a:p>
            <a:pPr marL="571500" indent="-457200" algn="just">
              <a:buFont typeface="+mj-lt"/>
              <a:buAutoNum type="alphaLcPeriod"/>
            </a:pPr>
            <a:r>
              <a:rPr lang="id-ID" sz="1800" dirty="0">
                <a:latin typeface="+mj-lt"/>
              </a:rPr>
              <a:t>Menjadi warga negara yang cerdas berkarakter, menjunjung tinggi nilai kemanusiaan;</a:t>
            </a:r>
          </a:p>
          <a:p>
            <a:pPr marL="571500" indent="-457200" algn="just">
              <a:buFont typeface="+mj-lt"/>
              <a:buAutoNum type="alphaLcPeriod"/>
            </a:pPr>
            <a:r>
              <a:rPr lang="id-ID" sz="1800" dirty="0">
                <a:latin typeface="+mj-lt"/>
              </a:rPr>
              <a:t>Menumbuhkembangkan jiwa dan semangat nasionalisme dan rasa cinta pada tanah air;</a:t>
            </a:r>
          </a:p>
          <a:p>
            <a:pPr marL="571500" indent="-457200" algn="just">
              <a:buFont typeface="+mj-lt"/>
              <a:buAutoNum type="alphaLcPeriod"/>
            </a:pPr>
            <a:r>
              <a:rPr lang="id-ID" sz="1800" dirty="0">
                <a:latin typeface="+mj-lt"/>
              </a:rPr>
              <a:t>Mengembangkan sikap demokratik berkeadaban dan bertanggungjawab serta mengembangkan kemampuan kompetitif bangsa di era globalisasi;</a:t>
            </a:r>
          </a:p>
          <a:p>
            <a:pPr marL="571500" indent="-457200" algn="just">
              <a:buFont typeface="+mj-lt"/>
              <a:buAutoNum type="alphaLcPeriod"/>
            </a:pPr>
            <a:r>
              <a:rPr lang="id-ID" sz="1800" dirty="0">
                <a:latin typeface="+mj-lt"/>
              </a:rPr>
              <a:t>Menjunjung tinggi nilai-nilai keadilan.</a:t>
            </a:r>
          </a:p>
        </p:txBody>
      </p:sp>
      <p:sp>
        <p:nvSpPr>
          <p:cNvPr id="4" name="Date Placeholder 3"/>
          <p:cNvSpPr>
            <a:spLocks noGrp="1"/>
          </p:cNvSpPr>
          <p:nvPr>
            <p:ph type="dt" sz="half" idx="10"/>
          </p:nvPr>
        </p:nvSpPr>
        <p:spPr/>
        <p:txBody>
          <a:bodyPr/>
          <a:lstStyle/>
          <a:p>
            <a:fld id="{6C6D8A40-8630-4128-B43D-A8792D906167}"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9</a:t>
            </a:fld>
            <a:endParaRPr lang="id-ID"/>
          </a:p>
        </p:txBody>
      </p:sp>
    </p:spTree>
    <p:extLst>
      <p:ext uri="{BB962C8B-B14F-4D97-AF65-F5344CB8AC3E}">
        <p14:creationId xmlns:p14="http://schemas.microsoft.com/office/powerpoint/2010/main" val="114921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357188" y="357188"/>
            <a:ext cx="7929562" cy="6188075"/>
          </a:xfrm>
        </p:spPr>
        <p:txBody>
          <a:bodyPr/>
          <a:lstStyle/>
          <a:p>
            <a:pPr marL="457200" indent="-457200" algn="ctr">
              <a:buFont typeface="Wingdings" pitchFamily="2" charset="2"/>
              <a:buNone/>
            </a:pPr>
            <a:r>
              <a:rPr lang="id-ID" altLang="id-ID" sz="2200" b="1" dirty="0">
                <a:latin typeface="+mj-lt"/>
                <a:cs typeface="Times New Roman" pitchFamily="18" charset="0"/>
              </a:rPr>
              <a:t>Pancasila merupakan sumber segala sumber hukum negara</a:t>
            </a:r>
          </a:p>
          <a:p>
            <a:pPr marL="457200" indent="-457200" algn="ctr">
              <a:buFont typeface="Wingdings" pitchFamily="2" charset="2"/>
              <a:buNone/>
            </a:pPr>
            <a:r>
              <a:rPr lang="id-ID" altLang="id-ID" sz="2200" dirty="0">
                <a:latin typeface="+mj-lt"/>
                <a:cs typeface="Times New Roman" pitchFamily="18" charset="0"/>
              </a:rPr>
              <a:t>(Pasal 2 Undang-undang Nomor 12 Tahun 2011 tentang Pembentukan Peraturan Perundang-undangan)</a:t>
            </a:r>
          </a:p>
          <a:p>
            <a:pPr marL="457200" indent="-457200" algn="just"/>
            <a:r>
              <a:rPr lang="id-ID" altLang="id-ID" sz="2200" dirty="0">
                <a:latin typeface="+mj-lt"/>
                <a:cs typeface="Times New Roman" pitchFamily="18" charset="0"/>
              </a:rPr>
              <a:t>Penempatan Pancasila sebagai sumber dari segala sumber hukum negara adalah sesuai dengan Pembukaan Undang-Undang Dasar Negara Republik Indonesia Tahun 1945 alinea keempat yaitu Ketuhanan Yang Maha Esa, Kemanusiaan yang adil dan beradab, Persatuan Indonesia, Kerakyatan yang dipimpin oleh hikmat kebijaksanaan dalam Permusyawarat-an/Perwakilan dan Keadilan sosial bagi seluruh rakyat Indonesia. </a:t>
            </a:r>
            <a:endParaRPr lang="id-ID" altLang="id-ID" sz="1900" dirty="0">
              <a:latin typeface="+mj-lt"/>
              <a:cs typeface="Times New Roman" pitchFamily="18" charset="0"/>
            </a:endParaRPr>
          </a:p>
          <a:p>
            <a:pPr marL="457200" indent="-457200" algn="just"/>
            <a:r>
              <a:rPr lang="id-ID" altLang="id-ID" sz="2200" dirty="0">
                <a:latin typeface="+mj-lt"/>
                <a:cs typeface="Times New Roman" pitchFamily="18" charset="0"/>
              </a:rPr>
              <a:t>Menempatkan Pancasila sebagai dasar dan ideologi negara serta sekaligus dasar filosofis negara sehingga setiap materi muatan Peraturan Perundang-undangan tidak boleh bertentangan dengan nilai-nilai yang terkandung dalam Pancasila.</a:t>
            </a:r>
          </a:p>
        </p:txBody>
      </p:sp>
      <p:sp>
        <p:nvSpPr>
          <p:cNvPr id="1536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66CBD3F-3E74-467F-AD98-9E96397A5C8B}" type="slidenum">
              <a:rPr lang="id-ID" altLang="id-ID" smtClean="0">
                <a:solidFill>
                  <a:srgbClr val="FFFFFF"/>
                </a:solidFill>
              </a:rPr>
              <a:pPr eaLnBrk="1" hangingPunct="1"/>
              <a:t>10</a:t>
            </a:fld>
            <a:endParaRPr lang="id-ID" altLang="id-ID">
              <a:solidFill>
                <a:srgbClr val="FFFFFF"/>
              </a:solidFill>
            </a:endParaRPr>
          </a:p>
        </p:txBody>
      </p:sp>
    </p:spTree>
    <p:extLst>
      <p:ext uri="{BB962C8B-B14F-4D97-AF65-F5344CB8AC3E}">
        <p14:creationId xmlns:p14="http://schemas.microsoft.com/office/powerpoint/2010/main" val="2740507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285750" y="179388"/>
            <a:ext cx="8174682" cy="6286500"/>
          </a:xfrm>
        </p:spPr>
        <p:txBody>
          <a:bodyPr/>
          <a:lstStyle/>
          <a:p>
            <a:pPr algn="ctr" eaLnBrk="1" hangingPunct="1">
              <a:buFont typeface="Wingdings 3" pitchFamily="18" charset="2"/>
              <a:buNone/>
            </a:pPr>
            <a:r>
              <a:rPr lang="id-ID" altLang="id-ID" sz="2800" b="1" dirty="0">
                <a:latin typeface="Times New Roman" pitchFamily="18" charset="0"/>
                <a:cs typeface="Times New Roman" pitchFamily="18" charset="0"/>
              </a:rPr>
              <a:t>Panca (Lima) sila (aturan/dasar)</a:t>
            </a:r>
          </a:p>
          <a:p>
            <a:pPr algn="just" eaLnBrk="1" hangingPunct="1"/>
            <a:endParaRPr lang="id-ID" altLang="id-ID" sz="2100" dirty="0">
              <a:latin typeface="Times New Roman" pitchFamily="18" charset="0"/>
              <a:cs typeface="Times New Roman" pitchFamily="18" charset="0"/>
            </a:endParaRPr>
          </a:p>
          <a:p>
            <a:pPr algn="just" eaLnBrk="1" hangingPunct="1"/>
            <a:r>
              <a:rPr lang="id-ID" altLang="id-ID" sz="2100" dirty="0">
                <a:latin typeface="Times New Roman" pitchFamily="18" charset="0"/>
                <a:cs typeface="Times New Roman" pitchFamily="18" charset="0"/>
              </a:rPr>
              <a:t>Setiap negara memiliki falsafah atau dasar negara/norma fundamental negara yang berbeda-beda.</a:t>
            </a:r>
          </a:p>
          <a:p>
            <a:pPr algn="just" eaLnBrk="1" hangingPunct="1"/>
            <a:r>
              <a:rPr lang="id-ID" altLang="id-ID" sz="2100" dirty="0">
                <a:latin typeface="Times New Roman" pitchFamily="18" charset="0"/>
                <a:cs typeface="Times New Roman" pitchFamily="18" charset="0"/>
              </a:rPr>
              <a:t>Falsafah merupakan perwujudan atas kehendak rakyat (keinginan /harapan dan watak suatu bangsa).</a:t>
            </a:r>
          </a:p>
          <a:p>
            <a:pPr algn="just" eaLnBrk="1" hangingPunct="1"/>
            <a:r>
              <a:rPr lang="id-ID" altLang="id-ID" sz="2100" dirty="0">
                <a:latin typeface="Times New Roman" pitchFamily="18" charset="0"/>
                <a:cs typeface="Times New Roman" pitchFamily="18" charset="0"/>
              </a:rPr>
              <a:t>BPUPKI menyelenggarakan Rapat dan muncullah pertanyaan “dr. Radjiman bahwa kita bersidang saat ini untuk mempersiapkan kemerdekaan, apa dasarnya?”. Hal tersebut kemudian di jawab oleh Ir. Soekarno dengan pandangan bahwa negara terbentuk seperti membentuk suatu bangunan, di setiap bangunan perlu diletakkan dasar yang kuat atau “Philosofische Grondslag” (dalam  lima butir sila yang oleh ahli bahasa saat itu disebut dengan Pancasila).</a:t>
            </a:r>
          </a:p>
          <a:p>
            <a:pPr algn="just" eaLnBrk="1" hangingPunct="1"/>
            <a:r>
              <a:rPr lang="id-ID" altLang="id-ID" sz="2100" dirty="0">
                <a:latin typeface="Times New Roman" pitchFamily="18" charset="0"/>
                <a:cs typeface="Times New Roman" pitchFamily="18" charset="0"/>
              </a:rPr>
              <a:t>Pancasila merupakan Sumber Hukum Materiil sebagai dasar falsafah terbentuknya norma-norma hukum dalam peraturan perundang-undangan. Apabila terdapat norma hukum yang bertentangan dengan Pancasila, maka norma hukum tersebut wajib dicabut atau dibatalkan. (Tap MPR III/MPR/2000).</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3F8E6FC1-6C7F-4EF3-8FAB-F470D328713E}" type="slidenum">
              <a:rPr lang="id-ID" smtClean="0"/>
              <a:pPr algn="r" fontAlgn="base">
                <a:spcBef>
                  <a:spcPct val="0"/>
                </a:spcBef>
                <a:spcAft>
                  <a:spcPct val="0"/>
                </a:spcAft>
                <a:defRPr/>
              </a:pPr>
              <a:t>11</a:t>
            </a:fld>
            <a:endParaRPr lang="id-ID"/>
          </a:p>
        </p:txBody>
      </p:sp>
    </p:spTree>
    <p:extLst>
      <p:ext uri="{BB962C8B-B14F-4D97-AF65-F5344CB8AC3E}">
        <p14:creationId xmlns:p14="http://schemas.microsoft.com/office/powerpoint/2010/main" val="276993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0" y="142875"/>
            <a:ext cx="8460432" cy="6286500"/>
          </a:xfrm>
        </p:spPr>
        <p:txBody>
          <a:bodyPr>
            <a:normAutofit fontScale="92500" lnSpcReduction="20000"/>
          </a:bodyPr>
          <a:lstStyle/>
          <a:p>
            <a:pPr algn="ctr" eaLnBrk="1" hangingPunct="1">
              <a:buFont typeface="Wingdings 3" pitchFamily="18" charset="2"/>
              <a:buNone/>
              <a:defRPr/>
            </a:pPr>
            <a:r>
              <a:rPr lang="id-ID" sz="2000" b="1" dirty="0">
                <a:latin typeface="Times New Roman" pitchFamily="18" charset="0"/>
                <a:cs typeface="Times New Roman" pitchFamily="18" charset="0"/>
              </a:rPr>
              <a:t>Pembentukan BPUPKI (28-05-1945)</a:t>
            </a:r>
          </a:p>
          <a:p>
            <a:pPr algn="ctr" eaLnBrk="1" hangingPunct="1">
              <a:buFont typeface="Wingdings 3" pitchFamily="18" charset="2"/>
              <a:buNone/>
              <a:defRPr/>
            </a:pPr>
            <a:r>
              <a:rPr lang="id-ID" sz="2000" b="1" dirty="0">
                <a:latin typeface="Times New Roman" pitchFamily="18" charset="0"/>
                <a:cs typeface="Times New Roman" pitchFamily="18" charset="0"/>
              </a:rPr>
              <a:t>Sidang I (29s/d01-06-1945)</a:t>
            </a:r>
          </a:p>
          <a:p>
            <a:pPr algn="ctr" eaLnBrk="1" hangingPunct="1">
              <a:buFont typeface="Wingdings 3" pitchFamily="18" charset="2"/>
              <a:buNone/>
              <a:defRPr/>
            </a:pPr>
            <a:r>
              <a:rPr lang="id-ID" sz="2000" b="1" dirty="0">
                <a:latin typeface="Times New Roman" pitchFamily="18" charset="0"/>
                <a:cs typeface="Times New Roman" pitchFamily="18" charset="0"/>
              </a:rPr>
              <a:t>Sidang II BPUPK (10s/d17-07-1945)</a:t>
            </a:r>
          </a:p>
          <a:p>
            <a:pPr algn="just" eaLnBrk="1" hangingPunct="1">
              <a:buFont typeface="Wingdings 3" pitchFamily="18" charset="2"/>
              <a:buNone/>
              <a:defRPr/>
            </a:pPr>
            <a:r>
              <a:rPr lang="id-ID" sz="2200" b="1" dirty="0">
                <a:latin typeface="Times New Roman" pitchFamily="18" charset="0"/>
                <a:cs typeface="Times New Roman" pitchFamily="18" charset="0"/>
              </a:rPr>
              <a:t>Sidang I BPUPKI</a:t>
            </a:r>
          </a:p>
          <a:p>
            <a:pPr algn="just" eaLnBrk="1" hangingPunct="1">
              <a:buFont typeface="Wingdings 3" pitchFamily="18" charset="2"/>
              <a:buNone/>
              <a:defRPr/>
            </a:pPr>
            <a:r>
              <a:rPr lang="id-ID" sz="2200" b="1" dirty="0">
                <a:latin typeface="Times New Roman" pitchFamily="18" charset="0"/>
                <a:cs typeface="Times New Roman" pitchFamily="18" charset="0"/>
              </a:rPr>
              <a:t>Tanggal 29-05-1945</a:t>
            </a:r>
            <a:r>
              <a:rPr lang="id-ID" sz="2200" dirty="0">
                <a:latin typeface="Times New Roman" pitchFamily="18" charset="0"/>
                <a:cs typeface="Times New Roman" pitchFamily="18" charset="0"/>
              </a:rPr>
              <a:t> Moh. Yamin mengemukakan lima (5) dasar  negara (Dalam Pidato), yaitu:</a:t>
            </a:r>
          </a:p>
          <a:p>
            <a:pPr marL="457200" indent="-457200" algn="just" eaLnBrk="1" hangingPunct="1">
              <a:buFont typeface="+mj-lt"/>
              <a:buAutoNum type="arabicPeriod"/>
              <a:defRPr/>
            </a:pPr>
            <a:r>
              <a:rPr lang="id-ID" sz="1800" dirty="0">
                <a:latin typeface="Times New Roman" pitchFamily="18" charset="0"/>
                <a:cs typeface="Times New Roman" pitchFamily="18" charset="0"/>
              </a:rPr>
              <a:t>Peri Kebangsaan;</a:t>
            </a:r>
          </a:p>
          <a:p>
            <a:pPr marL="457200" indent="-457200" algn="just" eaLnBrk="1" hangingPunct="1">
              <a:buFont typeface="+mj-lt"/>
              <a:buAutoNum type="arabicPeriod"/>
              <a:defRPr/>
            </a:pPr>
            <a:r>
              <a:rPr lang="id-ID" sz="1800" dirty="0">
                <a:latin typeface="Times New Roman" pitchFamily="18" charset="0"/>
                <a:cs typeface="Times New Roman" pitchFamily="18" charset="0"/>
              </a:rPr>
              <a:t>Peri Kemanusiaan;</a:t>
            </a:r>
          </a:p>
          <a:p>
            <a:pPr marL="457200" indent="-457200" algn="just" eaLnBrk="1" hangingPunct="1">
              <a:buFont typeface="+mj-lt"/>
              <a:buAutoNum type="arabicPeriod"/>
              <a:defRPr/>
            </a:pPr>
            <a:r>
              <a:rPr lang="id-ID" sz="1800" dirty="0">
                <a:latin typeface="Times New Roman" pitchFamily="18" charset="0"/>
                <a:cs typeface="Times New Roman" pitchFamily="18" charset="0"/>
              </a:rPr>
              <a:t>Peri Ke-Tuhanan;</a:t>
            </a:r>
          </a:p>
          <a:p>
            <a:pPr marL="457200" indent="-457200" algn="just" eaLnBrk="1" hangingPunct="1">
              <a:buFont typeface="+mj-lt"/>
              <a:buAutoNum type="arabicPeriod"/>
              <a:defRPr/>
            </a:pPr>
            <a:r>
              <a:rPr lang="id-ID" sz="1800" dirty="0">
                <a:latin typeface="Times New Roman" pitchFamily="18" charset="0"/>
                <a:cs typeface="Times New Roman" pitchFamily="18" charset="0"/>
              </a:rPr>
              <a:t>Peri Kerakyatan;</a:t>
            </a:r>
          </a:p>
          <a:p>
            <a:pPr marL="457200" indent="-457200" algn="just" eaLnBrk="1" hangingPunct="1">
              <a:buFont typeface="+mj-lt"/>
              <a:buAutoNum type="arabicPeriod"/>
              <a:defRPr/>
            </a:pPr>
            <a:r>
              <a:rPr lang="id-ID" sz="1800" dirty="0">
                <a:latin typeface="Times New Roman" pitchFamily="18" charset="0"/>
                <a:cs typeface="Times New Roman" pitchFamily="18" charset="0"/>
              </a:rPr>
              <a:t>Kesejahteraan Rakyat.</a:t>
            </a:r>
          </a:p>
          <a:p>
            <a:pPr marL="457200" indent="-457200" algn="just" eaLnBrk="1" hangingPunct="1">
              <a:buFont typeface="Wingdings 3" pitchFamily="18" charset="2"/>
              <a:buNone/>
              <a:defRPr/>
            </a:pPr>
            <a:r>
              <a:rPr lang="id-ID" sz="1800" dirty="0">
                <a:latin typeface="Times New Roman" pitchFamily="18" charset="0"/>
                <a:cs typeface="Times New Roman" pitchFamily="18" charset="0"/>
              </a:rPr>
              <a:t>Akhir Pidato Moh. Yamin  menyerahkan rancangan (tertulis):</a:t>
            </a:r>
          </a:p>
          <a:p>
            <a:pPr marL="457200" indent="-457200" algn="just" eaLnBrk="1" hangingPunct="1">
              <a:buFont typeface="+mj-lt"/>
              <a:buAutoNum type="arabicPeriod"/>
              <a:defRPr/>
            </a:pPr>
            <a:r>
              <a:rPr lang="id-ID" sz="1800" dirty="0">
                <a:latin typeface="Times New Roman" pitchFamily="18" charset="0"/>
                <a:cs typeface="Times New Roman" pitchFamily="18" charset="0"/>
              </a:rPr>
              <a:t>Ke-Tuhanan Yang Maha Esa;</a:t>
            </a:r>
          </a:p>
          <a:p>
            <a:pPr marL="457200" indent="-457200" algn="just" eaLnBrk="1" hangingPunct="1">
              <a:buFont typeface="+mj-lt"/>
              <a:buAutoNum type="arabicPeriod"/>
              <a:defRPr/>
            </a:pPr>
            <a:r>
              <a:rPr lang="id-ID" sz="1800" dirty="0">
                <a:latin typeface="Times New Roman" pitchFamily="18" charset="0"/>
                <a:cs typeface="Times New Roman" pitchFamily="18" charset="0"/>
              </a:rPr>
              <a:t>Kebangsaan Persatuan Indonesia;</a:t>
            </a:r>
          </a:p>
          <a:p>
            <a:pPr marL="457200" indent="-457200" algn="just" eaLnBrk="1" hangingPunct="1">
              <a:buFont typeface="+mj-lt"/>
              <a:buAutoNum type="arabicPeriod"/>
              <a:defRPr/>
            </a:pPr>
            <a:r>
              <a:rPr lang="id-ID" sz="1800" dirty="0">
                <a:latin typeface="Times New Roman" pitchFamily="18" charset="0"/>
                <a:cs typeface="Times New Roman" pitchFamily="18" charset="0"/>
              </a:rPr>
              <a:t>Rasa Kemanusiaan yang Adil dan Beradab;</a:t>
            </a:r>
          </a:p>
          <a:p>
            <a:pPr marL="457200" indent="-457200" algn="just" eaLnBrk="1" hangingPunct="1">
              <a:buFont typeface="+mj-lt"/>
              <a:buAutoNum type="arabicPeriod"/>
              <a:defRPr/>
            </a:pPr>
            <a:r>
              <a:rPr lang="id-ID" sz="1800" dirty="0">
                <a:latin typeface="Times New Roman" pitchFamily="18" charset="0"/>
                <a:cs typeface="Times New Roman" pitchFamily="18" charset="0"/>
              </a:rPr>
              <a:t>Kerakyatan yang dipimpin oleh hikmat kebijaksanaan dalam permusyawaratan/ perwakilan;</a:t>
            </a:r>
          </a:p>
          <a:p>
            <a:pPr marL="457200" indent="-457200" algn="just" eaLnBrk="1" hangingPunct="1">
              <a:buFont typeface="+mj-lt"/>
              <a:buAutoNum type="arabicPeriod"/>
              <a:defRPr/>
            </a:pPr>
            <a:r>
              <a:rPr lang="id-ID" sz="1800" dirty="0">
                <a:latin typeface="Times New Roman" pitchFamily="18" charset="0"/>
                <a:cs typeface="Times New Roman" pitchFamily="18" charset="0"/>
              </a:rPr>
              <a:t>Keadilan sosial bagi seluruh Indonesia.</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8FBCBF9B-6C4E-4A7A-8C9E-57B79F8AB625}" type="slidenum">
              <a:rPr lang="id-ID" smtClean="0"/>
              <a:pPr algn="r" fontAlgn="base">
                <a:spcBef>
                  <a:spcPct val="0"/>
                </a:spcBef>
                <a:spcAft>
                  <a:spcPct val="0"/>
                </a:spcAft>
                <a:defRPr/>
              </a:pPr>
              <a:t>12</a:t>
            </a:fld>
            <a:endParaRPr lang="id-ID"/>
          </a:p>
        </p:txBody>
      </p:sp>
    </p:spTree>
    <p:extLst>
      <p:ext uri="{BB962C8B-B14F-4D97-AF65-F5344CB8AC3E}">
        <p14:creationId xmlns:p14="http://schemas.microsoft.com/office/powerpoint/2010/main" val="3149555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0" y="142875"/>
            <a:ext cx="8460432" cy="6286500"/>
          </a:xfrm>
        </p:spPr>
        <p:txBody>
          <a:bodyPr>
            <a:normAutofit/>
          </a:bodyPr>
          <a:lstStyle/>
          <a:p>
            <a:pPr algn="just" eaLnBrk="1" hangingPunct="1">
              <a:buFont typeface="Wingdings 3" pitchFamily="18" charset="2"/>
              <a:buNone/>
              <a:defRPr/>
            </a:pPr>
            <a:r>
              <a:rPr lang="id-ID" sz="2200" b="1" dirty="0">
                <a:latin typeface="Times New Roman" pitchFamily="18" charset="0"/>
                <a:cs typeface="Times New Roman" pitchFamily="18" charset="0"/>
              </a:rPr>
              <a:t>Tanggal 31-05-1945 </a:t>
            </a:r>
            <a:r>
              <a:rPr lang="id-ID" sz="2200" dirty="0">
                <a:latin typeface="Times New Roman" pitchFamily="18" charset="0"/>
                <a:cs typeface="Times New Roman" pitchFamily="18" charset="0"/>
              </a:rPr>
              <a:t>Prof. Dr. Soepomo mengemukakan usulan dasar negara Indonesia, yaitu:</a:t>
            </a:r>
          </a:p>
          <a:p>
            <a:pPr marL="457200" indent="-457200" algn="just" eaLnBrk="1" hangingPunct="1">
              <a:buFont typeface="+mj-lt"/>
              <a:buAutoNum type="arabicPeriod"/>
              <a:defRPr/>
            </a:pPr>
            <a:r>
              <a:rPr lang="id-ID" sz="2200" dirty="0">
                <a:latin typeface="Times New Roman" pitchFamily="18" charset="0"/>
                <a:cs typeface="Times New Roman" pitchFamily="18" charset="0"/>
              </a:rPr>
              <a:t>Persatuan;</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Kekeluargaan;</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Keseimbangan lahir dan batin;</a:t>
            </a:r>
          </a:p>
          <a:p>
            <a:pPr marL="457200" indent="-457200" algn="just" eaLnBrk="1" hangingPunct="1">
              <a:buFont typeface="+mj-lt"/>
              <a:buAutoNum type="arabicPeriod"/>
              <a:defRPr/>
            </a:pPr>
            <a:r>
              <a:rPr lang="id-ID" sz="2200" dirty="0">
                <a:latin typeface="Times New Roman" pitchFamily="18" charset="0"/>
                <a:cs typeface="Times New Roman" pitchFamily="18" charset="0"/>
              </a:rPr>
              <a:t>Musyawarakatan;</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Keadilan rakyat.</a:t>
            </a:r>
          </a:p>
          <a:p>
            <a:pPr marL="457200" indent="-457200" algn="just" eaLnBrk="1" hangingPunct="1">
              <a:buFont typeface="Wingdings 3" pitchFamily="18" charset="2"/>
              <a:buNone/>
              <a:defRPr/>
            </a:pPr>
            <a:r>
              <a:rPr lang="id-ID" sz="2200" b="1" dirty="0">
                <a:latin typeface="Times New Roman" pitchFamily="18" charset="0"/>
                <a:cs typeface="Times New Roman" pitchFamily="18" charset="0"/>
              </a:rPr>
              <a:t>Tanggal 01-06-1945</a:t>
            </a:r>
            <a:r>
              <a:rPr lang="id-ID" sz="2200" dirty="0">
                <a:latin typeface="Times New Roman" pitchFamily="18" charset="0"/>
                <a:cs typeface="Times New Roman" pitchFamily="18" charset="0"/>
              </a:rPr>
              <a:t> Ir. Soekarno menyampaikan pidato tentang lima (5) hal yang menjadi dasar negara merdeka, yaitu:</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Kebangsaan Indonesia;</a:t>
            </a:r>
          </a:p>
          <a:p>
            <a:pPr marL="457200" indent="-457200" algn="just" eaLnBrk="1" hangingPunct="1">
              <a:buFont typeface="+mj-lt"/>
              <a:buAutoNum type="arabicPeriod"/>
              <a:defRPr/>
            </a:pPr>
            <a:r>
              <a:rPr lang="id-ID" sz="2200" dirty="0">
                <a:latin typeface="Times New Roman" pitchFamily="18" charset="0"/>
                <a:cs typeface="Times New Roman" pitchFamily="18" charset="0"/>
              </a:rPr>
              <a:t>Internasionalisme atau kemanusiaan;</a:t>
            </a:r>
          </a:p>
          <a:p>
            <a:pPr marL="457200" indent="-457200" algn="just" eaLnBrk="1" hangingPunct="1">
              <a:buFont typeface="+mj-lt"/>
              <a:buAutoNum type="arabicPeriod"/>
              <a:defRPr/>
            </a:pPr>
            <a:r>
              <a:rPr lang="id-ID" sz="2200" dirty="0">
                <a:latin typeface="Times New Roman" pitchFamily="18" charset="0"/>
                <a:cs typeface="Times New Roman" pitchFamily="18" charset="0"/>
              </a:rPr>
              <a:t>Mufakat atau demokrasi;</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Kesejahteraan sosial;</a:t>
            </a:r>
          </a:p>
          <a:p>
            <a:pPr marL="457200" indent="-457200" algn="just" eaLnBrk="1" hangingPunct="1">
              <a:buFont typeface="+mj-lt"/>
              <a:buAutoNum type="arabicPeriod"/>
              <a:defRPr/>
            </a:pPr>
            <a:r>
              <a:rPr lang="id-ID" sz="2200" dirty="0">
                <a:latin typeface="Times New Roman" pitchFamily="18" charset="0"/>
                <a:cs typeface="Times New Roman" pitchFamily="18" charset="0"/>
              </a:rPr>
              <a:t>Ke-Tuhanan yang berkebudayaan</a:t>
            </a:r>
          </a:p>
          <a:p>
            <a:pPr marL="457200" indent="-457200" algn="just" eaLnBrk="1" hangingPunct="1">
              <a:buFont typeface="Wingdings 3" pitchFamily="18" charset="2"/>
              <a:buNone/>
              <a:defRPr/>
            </a:pPr>
            <a:endParaRPr lang="id-ID" sz="2200" dirty="0">
              <a:latin typeface="Times New Roman" pitchFamily="18" charset="0"/>
              <a:cs typeface="Times New Roman" pitchFamily="18" charset="0"/>
            </a:endParaRP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215DF884-7199-4AE7-990C-6DD1DD7ABDCB}" type="slidenum">
              <a:rPr lang="id-ID" smtClean="0"/>
              <a:pPr algn="r" fontAlgn="base">
                <a:spcBef>
                  <a:spcPct val="0"/>
                </a:spcBef>
                <a:spcAft>
                  <a:spcPct val="0"/>
                </a:spcAft>
                <a:defRPr/>
              </a:pPr>
              <a:t>13</a:t>
            </a:fld>
            <a:endParaRPr lang="id-ID"/>
          </a:p>
        </p:txBody>
      </p:sp>
    </p:spTree>
    <p:extLst>
      <p:ext uri="{BB962C8B-B14F-4D97-AF65-F5344CB8AC3E}">
        <p14:creationId xmlns:p14="http://schemas.microsoft.com/office/powerpoint/2010/main" val="206237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0" y="179388"/>
            <a:ext cx="8460432" cy="6286500"/>
          </a:xfrm>
        </p:spPr>
        <p:txBody>
          <a:bodyPr>
            <a:normAutofit/>
          </a:bodyPr>
          <a:lstStyle/>
          <a:p>
            <a:pPr algn="ctr" eaLnBrk="1" hangingPunct="1">
              <a:buFont typeface="Wingdings 3" pitchFamily="18" charset="2"/>
              <a:buNone/>
              <a:defRPr/>
            </a:pPr>
            <a:r>
              <a:rPr lang="id-ID" sz="2400" b="1" dirty="0">
                <a:latin typeface="Times New Roman" pitchFamily="18" charset="0"/>
                <a:cs typeface="Times New Roman" pitchFamily="18" charset="0"/>
              </a:rPr>
              <a:t>Pancasila (Lanjutan)</a:t>
            </a:r>
          </a:p>
          <a:p>
            <a:pPr marL="457200" indent="-457200" algn="just" eaLnBrk="1" hangingPunct="1">
              <a:buFont typeface="+mj-lt"/>
              <a:buAutoNum type="arabicPeriod"/>
              <a:defRPr/>
            </a:pPr>
            <a:endParaRPr lang="id-ID" sz="1600" b="1" dirty="0">
              <a:latin typeface="+mj-lt"/>
              <a:cs typeface="Times New Roman" pitchFamily="18" charset="0"/>
            </a:endParaRPr>
          </a:p>
          <a:p>
            <a:pPr marL="457200" indent="-457200" algn="just" eaLnBrk="1" hangingPunct="1">
              <a:buFont typeface="+mj-lt"/>
              <a:buAutoNum type="arabicPeriod"/>
              <a:defRPr/>
            </a:pPr>
            <a:r>
              <a:rPr lang="id-ID" sz="1600" b="1" dirty="0">
                <a:latin typeface="+mj-lt"/>
                <a:cs typeface="Times New Roman" pitchFamily="18" charset="0"/>
              </a:rPr>
              <a:t>Ketuhanan Yang Maha Esa</a:t>
            </a:r>
          </a:p>
          <a:p>
            <a:pPr marL="457200" indent="-457200" algn="just" eaLnBrk="1" hangingPunct="1">
              <a:buFont typeface="Wingdings 3" pitchFamily="18" charset="2"/>
              <a:buNone/>
              <a:defRPr/>
            </a:pPr>
            <a:r>
              <a:rPr lang="id-ID" sz="1600" dirty="0">
                <a:latin typeface="+mj-lt"/>
                <a:cs typeface="Times New Roman" pitchFamily="18" charset="0"/>
              </a:rPr>
              <a:t>	Hal tersebut secara eksplisit termuat di dalam Pembukaan (</a:t>
            </a:r>
            <a:r>
              <a:rPr lang="id-ID" sz="1600" i="1" dirty="0">
                <a:latin typeface="+mj-lt"/>
                <a:cs typeface="Times New Roman" pitchFamily="18" charset="0"/>
              </a:rPr>
              <a:t>Preambule</a:t>
            </a:r>
            <a:r>
              <a:rPr lang="id-ID" sz="1600" dirty="0">
                <a:latin typeface="+mj-lt"/>
                <a:cs typeface="Times New Roman" pitchFamily="18" charset="0"/>
              </a:rPr>
              <a:t>) dan Batang Tubuh UUD NRI Tahun 1945 bahwa:</a:t>
            </a:r>
          </a:p>
          <a:p>
            <a:pPr marL="457200" indent="-457200" algn="just" eaLnBrk="1" hangingPunct="1">
              <a:buFont typeface="Wingdings 3" pitchFamily="18" charset="2"/>
              <a:buNone/>
              <a:defRPr/>
            </a:pPr>
            <a:r>
              <a:rPr lang="id-ID" sz="1600" dirty="0">
                <a:latin typeface="+mj-lt"/>
                <a:cs typeface="Times New Roman" pitchFamily="18" charset="0"/>
              </a:rPr>
              <a:t>	“maka disusunlah Kemerdekaan Kebangsaan Indonesia itu dalam suatu Undang-Undang Dasar Negara Indonesia, (...) dengan berdasar kepada Ketuhanan Yang Maha Esa (...)”.</a:t>
            </a:r>
          </a:p>
          <a:p>
            <a:pPr marL="457200" indent="-457200" algn="ctr" eaLnBrk="1" hangingPunct="1">
              <a:buFont typeface="Wingdings 3" pitchFamily="18" charset="2"/>
              <a:buNone/>
              <a:defRPr/>
            </a:pPr>
            <a:r>
              <a:rPr lang="id-ID" sz="1600" b="1" dirty="0">
                <a:latin typeface="+mj-lt"/>
                <a:cs typeface="Times New Roman" pitchFamily="18" charset="0"/>
              </a:rPr>
              <a:t>BAB XI</a:t>
            </a:r>
          </a:p>
          <a:p>
            <a:pPr marL="457200" indent="-457200" algn="ctr" eaLnBrk="1" hangingPunct="1">
              <a:buFont typeface="Wingdings 3" pitchFamily="18" charset="2"/>
              <a:buNone/>
              <a:defRPr/>
            </a:pPr>
            <a:r>
              <a:rPr lang="id-ID" sz="1600" b="1" dirty="0">
                <a:latin typeface="+mj-lt"/>
                <a:cs typeface="Times New Roman" pitchFamily="18" charset="0"/>
              </a:rPr>
              <a:t>AGAMA</a:t>
            </a:r>
          </a:p>
          <a:p>
            <a:pPr marL="457200" indent="-457200" algn="ctr" eaLnBrk="1" hangingPunct="1">
              <a:buFont typeface="Wingdings 3" pitchFamily="18" charset="2"/>
              <a:buNone/>
              <a:defRPr/>
            </a:pPr>
            <a:r>
              <a:rPr lang="id-ID" sz="1600" b="1" dirty="0">
                <a:latin typeface="+mj-lt"/>
                <a:cs typeface="Times New Roman" pitchFamily="18" charset="0"/>
              </a:rPr>
              <a:t>Pasal 29</a:t>
            </a:r>
          </a:p>
          <a:p>
            <a:pPr marL="457200" indent="-457200" algn="just" eaLnBrk="1" hangingPunct="1">
              <a:buFont typeface="Wingdings 3" pitchFamily="18" charset="2"/>
              <a:buNone/>
              <a:defRPr/>
            </a:pPr>
            <a:r>
              <a:rPr lang="id-ID" sz="1600" dirty="0">
                <a:latin typeface="+mj-lt"/>
                <a:cs typeface="Times New Roman" pitchFamily="18" charset="0"/>
              </a:rPr>
              <a:t>(1)  Negara berdasar atas Ketuhanan Yang Maha Esa.</a:t>
            </a:r>
          </a:p>
          <a:p>
            <a:pPr marL="457200" indent="-457200" algn="just" eaLnBrk="1" hangingPunct="1">
              <a:buFont typeface="Wingdings 3" pitchFamily="18" charset="2"/>
              <a:buNone/>
              <a:defRPr/>
            </a:pPr>
            <a:r>
              <a:rPr lang="id-ID" sz="1600" dirty="0">
                <a:latin typeface="+mj-lt"/>
                <a:cs typeface="Times New Roman" pitchFamily="18" charset="0"/>
              </a:rPr>
              <a:t>(2) Negara menjamin kemerdekaan tiap-tiap penduduk untuk memeluk agamanya masing-masing dan untuk beribadat menurut agamanya dan kepercayaannya itu.</a:t>
            </a:r>
          </a:p>
          <a:p>
            <a:pPr marL="457200" indent="-457200" algn="just">
              <a:buNone/>
              <a:defRPr/>
            </a:pPr>
            <a:endParaRPr lang="id-ID" sz="1600" dirty="0">
              <a:latin typeface="+mj-lt"/>
              <a:cs typeface="Times New Roman" pitchFamily="18" charset="0"/>
            </a:endParaRPr>
          </a:p>
          <a:p>
            <a:pPr marL="457200" indent="-457200" algn="just">
              <a:buNone/>
              <a:defRPr/>
            </a:pPr>
            <a:r>
              <a:rPr lang="id-ID" sz="1600" dirty="0">
                <a:latin typeface="+mj-lt"/>
                <a:cs typeface="Times New Roman" pitchFamily="18" charset="0"/>
              </a:rPr>
              <a:t>	Nilai Sila 1: Melengkapi ilmu pengetahuan menciptakan perimbangan antara yang rasional dan irasional, antara rasa dan akal. Sila ini menempatkan manusia dalam alam sebagai bagiannya dan bukan pusatnya. Paham nilai ketuhanan dalam Sila Ketuhanan YME, tidak memberikan ruang bagi paham ateisme, fundamentalisme dan ekstrimisme keagamaan, sekularisme keilmuan, antroposentrisme dan kosmosentrisme.</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2FB8610F-9395-407F-8216-D4EFF0DFDBBC}" type="slidenum">
              <a:rPr lang="id-ID" smtClean="0"/>
              <a:pPr algn="r" fontAlgn="base">
                <a:spcBef>
                  <a:spcPct val="0"/>
                </a:spcBef>
                <a:spcAft>
                  <a:spcPct val="0"/>
                </a:spcAft>
                <a:defRPr/>
              </a:pPr>
              <a:t>14</a:t>
            </a:fld>
            <a:endParaRPr lang="id-ID" dirty="0"/>
          </a:p>
        </p:txBody>
      </p:sp>
    </p:spTree>
    <p:extLst>
      <p:ext uri="{BB962C8B-B14F-4D97-AF65-F5344CB8AC3E}">
        <p14:creationId xmlns:p14="http://schemas.microsoft.com/office/powerpoint/2010/main" val="2474842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285750" y="179388"/>
            <a:ext cx="7886650" cy="6286500"/>
          </a:xfrm>
        </p:spPr>
        <p:txBody>
          <a:bodyPr>
            <a:normAutofit/>
          </a:bodyPr>
          <a:lstStyle/>
          <a:p>
            <a:pPr algn="just" eaLnBrk="1" hangingPunct="1"/>
            <a:endParaRPr lang="id-ID" altLang="id-ID" sz="2000" dirty="0">
              <a:latin typeface="+mj-lt"/>
              <a:cs typeface="Times New Roman" pitchFamily="18" charset="0"/>
            </a:endParaRPr>
          </a:p>
          <a:p>
            <a:pPr algn="just" eaLnBrk="1" hangingPunct="1"/>
            <a:endParaRPr lang="id-ID" altLang="id-ID" sz="2000" dirty="0">
              <a:latin typeface="+mj-lt"/>
              <a:cs typeface="Times New Roman" pitchFamily="18" charset="0"/>
            </a:endParaRPr>
          </a:p>
          <a:p>
            <a:pPr algn="just" eaLnBrk="1" hangingPunct="1"/>
            <a:r>
              <a:rPr lang="id-ID" altLang="id-ID" sz="2000" dirty="0">
                <a:latin typeface="+mj-lt"/>
                <a:cs typeface="Times New Roman" pitchFamily="18" charset="0"/>
              </a:rPr>
              <a:t>Dalam bidang Legislatif tercermin dalam pelaksanaan Asas Ketuhanan Yang Maha Esa yaitu dalam Undang-undang Nomor 1 Tahun 1974 tentang Perkawinan dan lainnya.</a:t>
            </a:r>
          </a:p>
          <a:p>
            <a:pPr algn="just" eaLnBrk="1" hangingPunct="1"/>
            <a:r>
              <a:rPr lang="id-ID" altLang="id-ID" sz="2000" dirty="0">
                <a:latin typeface="+mj-lt"/>
                <a:cs typeface="Times New Roman" pitchFamily="18" charset="0"/>
              </a:rPr>
              <a:t>Dalam bidang Eksekutif tercermin dengan dibentuknya Kementerian Agama.</a:t>
            </a:r>
          </a:p>
          <a:p>
            <a:pPr algn="just" eaLnBrk="1" hangingPunct="1"/>
            <a:r>
              <a:rPr lang="id-ID" altLang="id-ID" sz="2000" dirty="0">
                <a:latin typeface="+mj-lt"/>
                <a:cs typeface="Times New Roman" pitchFamily="18" charset="0"/>
              </a:rPr>
              <a:t>Dalam bidang Yudikatif diawali dengan Undang-undang Nomor 14 Tahun 1970, Ps. 4 ayat (1) “DEMI KEADILAN BERDASARKAN KETUHANAN YANG MAHA ESA”. Terbentuknya Peradian Agama bagi subjek hukum yang beragama Islam.</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F63C1AFE-5C7E-48BB-B8BF-B47EACDAAAEF}" type="slidenum">
              <a:rPr lang="id-ID" smtClean="0"/>
              <a:pPr algn="r" fontAlgn="base">
                <a:spcBef>
                  <a:spcPct val="0"/>
                </a:spcBef>
                <a:spcAft>
                  <a:spcPct val="0"/>
                </a:spcAft>
                <a:defRPr/>
              </a:pPr>
              <a:t>15</a:t>
            </a:fld>
            <a:endParaRPr lang="id-ID"/>
          </a:p>
        </p:txBody>
      </p:sp>
    </p:spTree>
    <p:extLst>
      <p:ext uri="{BB962C8B-B14F-4D97-AF65-F5344CB8AC3E}">
        <p14:creationId xmlns:p14="http://schemas.microsoft.com/office/powerpoint/2010/main" val="1212717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0" y="0"/>
            <a:ext cx="8460432" cy="6465888"/>
          </a:xfrm>
        </p:spPr>
        <p:txBody>
          <a:bodyPr>
            <a:normAutofit/>
          </a:bodyPr>
          <a:lstStyle/>
          <a:p>
            <a:pPr marL="457200" indent="-457200" algn="just" eaLnBrk="1" hangingPunct="1">
              <a:buFont typeface="Wingdings 3" pitchFamily="18" charset="2"/>
              <a:buNone/>
            </a:pPr>
            <a:endParaRPr lang="id-ID" altLang="id-ID" sz="1600" b="1" dirty="0">
              <a:latin typeface="+mj-lt"/>
              <a:cs typeface="Times New Roman" pitchFamily="18" charset="0"/>
            </a:endParaRPr>
          </a:p>
          <a:p>
            <a:pPr marL="457200" indent="-457200" algn="just" eaLnBrk="1" hangingPunct="1">
              <a:buFont typeface="Wingdings 3" pitchFamily="18" charset="2"/>
              <a:buNone/>
            </a:pPr>
            <a:r>
              <a:rPr lang="id-ID" altLang="id-ID" sz="1600" b="1" dirty="0">
                <a:latin typeface="+mj-lt"/>
                <a:cs typeface="Times New Roman" pitchFamily="18" charset="0"/>
              </a:rPr>
              <a:t>2. Kemanusiaan Yang Adil dan Beradab</a:t>
            </a:r>
          </a:p>
          <a:p>
            <a:pPr marL="457200" indent="-457200" algn="just" eaLnBrk="1" hangingPunct="1">
              <a:buFont typeface="Wingdings 3" pitchFamily="18" charset="2"/>
              <a:buNone/>
            </a:pPr>
            <a:r>
              <a:rPr lang="id-ID" altLang="id-ID" sz="1600" b="1" dirty="0">
                <a:latin typeface="+mj-lt"/>
                <a:cs typeface="Times New Roman" pitchFamily="18" charset="0"/>
              </a:rPr>
              <a:t>	</a:t>
            </a:r>
            <a:r>
              <a:rPr lang="id-ID" altLang="id-ID" sz="1600" dirty="0">
                <a:latin typeface="+mj-lt"/>
                <a:cs typeface="Times New Roman" pitchFamily="18" charset="0"/>
              </a:rPr>
              <a:t>Hal tersebut secara eksplisit termuat di dalam Pembukaan (</a:t>
            </a:r>
            <a:r>
              <a:rPr lang="id-ID" altLang="id-ID" sz="1600" i="1" dirty="0">
                <a:latin typeface="+mj-lt"/>
                <a:cs typeface="Times New Roman" pitchFamily="18" charset="0"/>
              </a:rPr>
              <a:t>Preambule</a:t>
            </a:r>
            <a:r>
              <a:rPr lang="id-ID" altLang="id-ID" sz="1600" dirty="0">
                <a:latin typeface="+mj-lt"/>
                <a:cs typeface="Times New Roman" pitchFamily="18" charset="0"/>
              </a:rPr>
              <a:t>) dan Batang Tubuh UUD NRI Tahun 1945 bahwa:</a:t>
            </a:r>
          </a:p>
          <a:p>
            <a:pPr marL="457200" indent="-457200" algn="just" eaLnBrk="1" hangingPunct="1">
              <a:buFont typeface="Wingdings 3" pitchFamily="18" charset="2"/>
              <a:buNone/>
            </a:pPr>
            <a:r>
              <a:rPr lang="id-ID" altLang="id-ID" sz="1600" dirty="0">
                <a:latin typeface="+mj-lt"/>
                <a:cs typeface="Times New Roman" pitchFamily="18" charset="0"/>
              </a:rPr>
              <a:t>	“maka disusunlah Kemerdekaan Kebangsaan Indonesia itu dalam suatu Undang-Undang Dasar Negara Indonesia, (...) dengan berdasar kepada Kemanusiaan yang adil dan beradab (...)”.</a:t>
            </a:r>
          </a:p>
          <a:p>
            <a:pPr marL="457200" indent="-457200" algn="ctr" eaLnBrk="1" hangingPunct="1">
              <a:buFont typeface="Wingdings 3" pitchFamily="18" charset="2"/>
              <a:buNone/>
            </a:pPr>
            <a:r>
              <a:rPr lang="id-ID" altLang="id-ID" sz="1600" b="1" dirty="0">
                <a:latin typeface="+mj-lt"/>
                <a:cs typeface="Times New Roman" pitchFamily="18" charset="0"/>
              </a:rPr>
              <a:t>	Pasal 27</a:t>
            </a:r>
          </a:p>
          <a:p>
            <a:pPr marL="457200" indent="-457200" algn="just" eaLnBrk="1" hangingPunct="1">
              <a:buFont typeface="Wingdings 3" pitchFamily="18" charset="2"/>
              <a:buNone/>
            </a:pPr>
            <a:r>
              <a:rPr lang="id-ID" altLang="id-ID" sz="1600" b="1" dirty="0">
                <a:latin typeface="+mj-lt"/>
                <a:cs typeface="Times New Roman" pitchFamily="18" charset="0"/>
              </a:rPr>
              <a:t>	</a:t>
            </a:r>
            <a:r>
              <a:rPr lang="id-ID" altLang="id-ID" sz="1600" dirty="0">
                <a:latin typeface="+mj-lt"/>
                <a:cs typeface="Times New Roman" pitchFamily="18" charset="0"/>
              </a:rPr>
              <a:t>(2)</a:t>
            </a:r>
            <a:r>
              <a:rPr lang="id-ID" altLang="id-ID" sz="1600" b="1" dirty="0">
                <a:latin typeface="+mj-lt"/>
                <a:cs typeface="Times New Roman" pitchFamily="18" charset="0"/>
              </a:rPr>
              <a:t> </a:t>
            </a:r>
            <a:r>
              <a:rPr lang="id-ID" altLang="id-ID" sz="1600" dirty="0">
                <a:latin typeface="+mj-lt"/>
                <a:cs typeface="Times New Roman" pitchFamily="18" charset="0"/>
              </a:rPr>
              <a:t>Tiap-tiap warga negara berhak atas pekerjaan dan penghidupan yang layak bagi kemanusiaan.</a:t>
            </a:r>
          </a:p>
          <a:p>
            <a:pPr marL="457200" indent="-457200" algn="ctr" eaLnBrk="1" hangingPunct="1">
              <a:buFont typeface="Wingdings 3" pitchFamily="18" charset="2"/>
              <a:buNone/>
            </a:pPr>
            <a:r>
              <a:rPr lang="id-ID" altLang="id-ID" sz="1600" dirty="0">
                <a:latin typeface="+mj-lt"/>
                <a:cs typeface="Times New Roman" pitchFamily="18" charset="0"/>
              </a:rPr>
              <a:t>	</a:t>
            </a:r>
            <a:r>
              <a:rPr lang="fi-FI" altLang="id-ID" sz="1600" b="1" dirty="0">
                <a:latin typeface="+mj-lt"/>
                <a:cs typeface="Times New Roman" pitchFamily="18" charset="0"/>
              </a:rPr>
              <a:t>BAB XA**)</a:t>
            </a:r>
          </a:p>
          <a:p>
            <a:pPr marL="457200" indent="-457200" algn="ctr" eaLnBrk="1" hangingPunct="1">
              <a:buFont typeface="Wingdings 3" pitchFamily="18" charset="2"/>
              <a:buNone/>
            </a:pPr>
            <a:r>
              <a:rPr lang="fi-FI" altLang="id-ID" sz="1600" b="1" dirty="0">
                <a:latin typeface="+mj-lt"/>
                <a:cs typeface="Times New Roman" pitchFamily="18" charset="0"/>
              </a:rPr>
              <a:t>HAK ASASI MANUSIA</a:t>
            </a:r>
            <a:endParaRPr lang="id-ID" altLang="id-ID" sz="1600" b="1" dirty="0">
              <a:latin typeface="+mj-lt"/>
              <a:cs typeface="Times New Roman" pitchFamily="18" charset="0"/>
            </a:endParaRPr>
          </a:p>
          <a:p>
            <a:pPr marL="457200" indent="-457200" algn="just" eaLnBrk="1" hangingPunct="1">
              <a:buFont typeface="Wingdings 3" pitchFamily="18" charset="2"/>
              <a:buNone/>
            </a:pPr>
            <a:r>
              <a:rPr lang="id-ID" altLang="id-ID" sz="1600" b="1" dirty="0">
                <a:latin typeface="+mj-lt"/>
                <a:cs typeface="Times New Roman" pitchFamily="18" charset="0"/>
              </a:rPr>
              <a:t>	Misalnya: </a:t>
            </a:r>
          </a:p>
          <a:p>
            <a:pPr marL="457200" indent="-457200" algn="just" eaLnBrk="1" hangingPunct="1">
              <a:buFont typeface="Wingdings 3" pitchFamily="18" charset="2"/>
              <a:buNone/>
            </a:pPr>
            <a:r>
              <a:rPr lang="id-ID" altLang="id-ID" sz="1600" b="1" dirty="0">
                <a:latin typeface="+mj-lt"/>
                <a:cs typeface="Times New Roman" pitchFamily="18" charset="0"/>
              </a:rPr>
              <a:t>	</a:t>
            </a:r>
            <a:r>
              <a:rPr lang="id-ID" altLang="id-ID" sz="1600" dirty="0">
                <a:latin typeface="+mj-lt"/>
                <a:cs typeface="Times New Roman" pitchFamily="18" charset="0"/>
              </a:rPr>
              <a:t>Pembentukan lembaga-lembaga kemanusiaan di bidang eksekutif seperti BPMPT, serta lembaga yang dibentuk oleh masyarakat seperti asrama Yatim Piatu dan Panti Jompo;</a:t>
            </a:r>
          </a:p>
          <a:p>
            <a:pPr marL="457200" indent="-457200" algn="just" eaLnBrk="1" hangingPunct="1">
              <a:buFont typeface="Wingdings 3" pitchFamily="18" charset="2"/>
              <a:buNone/>
            </a:pPr>
            <a:r>
              <a:rPr lang="id-ID" altLang="id-ID" sz="1600" b="1" dirty="0">
                <a:latin typeface="+mj-lt"/>
                <a:cs typeface="Times New Roman" pitchFamily="18" charset="0"/>
              </a:rPr>
              <a:t>	</a:t>
            </a:r>
          </a:p>
          <a:p>
            <a:pPr marL="0" indent="0" algn="just">
              <a:buNone/>
            </a:pPr>
            <a:r>
              <a:rPr lang="id-ID" altLang="id-ID" sz="1600" dirty="0">
                <a:latin typeface="+mj-lt"/>
                <a:cs typeface="Times New Roman" pitchFamily="18" charset="0"/>
              </a:rPr>
              <a:t>Nilai Sila 2: memberi arah dan mengendalikan ilmu pengetahuan. Pengembangan ilmu harus didasarkan pada tujuan awal ditemukan ilmu atau fungsinya semula yaitu untuk mencerdaskan, mensejahterakan dan memartabatkan manusia, ilmu tidak hanya untuk kelompok/lapisan tertentu.</a:t>
            </a:r>
          </a:p>
          <a:p>
            <a:pPr marL="457200" indent="-457200" algn="just" eaLnBrk="1" hangingPunct="1"/>
            <a:endParaRPr lang="id-ID" altLang="id-ID" sz="1600" dirty="0">
              <a:latin typeface="+mj-lt"/>
              <a:cs typeface="Times New Roman" pitchFamily="18" charset="0"/>
            </a:endParaRP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946F4203-3036-4EDF-85D1-9DF8E0B1D480}" type="slidenum">
              <a:rPr lang="id-ID" smtClean="0"/>
              <a:pPr algn="r" fontAlgn="base">
                <a:spcBef>
                  <a:spcPct val="0"/>
                </a:spcBef>
                <a:spcAft>
                  <a:spcPct val="0"/>
                </a:spcAft>
                <a:defRPr/>
              </a:pPr>
              <a:t>16</a:t>
            </a:fld>
            <a:endParaRPr lang="id-ID"/>
          </a:p>
        </p:txBody>
      </p:sp>
    </p:spTree>
    <p:extLst>
      <p:ext uri="{BB962C8B-B14F-4D97-AF65-F5344CB8AC3E}">
        <p14:creationId xmlns:p14="http://schemas.microsoft.com/office/powerpoint/2010/main" val="3885175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0" y="0"/>
            <a:ext cx="8388424" cy="6465888"/>
          </a:xfrm>
        </p:spPr>
        <p:txBody>
          <a:bodyPr>
            <a:normAutofit/>
          </a:bodyPr>
          <a:lstStyle/>
          <a:p>
            <a:pPr marL="457200" indent="-457200" algn="just" eaLnBrk="1" hangingPunct="1">
              <a:buFont typeface="Wingdings 3" pitchFamily="18" charset="2"/>
              <a:buNone/>
              <a:defRPr/>
            </a:pPr>
            <a:r>
              <a:rPr lang="id-ID" sz="1600" b="1" dirty="0">
                <a:latin typeface="+mj-lt"/>
                <a:cs typeface="Times New Roman" pitchFamily="18" charset="0"/>
              </a:rPr>
              <a:t>3. Persatuan Indonesia          Menunjukan suatu bangsa merdeka dan berdaulat</a:t>
            </a:r>
          </a:p>
          <a:p>
            <a:pPr marL="457200" indent="-457200" algn="just" eaLnBrk="1" hangingPunct="1">
              <a:buFont typeface="Wingdings 3" pitchFamily="18" charset="2"/>
              <a:buNone/>
              <a:defRPr/>
            </a:pPr>
            <a:r>
              <a:rPr lang="id-ID" sz="1600" b="1" dirty="0">
                <a:latin typeface="+mj-lt"/>
                <a:cs typeface="Times New Roman" pitchFamily="18" charset="0"/>
              </a:rPr>
              <a:t>	</a:t>
            </a:r>
            <a:r>
              <a:rPr lang="id-ID" sz="1600" dirty="0">
                <a:latin typeface="+mj-lt"/>
                <a:cs typeface="Times New Roman" pitchFamily="18" charset="0"/>
              </a:rPr>
              <a:t>Hal tersebut secara eksplisit termuat di dalam Pembukaan (</a:t>
            </a:r>
            <a:r>
              <a:rPr lang="id-ID" sz="1600" i="1" dirty="0">
                <a:latin typeface="+mj-lt"/>
                <a:cs typeface="Times New Roman" pitchFamily="18" charset="0"/>
              </a:rPr>
              <a:t>Preambule</a:t>
            </a:r>
            <a:r>
              <a:rPr lang="id-ID" sz="1600" dirty="0">
                <a:latin typeface="+mj-lt"/>
                <a:cs typeface="Times New Roman" pitchFamily="18" charset="0"/>
              </a:rPr>
              <a:t>) dan Batang Tubuh UUD NRI Tahun 1945 bahwa:</a:t>
            </a:r>
          </a:p>
          <a:p>
            <a:pPr marL="457200" indent="-457200" algn="just" eaLnBrk="1" hangingPunct="1">
              <a:buFont typeface="Wingdings 3" pitchFamily="18" charset="2"/>
              <a:buNone/>
              <a:defRPr/>
            </a:pPr>
            <a:r>
              <a:rPr lang="id-ID" sz="1600" dirty="0">
                <a:latin typeface="+mj-lt"/>
                <a:cs typeface="Times New Roman" pitchFamily="18" charset="0"/>
              </a:rPr>
              <a:t>	“maka disusunlah Kemerdekaan Kebangsaan Indonesia itu dalam suatu Undang-Undang Dasar Negara Indonesia, (...) dengan berdasar kepada Persatuan Indonesia  (...)”.</a:t>
            </a:r>
          </a:p>
          <a:p>
            <a:pPr algn="ctr">
              <a:buFont typeface="Wingdings 3" pitchFamily="18" charset="2"/>
              <a:buNone/>
              <a:defRPr/>
            </a:pPr>
            <a:r>
              <a:rPr lang="id-ID" sz="1600" b="1" dirty="0">
                <a:latin typeface="+mj-lt"/>
                <a:cs typeface="Times New Roman" pitchFamily="18" charset="0"/>
              </a:rPr>
              <a:t>BAB XV</a:t>
            </a:r>
          </a:p>
          <a:p>
            <a:pPr algn="ctr">
              <a:buFont typeface="Wingdings 3" pitchFamily="18" charset="2"/>
              <a:buNone/>
              <a:defRPr/>
            </a:pPr>
            <a:r>
              <a:rPr lang="id-ID" sz="1600" b="1" dirty="0">
                <a:latin typeface="+mj-lt"/>
                <a:cs typeface="Times New Roman" pitchFamily="18" charset="0"/>
              </a:rPr>
              <a:t>BENDERA, BAHASA, DAN LAMBANG NEGARA, SERTA LAGU KEBANGSAAN**)</a:t>
            </a:r>
          </a:p>
          <a:p>
            <a:pPr algn="ctr">
              <a:buFont typeface="Wingdings 3" pitchFamily="18" charset="2"/>
              <a:buNone/>
              <a:defRPr/>
            </a:pPr>
            <a:r>
              <a:rPr lang="id-ID" sz="1600" b="1" dirty="0">
                <a:latin typeface="+mj-lt"/>
                <a:cs typeface="Times New Roman" pitchFamily="18" charset="0"/>
              </a:rPr>
              <a:t>Pasal 35</a:t>
            </a:r>
          </a:p>
          <a:p>
            <a:pPr algn="ctr">
              <a:buFont typeface="Wingdings 3" pitchFamily="18" charset="2"/>
              <a:buNone/>
              <a:defRPr/>
            </a:pPr>
            <a:r>
              <a:rPr lang="it-IT" sz="1600" dirty="0">
                <a:latin typeface="+mj-lt"/>
                <a:cs typeface="Times New Roman" pitchFamily="18" charset="0"/>
              </a:rPr>
              <a:t>Bendera Negara Indonesia ialah Sang Merah Putih.</a:t>
            </a:r>
          </a:p>
          <a:p>
            <a:pPr algn="ctr">
              <a:buFont typeface="Wingdings 3" pitchFamily="18" charset="2"/>
              <a:buNone/>
              <a:defRPr/>
            </a:pPr>
            <a:r>
              <a:rPr lang="id-ID" sz="1600" b="1" dirty="0">
                <a:latin typeface="+mj-lt"/>
                <a:cs typeface="Times New Roman" pitchFamily="18" charset="0"/>
              </a:rPr>
              <a:t>Pasal 36</a:t>
            </a:r>
          </a:p>
          <a:p>
            <a:pPr algn="ctr">
              <a:buFont typeface="Wingdings 3" pitchFamily="18" charset="2"/>
              <a:buNone/>
              <a:defRPr/>
            </a:pPr>
            <a:r>
              <a:rPr lang="it-IT" sz="1600" dirty="0">
                <a:latin typeface="+mj-lt"/>
                <a:cs typeface="Times New Roman" pitchFamily="18" charset="0"/>
              </a:rPr>
              <a:t>Bahasa Negara ialah Bahasa Indonesia.</a:t>
            </a:r>
          </a:p>
          <a:p>
            <a:pPr algn="ctr">
              <a:buFont typeface="Wingdings 3" pitchFamily="18" charset="2"/>
              <a:buNone/>
              <a:defRPr/>
            </a:pPr>
            <a:r>
              <a:rPr lang="id-ID" sz="1600" b="1" dirty="0">
                <a:latin typeface="+mj-lt"/>
                <a:cs typeface="Times New Roman" pitchFamily="18" charset="0"/>
              </a:rPr>
              <a:t>Pasal 36A</a:t>
            </a:r>
          </a:p>
          <a:p>
            <a:pPr algn="ctr">
              <a:buFont typeface="Wingdings 3" pitchFamily="18" charset="2"/>
              <a:buNone/>
              <a:defRPr/>
            </a:pPr>
            <a:r>
              <a:rPr lang="id-ID" sz="1600" dirty="0">
                <a:latin typeface="+mj-lt"/>
                <a:cs typeface="Times New Roman" pitchFamily="18" charset="0"/>
              </a:rPr>
              <a:t>Lambang Negara ialah Garuda Pancasila dengan semboyan Bhinneka Tunggal Ika. </a:t>
            </a:r>
            <a:r>
              <a:rPr lang="id-ID" sz="1600" b="1" dirty="0">
                <a:latin typeface="+mj-lt"/>
                <a:cs typeface="Times New Roman" pitchFamily="18" charset="0"/>
              </a:rPr>
              <a:t>**)</a:t>
            </a:r>
          </a:p>
          <a:p>
            <a:pPr algn="ctr">
              <a:buFont typeface="Wingdings 3" pitchFamily="18" charset="2"/>
              <a:buNone/>
              <a:defRPr/>
            </a:pPr>
            <a:r>
              <a:rPr lang="id-ID" sz="1600" b="1" dirty="0">
                <a:latin typeface="+mj-lt"/>
                <a:cs typeface="Times New Roman" pitchFamily="18" charset="0"/>
              </a:rPr>
              <a:t>Pasal 36B</a:t>
            </a:r>
          </a:p>
          <a:p>
            <a:pPr algn="ctr">
              <a:buFont typeface="Wingdings 3" pitchFamily="18" charset="2"/>
              <a:buNone/>
              <a:defRPr/>
            </a:pPr>
            <a:r>
              <a:rPr lang="id-ID" sz="1600" dirty="0">
                <a:latin typeface="+mj-lt"/>
                <a:cs typeface="Times New Roman" pitchFamily="18" charset="0"/>
              </a:rPr>
              <a:t>Lagu Kebangsaan ialah Indonesia Raya. </a:t>
            </a:r>
            <a:r>
              <a:rPr lang="id-ID" sz="1600" b="1" dirty="0">
                <a:latin typeface="+mj-lt"/>
                <a:cs typeface="Times New Roman" pitchFamily="18" charset="0"/>
              </a:rPr>
              <a:t>**)</a:t>
            </a:r>
            <a:endParaRPr lang="id-ID" sz="1600" dirty="0">
              <a:latin typeface="+mj-lt"/>
              <a:cs typeface="Times New Roman" pitchFamily="18" charset="0"/>
            </a:endParaRPr>
          </a:p>
          <a:p>
            <a:pPr marL="457200" indent="-457200" algn="just">
              <a:buNone/>
              <a:defRPr/>
            </a:pPr>
            <a:r>
              <a:rPr lang="id-ID" sz="1600" dirty="0">
                <a:latin typeface="+mj-lt"/>
                <a:cs typeface="Times New Roman" pitchFamily="18" charset="0"/>
              </a:rPr>
              <a:t>	Nilai Sila 3: Mengkomplementasikan universalisme dalam sila-sila yang lain, sehingga supra sistem tidak mengabaikan sistem dan sub sistem. Solidaritas dalam subsistem sangat penting untuk kelangsungan keseluruhan individualitas, tetapi tidak mengganggu integrasi. Nilai Persatuan dalam Sila Persatuan Indonesia esensinya adalah pengakuan kebhinnekaan dalam kesatuan: koeksistensi, kohesivitas, kesetaraan, kekeluargaan dan supremasi hukum.</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77FA8E1D-D8D7-4251-82CA-FA037F85E0E0}" type="slidenum">
              <a:rPr lang="id-ID" smtClean="0"/>
              <a:pPr algn="r" fontAlgn="base">
                <a:spcBef>
                  <a:spcPct val="0"/>
                </a:spcBef>
                <a:spcAft>
                  <a:spcPct val="0"/>
                </a:spcAft>
                <a:defRPr/>
              </a:pPr>
              <a:t>17</a:t>
            </a:fld>
            <a:endParaRPr lang="id-ID"/>
          </a:p>
        </p:txBody>
      </p:sp>
      <p:cxnSp>
        <p:nvCxnSpPr>
          <p:cNvPr id="6" name="Straight Arrow Connector 5"/>
          <p:cNvCxnSpPr/>
          <p:nvPr/>
        </p:nvCxnSpPr>
        <p:spPr>
          <a:xfrm>
            <a:off x="2332522" y="164079"/>
            <a:ext cx="3600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317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0" y="0"/>
            <a:ext cx="8460432" cy="6465888"/>
          </a:xfrm>
        </p:spPr>
        <p:txBody>
          <a:bodyPr>
            <a:normAutofit/>
          </a:bodyPr>
          <a:lstStyle/>
          <a:p>
            <a:pPr algn="just" eaLnBrk="1" hangingPunct="1">
              <a:buFont typeface="Wingdings 3" pitchFamily="18" charset="2"/>
              <a:buNone/>
              <a:defRPr/>
            </a:pPr>
            <a:r>
              <a:rPr lang="id-ID" sz="1600" b="1" dirty="0">
                <a:latin typeface="+mj-lt"/>
                <a:cs typeface="Times New Roman" pitchFamily="18" charset="0"/>
              </a:rPr>
              <a:t>4. </a:t>
            </a:r>
            <a:r>
              <a:rPr lang="fi-FI" sz="1600" b="1" dirty="0">
                <a:latin typeface="+mj-lt"/>
                <a:cs typeface="Times New Roman" pitchFamily="18" charset="0"/>
              </a:rPr>
              <a:t>Kedaulatan rakyat</a:t>
            </a:r>
            <a:r>
              <a:rPr lang="id-ID" sz="1600" b="1" dirty="0">
                <a:latin typeface="+mj-lt"/>
                <a:cs typeface="Times New Roman" pitchFamily="18" charset="0"/>
              </a:rPr>
              <a:t> yang dipimpin oleh hikmat kebijaksanaan dalam permusyawarat-an/perwakilan</a:t>
            </a:r>
          </a:p>
          <a:p>
            <a:pPr marL="457200" indent="-457200" algn="just" eaLnBrk="1" hangingPunct="1">
              <a:buFont typeface="Wingdings 3" pitchFamily="18" charset="2"/>
              <a:buNone/>
              <a:defRPr/>
            </a:pPr>
            <a:r>
              <a:rPr lang="id-ID" sz="1600" dirty="0">
                <a:latin typeface="+mj-lt"/>
                <a:cs typeface="Times New Roman" pitchFamily="18" charset="0"/>
              </a:rPr>
              <a:t>	Hal tersebut secara eksplisit termuat di dalam Pembukaan (</a:t>
            </a:r>
            <a:r>
              <a:rPr lang="id-ID" sz="1600" i="1" dirty="0">
                <a:latin typeface="+mj-lt"/>
                <a:cs typeface="Times New Roman" pitchFamily="18" charset="0"/>
              </a:rPr>
              <a:t>Preambule</a:t>
            </a:r>
            <a:r>
              <a:rPr lang="id-ID" sz="1600" dirty="0">
                <a:latin typeface="+mj-lt"/>
                <a:cs typeface="Times New Roman" pitchFamily="18" charset="0"/>
              </a:rPr>
              <a:t>) dan Batang Tubuh UUD NRI Tahun 1945 bahwa:</a:t>
            </a:r>
          </a:p>
          <a:p>
            <a:pPr marL="457200" indent="-457200" algn="just" eaLnBrk="1" hangingPunct="1">
              <a:buFont typeface="Wingdings 3" pitchFamily="18" charset="2"/>
              <a:buNone/>
              <a:defRPr/>
            </a:pPr>
            <a:r>
              <a:rPr lang="id-ID" sz="1600" dirty="0">
                <a:latin typeface="+mj-lt"/>
                <a:cs typeface="Times New Roman" pitchFamily="18" charset="0"/>
              </a:rPr>
              <a:t>	“maka disusunlah Kemerdekaan Kebangsaan Indonesia itu dalam suatu Undang-Undang Dasar Negara Indonesia yang berkedaulatan rakyat  dengan berdasar kepada (...) dan Kerakyatan yang dipimpin oleh hikmat kebijaksanaan dalam Permusyawaratan/ Perwakilan (...)”.</a:t>
            </a:r>
          </a:p>
          <a:p>
            <a:pPr marL="457200" indent="-457200" algn="ctr" eaLnBrk="1" hangingPunct="1">
              <a:buFont typeface="Wingdings 3" pitchFamily="18" charset="2"/>
              <a:buNone/>
              <a:defRPr/>
            </a:pPr>
            <a:r>
              <a:rPr lang="id-ID" sz="1600" b="1" dirty="0">
                <a:latin typeface="+mj-lt"/>
                <a:cs typeface="Times New Roman" pitchFamily="18" charset="0"/>
              </a:rPr>
              <a:t>BAB I</a:t>
            </a:r>
          </a:p>
          <a:p>
            <a:pPr marL="457200" indent="-457200" algn="ctr" eaLnBrk="1" hangingPunct="1">
              <a:buFont typeface="Wingdings 3" pitchFamily="18" charset="2"/>
              <a:buNone/>
              <a:defRPr/>
            </a:pPr>
            <a:r>
              <a:rPr lang="id-ID" sz="1600" b="1" dirty="0">
                <a:latin typeface="+mj-lt"/>
                <a:cs typeface="Times New Roman" pitchFamily="18" charset="0"/>
              </a:rPr>
              <a:t>BENTUK DAN KEDAULATAN</a:t>
            </a:r>
          </a:p>
          <a:p>
            <a:pPr marL="457200" indent="-457200" algn="ctr" eaLnBrk="1" hangingPunct="1">
              <a:buFont typeface="Wingdings 3" pitchFamily="18" charset="2"/>
              <a:buNone/>
              <a:defRPr/>
            </a:pPr>
            <a:r>
              <a:rPr lang="id-ID" sz="1600" b="1" dirty="0">
                <a:latin typeface="+mj-lt"/>
                <a:cs typeface="Times New Roman" pitchFamily="18" charset="0"/>
              </a:rPr>
              <a:t>Pasal 1</a:t>
            </a:r>
          </a:p>
          <a:p>
            <a:pPr marL="457200" indent="-457200" algn="just" eaLnBrk="1" hangingPunct="1">
              <a:buFont typeface="Wingdings 3" pitchFamily="18" charset="2"/>
              <a:buNone/>
              <a:defRPr/>
            </a:pPr>
            <a:r>
              <a:rPr lang="id-ID" sz="1600" dirty="0">
                <a:latin typeface="+mj-lt"/>
                <a:cs typeface="Times New Roman" pitchFamily="18" charset="0"/>
              </a:rPr>
              <a:t>(2) Kedaulatan berada di tangan rakyat dan dilaksanakan menurut Undang-Undang Dasar.</a:t>
            </a:r>
          </a:p>
          <a:p>
            <a:pPr algn="just" eaLnBrk="1" hangingPunct="1">
              <a:buFont typeface="Wingdings 3" pitchFamily="18" charset="2"/>
              <a:buNone/>
              <a:defRPr/>
            </a:pPr>
            <a:endParaRPr lang="id-ID" sz="1600" b="1" dirty="0">
              <a:latin typeface="+mj-lt"/>
              <a:cs typeface="Times New Roman" pitchFamily="18" charset="0"/>
            </a:endParaRPr>
          </a:p>
          <a:p>
            <a:pPr algn="just" eaLnBrk="1" hangingPunct="1">
              <a:buFont typeface="Wingdings 3" pitchFamily="18" charset="2"/>
              <a:buNone/>
              <a:defRPr/>
            </a:pPr>
            <a:endParaRPr lang="id-ID" sz="1600" dirty="0">
              <a:latin typeface="+mj-lt"/>
              <a:cs typeface="Times New Roman" pitchFamily="18" charset="0"/>
            </a:endParaRPr>
          </a:p>
          <a:p>
            <a:pPr algn="just">
              <a:buNone/>
              <a:defRPr/>
            </a:pPr>
            <a:r>
              <a:rPr lang="id-ID" sz="1600" dirty="0">
                <a:latin typeface="+mj-lt"/>
                <a:cs typeface="Times New Roman" pitchFamily="18" charset="0"/>
              </a:rPr>
              <a:t>	Nilai Sila 4: Mengimbangi otodinamika ilmu pengetahuan dan teknologi berevolusi sendiri dengan leluasa. Eksperimentasi penerapan dan penyebaran ilmu pengetahuan harus demokratis dapat dimusyawarahkan secara perwakilan, sejak dari kebijakan, penelitian sampai penerapan masal. Nilai Kerakyatan dalam Sila 4 ini esensinya adalah menjunjung tinggi nilai-nilai demokrasi yang berkeadaban. Tidak memberi ruang bagi paham egoisme keilmuan (puritanisme, otonomi keilmuan), liberalisme dan individualisme dalam konteks kehidupan.</a:t>
            </a: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F25ED3CA-DD62-47C1-81F3-8EF4D0A97CE5}" type="slidenum">
              <a:rPr lang="id-ID" smtClean="0"/>
              <a:pPr algn="r" fontAlgn="base">
                <a:spcBef>
                  <a:spcPct val="0"/>
                </a:spcBef>
                <a:spcAft>
                  <a:spcPct val="0"/>
                </a:spcAft>
                <a:defRPr/>
              </a:pPr>
              <a:t>18</a:t>
            </a:fld>
            <a:endParaRPr lang="id-ID"/>
          </a:p>
        </p:txBody>
      </p:sp>
    </p:spTree>
    <p:extLst>
      <p:ext uri="{BB962C8B-B14F-4D97-AF65-F5344CB8AC3E}">
        <p14:creationId xmlns:p14="http://schemas.microsoft.com/office/powerpoint/2010/main" val="355300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0" y="8530"/>
            <a:ext cx="8460432" cy="6849469"/>
          </a:xfrm>
        </p:spPr>
        <p:txBody>
          <a:bodyPr>
            <a:normAutofit/>
          </a:bodyPr>
          <a:lstStyle/>
          <a:p>
            <a:pPr algn="just" eaLnBrk="1" hangingPunct="1">
              <a:buFont typeface="Wingdings 3" pitchFamily="18" charset="2"/>
              <a:buNone/>
              <a:defRPr/>
            </a:pPr>
            <a:r>
              <a:rPr lang="id-ID" sz="1600" b="1" dirty="0">
                <a:latin typeface="+mj-lt"/>
                <a:cs typeface="Times New Roman" pitchFamily="18" charset="0"/>
              </a:rPr>
              <a:t>5. </a:t>
            </a:r>
            <a:r>
              <a:rPr lang="fi-FI" sz="1600" b="1" dirty="0">
                <a:latin typeface="+mj-lt"/>
                <a:cs typeface="Times New Roman" pitchFamily="18" charset="0"/>
              </a:rPr>
              <a:t>Keadilan Sosial</a:t>
            </a:r>
            <a:r>
              <a:rPr lang="id-ID" sz="1600" b="1" dirty="0">
                <a:latin typeface="+mj-lt"/>
                <a:cs typeface="Times New Roman" pitchFamily="18" charset="0"/>
              </a:rPr>
              <a:t> Bagi Seluruh Rakyat Indonesia</a:t>
            </a:r>
          </a:p>
          <a:p>
            <a:pPr marL="457200" indent="-457200" algn="just" eaLnBrk="1" hangingPunct="1">
              <a:buFont typeface="Wingdings 3" pitchFamily="18" charset="2"/>
              <a:buNone/>
              <a:defRPr/>
            </a:pPr>
            <a:r>
              <a:rPr lang="id-ID" sz="1600" dirty="0">
                <a:latin typeface="+mj-lt"/>
                <a:cs typeface="Times New Roman" pitchFamily="18" charset="0"/>
              </a:rPr>
              <a:t>	Hal tersebut secara eksplisit termuat di dalam Pembukaan (</a:t>
            </a:r>
            <a:r>
              <a:rPr lang="id-ID" sz="1600" i="1" dirty="0">
                <a:latin typeface="+mj-lt"/>
                <a:cs typeface="Times New Roman" pitchFamily="18" charset="0"/>
              </a:rPr>
              <a:t>Preambule</a:t>
            </a:r>
            <a:r>
              <a:rPr lang="id-ID" sz="1600" dirty="0">
                <a:latin typeface="+mj-lt"/>
                <a:cs typeface="Times New Roman" pitchFamily="18" charset="0"/>
              </a:rPr>
              <a:t>) dan Batang Tubuh UUD NRI Tahun 1945 bahwa:</a:t>
            </a:r>
          </a:p>
          <a:p>
            <a:pPr marL="457200" indent="-457200" algn="just" eaLnBrk="1" hangingPunct="1">
              <a:buFont typeface="Wingdings 3" pitchFamily="18" charset="2"/>
              <a:buNone/>
              <a:defRPr/>
            </a:pPr>
            <a:r>
              <a:rPr lang="id-ID" sz="1600" dirty="0">
                <a:latin typeface="+mj-lt"/>
                <a:cs typeface="Times New Roman" pitchFamily="18" charset="0"/>
              </a:rPr>
              <a:t>	“maka disusunlah Kemerdekaan Kebangsaan Indonesia itu dalam suatu Undang-Undang Dasar Negara Indonesia yang berkedaulatan rakyat dengan berdasar kepada (...) serta dengan mewujudkan suatu Keadilan sosial bagi selurah rakyat Indonesia”.</a:t>
            </a:r>
          </a:p>
          <a:p>
            <a:pPr marL="457200" indent="-457200" algn="ctr" eaLnBrk="1" hangingPunct="1">
              <a:buFont typeface="Wingdings 3" pitchFamily="18" charset="2"/>
              <a:buNone/>
              <a:defRPr/>
            </a:pPr>
            <a:r>
              <a:rPr lang="fi-FI" sz="1600" b="1" dirty="0">
                <a:latin typeface="+mj-lt"/>
                <a:cs typeface="Times New Roman" pitchFamily="18" charset="0"/>
              </a:rPr>
              <a:t>BAB XIV</a:t>
            </a:r>
          </a:p>
          <a:p>
            <a:pPr marL="457200" indent="-457200" algn="ctr" eaLnBrk="1" hangingPunct="1">
              <a:buFont typeface="Wingdings 3" pitchFamily="18" charset="2"/>
              <a:buNone/>
              <a:defRPr/>
            </a:pPr>
            <a:r>
              <a:rPr lang="fi-FI" sz="1600" b="1" dirty="0">
                <a:latin typeface="+mj-lt"/>
                <a:cs typeface="Times New Roman" pitchFamily="18" charset="0"/>
              </a:rPr>
              <a:t>PEREKONOMIAN NASIONAL</a:t>
            </a:r>
          </a:p>
          <a:p>
            <a:pPr marL="457200" indent="-457200" algn="ctr" eaLnBrk="1" hangingPunct="1">
              <a:buFont typeface="Wingdings 3" pitchFamily="18" charset="2"/>
              <a:buNone/>
              <a:defRPr/>
            </a:pPr>
            <a:r>
              <a:rPr lang="fi-FI" sz="1600" b="1" dirty="0">
                <a:latin typeface="+mj-lt"/>
                <a:cs typeface="Times New Roman" pitchFamily="18" charset="0"/>
              </a:rPr>
              <a:t>DAN KESEJAHTERAAN SOSIAL</a:t>
            </a:r>
          </a:p>
          <a:p>
            <a:pPr marL="457200" indent="-457200" algn="ctr" eaLnBrk="1" hangingPunct="1">
              <a:buFont typeface="Wingdings 3" pitchFamily="18" charset="2"/>
              <a:buNone/>
              <a:defRPr/>
            </a:pPr>
            <a:r>
              <a:rPr lang="fi-FI" sz="1600" b="1" dirty="0">
                <a:latin typeface="+mj-lt"/>
                <a:cs typeface="Times New Roman" pitchFamily="18" charset="0"/>
              </a:rPr>
              <a:t>Pasal 33</a:t>
            </a:r>
          </a:p>
          <a:p>
            <a:pPr marL="457200" indent="-457200" algn="just" eaLnBrk="1" hangingPunct="1">
              <a:buFont typeface="Wingdings 3" pitchFamily="18" charset="2"/>
              <a:buNone/>
              <a:defRPr/>
            </a:pPr>
            <a:r>
              <a:rPr lang="fi-FI" sz="1600" dirty="0">
                <a:latin typeface="+mj-lt"/>
                <a:cs typeface="Times New Roman" pitchFamily="18" charset="0"/>
              </a:rPr>
              <a:t>(2)</a:t>
            </a:r>
            <a:r>
              <a:rPr lang="id-ID" sz="1600" dirty="0">
                <a:latin typeface="+mj-lt"/>
                <a:cs typeface="Times New Roman" pitchFamily="18" charset="0"/>
              </a:rPr>
              <a:t>   </a:t>
            </a:r>
            <a:r>
              <a:rPr lang="fi-FI" sz="1600" dirty="0">
                <a:latin typeface="+mj-lt"/>
                <a:cs typeface="Times New Roman" pitchFamily="18" charset="0"/>
              </a:rPr>
              <a:t>Cabang-cabang produksi yang penting bagi negara dan yang menguasai hajat hidup orang banyak dikuasai oleh negara.</a:t>
            </a:r>
          </a:p>
          <a:p>
            <a:pPr marL="457200" indent="-457200" algn="just" eaLnBrk="1" hangingPunct="1">
              <a:buFont typeface="Wingdings 3" pitchFamily="18" charset="2"/>
              <a:buNone/>
              <a:defRPr/>
            </a:pPr>
            <a:r>
              <a:rPr lang="fi-FI" sz="1600" dirty="0">
                <a:latin typeface="+mj-lt"/>
                <a:cs typeface="Times New Roman" pitchFamily="18" charset="0"/>
              </a:rPr>
              <a:t>(3) </a:t>
            </a:r>
            <a:r>
              <a:rPr lang="id-ID" sz="1600" dirty="0">
                <a:latin typeface="+mj-lt"/>
                <a:cs typeface="Times New Roman" pitchFamily="18" charset="0"/>
              </a:rPr>
              <a:t>  </a:t>
            </a:r>
            <a:r>
              <a:rPr lang="fi-FI" sz="1600" dirty="0">
                <a:latin typeface="+mj-lt"/>
                <a:cs typeface="Times New Roman" pitchFamily="18" charset="0"/>
              </a:rPr>
              <a:t>Bumi dan air dan kekayaan alam yang terkandung di dalamnya dikuasai oleh negara dan dipergunakan untuk sebesar-besar kemakmuran rakyat.</a:t>
            </a:r>
            <a:endParaRPr lang="id-ID" sz="1600" dirty="0">
              <a:latin typeface="+mj-lt"/>
              <a:cs typeface="Times New Roman" pitchFamily="18" charset="0"/>
            </a:endParaRPr>
          </a:p>
          <a:p>
            <a:pPr marL="457200" indent="-457200" algn="just" eaLnBrk="1" hangingPunct="1">
              <a:buFont typeface="Wingdings 3" pitchFamily="18" charset="2"/>
              <a:buNone/>
              <a:defRPr/>
            </a:pPr>
            <a:endParaRPr lang="id-ID" sz="1600" dirty="0">
              <a:latin typeface="+mj-lt"/>
              <a:cs typeface="Times New Roman" pitchFamily="18" charset="0"/>
            </a:endParaRPr>
          </a:p>
          <a:p>
            <a:pPr marL="457200" indent="-457200" algn="just">
              <a:buNone/>
              <a:defRPr/>
            </a:pPr>
            <a:r>
              <a:rPr lang="id-ID" sz="1600" dirty="0">
                <a:latin typeface="+mj-lt"/>
                <a:cs typeface="Times New Roman" pitchFamily="18" charset="0"/>
              </a:rPr>
              <a:t>	Nilai Sila 5: Menekankan ketiga keadilan Aristoteles: keadilan distributif, keadilan kontributif dan keadilan komutatif. Keadilan sosial juga menjaga keseimbangan antara kepentingan individu dan masyarakat, karena kepentingan individu tidak boleh terinjak oleh kepentingan semu. Individualitas merupakan landasan yang memungkinkan timbulnya kreativitas dan inovasi.</a:t>
            </a:r>
            <a:endParaRPr lang="fi-FI" sz="1600" dirty="0">
              <a:latin typeface="+mj-lt"/>
              <a:cs typeface="Times New Roman" pitchFamily="18" charset="0"/>
            </a:endParaRPr>
          </a:p>
        </p:txBody>
      </p:sp>
      <p:sp>
        <p:nvSpPr>
          <p:cNvPr id="11267" name="Slide Number Placeholder 3"/>
          <p:cNvSpPr>
            <a:spLocks noGrp="1"/>
          </p:cNvSpPr>
          <p:nvPr>
            <p:ph type="sldNum" sz="quarter" idx="12"/>
          </p:nvPr>
        </p:nvSpPr>
        <p:spPr bwMode="auto">
          <a:xfrm>
            <a:off x="2898775" y="6356350"/>
            <a:ext cx="3505200" cy="365125"/>
          </a:xfrm>
          <a:ln>
            <a:miter lim="800000"/>
            <a:headEnd/>
            <a:tailEnd/>
          </a:ln>
        </p:spPr>
        <p:txBody>
          <a:bodyPr wrap="square" lIns="91440" tIns="45720" rIns="91440" bIns="45720" numCol="1" anchor="t" anchorCtr="0" compatLnSpc="1">
            <a:prstTxWarp prst="textNoShape">
              <a:avLst/>
            </a:prstTxWarp>
          </a:bodyPr>
          <a:lstStyle/>
          <a:p>
            <a:pPr algn="r" fontAlgn="base">
              <a:spcBef>
                <a:spcPct val="0"/>
              </a:spcBef>
              <a:spcAft>
                <a:spcPct val="0"/>
              </a:spcAft>
              <a:defRPr/>
            </a:pPr>
            <a:fld id="{997A4914-FE1D-4D6E-9002-A4CA77D62934}" type="slidenum">
              <a:rPr lang="id-ID" smtClean="0"/>
              <a:pPr algn="r" fontAlgn="base">
                <a:spcBef>
                  <a:spcPct val="0"/>
                </a:spcBef>
                <a:spcAft>
                  <a:spcPct val="0"/>
                </a:spcAft>
                <a:defRPr/>
              </a:pPr>
              <a:t>19</a:t>
            </a:fld>
            <a:endParaRPr lang="id-ID"/>
          </a:p>
        </p:txBody>
      </p:sp>
    </p:spTree>
    <p:extLst>
      <p:ext uri="{BB962C8B-B14F-4D97-AF65-F5344CB8AC3E}">
        <p14:creationId xmlns:p14="http://schemas.microsoft.com/office/powerpoint/2010/main" val="3537422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36912"/>
            <a:ext cx="7620000" cy="1143000"/>
          </a:xfrm>
        </p:spPr>
        <p:txBody>
          <a:bodyPr>
            <a:normAutofit fontScale="90000"/>
          </a:bodyPr>
          <a:lstStyle/>
          <a:p>
            <a:pPr algn="ctr"/>
            <a:r>
              <a:rPr lang="id-ID" dirty="0"/>
              <a:t>SISTEM FILSAFAT PANCASILA DAN PANCASILA SEBAGAI IDEOLOGI BANGSA DAN NEGARA</a:t>
            </a:r>
          </a:p>
        </p:txBody>
      </p:sp>
      <p:sp>
        <p:nvSpPr>
          <p:cNvPr id="4" name="Date Placeholder 3"/>
          <p:cNvSpPr>
            <a:spLocks noGrp="1"/>
          </p:cNvSpPr>
          <p:nvPr>
            <p:ph type="dt" sz="half" idx="10"/>
          </p:nvPr>
        </p:nvSpPr>
        <p:spPr/>
        <p:txBody>
          <a:bodyPr/>
          <a:lstStyle/>
          <a:p>
            <a:fld id="{6C6D8A40-8630-4128-B43D-A8792D906167}"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20</a:t>
            </a:fld>
            <a:endParaRPr lang="id-ID"/>
          </a:p>
        </p:txBody>
      </p:sp>
    </p:spTree>
    <p:extLst>
      <p:ext uri="{BB962C8B-B14F-4D97-AF65-F5344CB8AC3E}">
        <p14:creationId xmlns:p14="http://schemas.microsoft.com/office/powerpoint/2010/main" val="3794146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Sistem</a:t>
            </a:r>
            <a:r>
              <a:rPr lang="en-US" dirty="0"/>
              <a:t> </a:t>
            </a:r>
            <a:r>
              <a:rPr lang="en-US" dirty="0" err="1"/>
              <a:t>Filsafat</a:t>
            </a:r>
            <a:r>
              <a:rPr lang="en-US" dirty="0"/>
              <a:t> </a:t>
            </a:r>
            <a:r>
              <a:rPr lang="en-US" dirty="0" err="1"/>
              <a:t>Pancasila</a:t>
            </a:r>
            <a:endParaRPr lang="en-US" dirty="0"/>
          </a:p>
        </p:txBody>
      </p:sp>
      <p:sp>
        <p:nvSpPr>
          <p:cNvPr id="3" name="Content Placeholder 2"/>
          <p:cNvSpPr>
            <a:spLocks noGrp="1"/>
          </p:cNvSpPr>
          <p:nvPr>
            <p:ph idx="1"/>
          </p:nvPr>
        </p:nvSpPr>
        <p:spPr>
          <a:xfrm>
            <a:off x="0" y="1124744"/>
            <a:ext cx="8460432" cy="5733256"/>
          </a:xfrm>
        </p:spPr>
        <p:txBody>
          <a:bodyPr>
            <a:normAutofit/>
          </a:bodyPr>
          <a:lstStyle/>
          <a:p>
            <a:pPr algn="just"/>
            <a:endParaRPr lang="id-ID" sz="2000" dirty="0">
              <a:latin typeface="+mj-lt"/>
            </a:endParaRPr>
          </a:p>
          <a:p>
            <a:pPr algn="just"/>
            <a:r>
              <a:rPr lang="en-US" sz="2000" b="1" dirty="0" err="1">
                <a:latin typeface="+mj-lt"/>
              </a:rPr>
              <a:t>Burhanudin</a:t>
            </a:r>
            <a:r>
              <a:rPr lang="en-US" sz="2000" b="1" dirty="0">
                <a:latin typeface="+mj-lt"/>
              </a:rPr>
              <a:t> Salam </a:t>
            </a:r>
            <a:r>
              <a:rPr lang="id-ID" sz="2000" dirty="0">
                <a:latin typeface="+mj-lt"/>
              </a:rPr>
              <a:t>menjelaskan bahwa </a:t>
            </a:r>
            <a:r>
              <a:rPr lang="en-US" sz="2000" dirty="0" err="1">
                <a:latin typeface="+mj-lt"/>
              </a:rPr>
              <a:t>filsafat</a:t>
            </a:r>
            <a:r>
              <a:rPr lang="en-US" sz="2000" dirty="0">
                <a:latin typeface="+mj-lt"/>
              </a:rPr>
              <a:t> </a:t>
            </a:r>
            <a:r>
              <a:rPr lang="id-ID" sz="2000" dirty="0">
                <a:latin typeface="+mj-lt"/>
              </a:rPr>
              <a:t>merupakan</a:t>
            </a:r>
            <a:r>
              <a:rPr lang="en-US" sz="2000" dirty="0">
                <a:latin typeface="+mj-lt"/>
              </a:rPr>
              <a:t> </a:t>
            </a:r>
            <a:r>
              <a:rPr lang="en-US" sz="2000" dirty="0" err="1">
                <a:latin typeface="+mj-lt"/>
              </a:rPr>
              <a:t>sistem</a:t>
            </a:r>
            <a:r>
              <a:rPr lang="en-US" sz="2000" dirty="0">
                <a:latin typeface="+mj-lt"/>
              </a:rPr>
              <a:t> </a:t>
            </a:r>
            <a:r>
              <a:rPr lang="en-US" sz="2000" dirty="0" err="1">
                <a:latin typeface="+mj-lt"/>
              </a:rPr>
              <a:t>kebenaran</a:t>
            </a:r>
            <a:r>
              <a:rPr lang="en-US" sz="2000" dirty="0">
                <a:latin typeface="+mj-lt"/>
              </a:rPr>
              <a:t> </a:t>
            </a:r>
            <a:r>
              <a:rPr lang="en-US" sz="2000" dirty="0" err="1">
                <a:latin typeface="+mj-lt"/>
              </a:rPr>
              <a:t>tentang</a:t>
            </a:r>
            <a:r>
              <a:rPr lang="en-US" sz="2000" dirty="0">
                <a:latin typeface="+mj-lt"/>
              </a:rPr>
              <a:t> </a:t>
            </a:r>
            <a:r>
              <a:rPr lang="en-US" sz="2000" dirty="0" err="1">
                <a:latin typeface="+mj-lt"/>
              </a:rPr>
              <a:t>segala</a:t>
            </a:r>
            <a:r>
              <a:rPr lang="en-US" sz="2000" dirty="0">
                <a:latin typeface="+mj-lt"/>
              </a:rPr>
              <a:t> </a:t>
            </a:r>
            <a:r>
              <a:rPr lang="en-US" sz="2000" dirty="0" err="1">
                <a:latin typeface="+mj-lt"/>
              </a:rPr>
              <a:t>sesuatu</a:t>
            </a:r>
            <a:r>
              <a:rPr lang="en-US" sz="2000" dirty="0">
                <a:latin typeface="+mj-lt"/>
              </a:rPr>
              <a:t> yang </a:t>
            </a:r>
            <a:r>
              <a:rPr lang="en-US" sz="2000" dirty="0" err="1">
                <a:latin typeface="+mj-lt"/>
              </a:rPr>
              <a:t>dipersoalkan</a:t>
            </a:r>
            <a:r>
              <a:rPr lang="en-US" sz="2000" dirty="0">
                <a:latin typeface="+mj-lt"/>
              </a:rPr>
              <a:t> </a:t>
            </a:r>
            <a:r>
              <a:rPr lang="en-US" sz="2000" dirty="0" err="1">
                <a:latin typeface="+mj-lt"/>
              </a:rPr>
              <a:t>sebagai</a:t>
            </a:r>
            <a:r>
              <a:rPr lang="en-US" sz="2000" dirty="0">
                <a:latin typeface="+mj-lt"/>
              </a:rPr>
              <a:t> </a:t>
            </a:r>
            <a:r>
              <a:rPr lang="en-US" sz="2000" dirty="0" err="1">
                <a:latin typeface="+mj-lt"/>
              </a:rPr>
              <a:t>hasil</a:t>
            </a:r>
            <a:r>
              <a:rPr lang="en-US" sz="2000" dirty="0">
                <a:latin typeface="+mj-lt"/>
              </a:rPr>
              <a:t> </a:t>
            </a:r>
            <a:r>
              <a:rPr lang="en-US" sz="2000" dirty="0" err="1">
                <a:latin typeface="+mj-lt"/>
              </a:rPr>
              <a:t>daripada</a:t>
            </a:r>
            <a:r>
              <a:rPr lang="en-US" sz="2000" dirty="0">
                <a:latin typeface="+mj-lt"/>
              </a:rPr>
              <a:t> </a:t>
            </a:r>
            <a:r>
              <a:rPr lang="en-US" sz="2000" dirty="0" err="1">
                <a:latin typeface="+mj-lt"/>
              </a:rPr>
              <a:t>berpikir</a:t>
            </a:r>
            <a:r>
              <a:rPr lang="en-US" sz="2000" dirty="0">
                <a:latin typeface="+mj-lt"/>
              </a:rPr>
              <a:t> </a:t>
            </a:r>
            <a:r>
              <a:rPr lang="en-US" sz="2000" dirty="0" err="1">
                <a:latin typeface="+mj-lt"/>
              </a:rPr>
              <a:t>secara</a:t>
            </a:r>
            <a:r>
              <a:rPr lang="en-US" sz="2000" dirty="0">
                <a:latin typeface="+mj-lt"/>
              </a:rPr>
              <a:t> </a:t>
            </a:r>
            <a:r>
              <a:rPr lang="en-US" sz="2000" dirty="0" err="1">
                <a:latin typeface="+mj-lt"/>
              </a:rPr>
              <a:t>radikal</a:t>
            </a:r>
            <a:r>
              <a:rPr lang="en-US" sz="2000" dirty="0">
                <a:latin typeface="+mj-lt"/>
              </a:rPr>
              <a:t>, </a:t>
            </a:r>
            <a:r>
              <a:rPr lang="en-US" sz="2000" dirty="0" err="1">
                <a:latin typeface="+mj-lt"/>
              </a:rPr>
              <a:t>sistematis</a:t>
            </a:r>
            <a:r>
              <a:rPr lang="en-US" sz="2000" dirty="0">
                <a:latin typeface="+mj-lt"/>
              </a:rPr>
              <a:t> </a:t>
            </a:r>
            <a:r>
              <a:rPr lang="en-US" sz="2000" dirty="0" err="1">
                <a:latin typeface="+mj-lt"/>
              </a:rPr>
              <a:t>dan</a:t>
            </a:r>
            <a:r>
              <a:rPr lang="en-US" sz="2000" dirty="0">
                <a:latin typeface="+mj-lt"/>
              </a:rPr>
              <a:t> universal.</a:t>
            </a:r>
          </a:p>
          <a:p>
            <a:pPr algn="just"/>
            <a:r>
              <a:rPr lang="en-US" sz="2000" b="1" dirty="0" err="1">
                <a:latin typeface="+mj-lt"/>
              </a:rPr>
              <a:t>Gunawan</a:t>
            </a:r>
            <a:r>
              <a:rPr lang="en-US" sz="2000" b="1" dirty="0">
                <a:latin typeface="+mj-lt"/>
              </a:rPr>
              <a:t> </a:t>
            </a:r>
            <a:r>
              <a:rPr lang="en-US" sz="2000" b="1" dirty="0" err="1">
                <a:latin typeface="+mj-lt"/>
              </a:rPr>
              <a:t>Setiardja</a:t>
            </a:r>
            <a:r>
              <a:rPr lang="en-US" sz="2000" b="1" dirty="0">
                <a:latin typeface="+mj-lt"/>
              </a:rPr>
              <a:t> </a:t>
            </a:r>
            <a:r>
              <a:rPr lang="id-ID" sz="2000" dirty="0">
                <a:latin typeface="+mj-lt"/>
              </a:rPr>
              <a:t>menjelaskan bahwa </a:t>
            </a:r>
            <a:r>
              <a:rPr lang="en-US" sz="2000" dirty="0" err="1">
                <a:latin typeface="+mj-lt"/>
              </a:rPr>
              <a:t>filsafat</a:t>
            </a:r>
            <a:r>
              <a:rPr lang="en-US" sz="2000" dirty="0">
                <a:latin typeface="+mj-lt"/>
              </a:rPr>
              <a:t> </a:t>
            </a:r>
            <a:r>
              <a:rPr lang="en-US" sz="2000" dirty="0" err="1">
                <a:latin typeface="+mj-lt"/>
              </a:rPr>
              <a:t>adalah</a:t>
            </a:r>
            <a:r>
              <a:rPr lang="en-US" sz="2000" dirty="0">
                <a:latin typeface="+mj-lt"/>
              </a:rPr>
              <a:t> </a:t>
            </a:r>
            <a:r>
              <a:rPr lang="en-US" sz="2000" dirty="0" err="1">
                <a:latin typeface="+mj-lt"/>
              </a:rPr>
              <a:t>ilmu</a:t>
            </a:r>
            <a:r>
              <a:rPr lang="en-US" sz="2000" dirty="0">
                <a:latin typeface="+mj-lt"/>
              </a:rPr>
              <a:t> </a:t>
            </a:r>
            <a:r>
              <a:rPr lang="en-US" sz="2000" dirty="0" err="1">
                <a:latin typeface="+mj-lt"/>
              </a:rPr>
              <a:t>pengetahuan</a:t>
            </a:r>
            <a:r>
              <a:rPr lang="en-US" sz="2000" dirty="0">
                <a:latin typeface="+mj-lt"/>
              </a:rPr>
              <a:t> </a:t>
            </a:r>
            <a:r>
              <a:rPr lang="en-US" sz="2000" dirty="0" err="1">
                <a:latin typeface="+mj-lt"/>
              </a:rPr>
              <a:t>mengenai</a:t>
            </a:r>
            <a:r>
              <a:rPr lang="en-US" sz="2000" dirty="0">
                <a:latin typeface="+mj-lt"/>
              </a:rPr>
              <a:t> </a:t>
            </a:r>
            <a:r>
              <a:rPr lang="en-US" sz="2000" dirty="0" err="1">
                <a:latin typeface="+mj-lt"/>
              </a:rPr>
              <a:t>segala</a:t>
            </a:r>
            <a:r>
              <a:rPr lang="en-US" sz="2000" dirty="0">
                <a:latin typeface="+mj-lt"/>
              </a:rPr>
              <a:t> </a:t>
            </a:r>
            <a:r>
              <a:rPr lang="en-US" sz="2000" dirty="0" err="1">
                <a:latin typeface="+mj-lt"/>
              </a:rPr>
              <a:t>sesuatu</a:t>
            </a:r>
            <a:r>
              <a:rPr lang="en-US" sz="2000" dirty="0">
                <a:latin typeface="+mj-lt"/>
              </a:rPr>
              <a:t> </a:t>
            </a:r>
            <a:r>
              <a:rPr lang="en-US" sz="2000" dirty="0" err="1">
                <a:latin typeface="+mj-lt"/>
              </a:rPr>
              <a:t>dengan</a:t>
            </a:r>
            <a:r>
              <a:rPr lang="en-US" sz="2000" dirty="0">
                <a:latin typeface="+mj-lt"/>
              </a:rPr>
              <a:t> </a:t>
            </a:r>
            <a:r>
              <a:rPr lang="en-US" sz="2000" dirty="0" err="1">
                <a:latin typeface="+mj-lt"/>
              </a:rPr>
              <a:t>meninjau</a:t>
            </a:r>
            <a:r>
              <a:rPr lang="en-US" sz="2000" dirty="0">
                <a:latin typeface="+mj-lt"/>
              </a:rPr>
              <a:t> </a:t>
            </a:r>
            <a:r>
              <a:rPr lang="en-US" sz="2000" dirty="0" err="1">
                <a:latin typeface="+mj-lt"/>
              </a:rPr>
              <a:t>sebab-sebab</a:t>
            </a:r>
            <a:r>
              <a:rPr lang="en-US" sz="2000" dirty="0">
                <a:latin typeface="+mj-lt"/>
              </a:rPr>
              <a:t> yang </a:t>
            </a:r>
            <a:r>
              <a:rPr lang="en-US" sz="2000" dirty="0" err="1">
                <a:latin typeface="+mj-lt"/>
              </a:rPr>
              <a:t>terdalam</a:t>
            </a:r>
            <a:r>
              <a:rPr lang="en-US" sz="2000" dirty="0">
                <a:latin typeface="+mj-lt"/>
              </a:rPr>
              <a:t> </a:t>
            </a:r>
            <a:r>
              <a:rPr lang="en-US" sz="2000" dirty="0" err="1">
                <a:latin typeface="+mj-lt"/>
              </a:rPr>
              <a:t>dengan</a:t>
            </a:r>
            <a:r>
              <a:rPr lang="en-US" sz="2000" dirty="0">
                <a:latin typeface="+mj-lt"/>
              </a:rPr>
              <a:t> </a:t>
            </a:r>
            <a:r>
              <a:rPr lang="en-US" sz="2000" dirty="0" err="1">
                <a:latin typeface="+mj-lt"/>
              </a:rPr>
              <a:t>kekuatan</a:t>
            </a:r>
            <a:r>
              <a:rPr lang="en-US" sz="2000" dirty="0">
                <a:latin typeface="+mj-lt"/>
              </a:rPr>
              <a:t> </a:t>
            </a:r>
            <a:r>
              <a:rPr lang="en-US" sz="2000" dirty="0" err="1">
                <a:latin typeface="+mj-lt"/>
              </a:rPr>
              <a:t>diri</a:t>
            </a:r>
            <a:r>
              <a:rPr lang="en-US" sz="2000" dirty="0">
                <a:latin typeface="+mj-lt"/>
              </a:rPr>
              <a:t> </a:t>
            </a:r>
            <a:r>
              <a:rPr lang="en-US" sz="2000" dirty="0" err="1">
                <a:latin typeface="+mj-lt"/>
              </a:rPr>
              <a:t>manusia</a:t>
            </a:r>
            <a:r>
              <a:rPr lang="en-US" sz="2000" dirty="0">
                <a:latin typeface="+mj-lt"/>
              </a:rPr>
              <a:t> </a:t>
            </a:r>
            <a:r>
              <a:rPr lang="en-US" sz="2000" dirty="0" err="1">
                <a:latin typeface="+mj-lt"/>
              </a:rPr>
              <a:t>itu</a:t>
            </a:r>
            <a:r>
              <a:rPr lang="en-US" sz="2000" dirty="0">
                <a:latin typeface="+mj-lt"/>
              </a:rPr>
              <a:t> </a:t>
            </a:r>
            <a:r>
              <a:rPr lang="en-US" sz="2000" dirty="0" err="1">
                <a:latin typeface="+mj-lt"/>
              </a:rPr>
              <a:t>sendiri</a:t>
            </a:r>
            <a:r>
              <a:rPr lang="en-US" sz="2000" dirty="0">
                <a:latin typeface="+mj-lt"/>
              </a:rPr>
              <a:t>.</a:t>
            </a:r>
            <a:endParaRPr lang="id-ID" sz="2000" dirty="0">
              <a:latin typeface="+mj-lt"/>
            </a:endParaRPr>
          </a:p>
          <a:p>
            <a:pPr algn="just"/>
            <a:r>
              <a:rPr lang="en-US" sz="2000" dirty="0" err="1">
                <a:latin typeface="+mj-lt"/>
              </a:rPr>
              <a:t>Pancasila</a:t>
            </a:r>
            <a:r>
              <a:rPr lang="en-US" sz="2000" dirty="0">
                <a:latin typeface="+mj-lt"/>
              </a:rPr>
              <a:t> </a:t>
            </a:r>
            <a:r>
              <a:rPr lang="en-US" sz="2000" dirty="0" err="1">
                <a:latin typeface="+mj-lt"/>
              </a:rPr>
              <a:t>sebagai</a:t>
            </a:r>
            <a:r>
              <a:rPr lang="en-US" sz="2000" dirty="0">
                <a:latin typeface="+mj-lt"/>
              </a:rPr>
              <a:t> </a:t>
            </a:r>
            <a:r>
              <a:rPr lang="en-US" sz="2000" dirty="0" err="1">
                <a:latin typeface="+mj-lt"/>
              </a:rPr>
              <a:t>filsafat</a:t>
            </a:r>
            <a:r>
              <a:rPr lang="en-US" sz="2000" dirty="0">
                <a:latin typeface="+mj-lt"/>
              </a:rPr>
              <a:t> </a:t>
            </a:r>
            <a:r>
              <a:rPr lang="en-US" sz="2000" dirty="0" err="1">
                <a:latin typeface="+mj-lt"/>
              </a:rPr>
              <a:t>mengandung</a:t>
            </a:r>
            <a:r>
              <a:rPr lang="en-US" sz="2000" dirty="0">
                <a:latin typeface="+mj-lt"/>
              </a:rPr>
              <a:t> </a:t>
            </a:r>
            <a:r>
              <a:rPr lang="en-US" sz="2000" dirty="0" err="1">
                <a:latin typeface="+mj-lt"/>
              </a:rPr>
              <a:t>pandangan</a:t>
            </a:r>
            <a:r>
              <a:rPr lang="en-US" sz="2000" dirty="0">
                <a:latin typeface="+mj-lt"/>
              </a:rPr>
              <a:t>, </a:t>
            </a:r>
            <a:r>
              <a:rPr lang="en-US" sz="2000" dirty="0" err="1">
                <a:latin typeface="+mj-lt"/>
              </a:rPr>
              <a:t>nilai</a:t>
            </a:r>
            <a:r>
              <a:rPr lang="en-US" sz="2000" dirty="0">
                <a:latin typeface="+mj-lt"/>
              </a:rPr>
              <a:t> </a:t>
            </a:r>
            <a:r>
              <a:rPr lang="en-US" sz="2000" dirty="0" err="1">
                <a:latin typeface="+mj-lt"/>
              </a:rPr>
              <a:t>dan</a:t>
            </a:r>
            <a:r>
              <a:rPr lang="en-US" sz="2000" dirty="0">
                <a:latin typeface="+mj-lt"/>
              </a:rPr>
              <a:t> </a:t>
            </a:r>
            <a:r>
              <a:rPr lang="en-US" sz="2000" dirty="0" err="1">
                <a:latin typeface="+mj-lt"/>
              </a:rPr>
              <a:t>pemikiran</a:t>
            </a:r>
            <a:r>
              <a:rPr lang="en-US" sz="2000" dirty="0">
                <a:latin typeface="+mj-lt"/>
              </a:rPr>
              <a:t> yang </a:t>
            </a:r>
            <a:r>
              <a:rPr lang="en-US" sz="2000" dirty="0" err="1">
                <a:latin typeface="+mj-lt"/>
              </a:rPr>
              <a:t>dapat</a:t>
            </a:r>
            <a:r>
              <a:rPr lang="en-US" sz="2000" dirty="0">
                <a:latin typeface="+mj-lt"/>
              </a:rPr>
              <a:t> </a:t>
            </a:r>
            <a:r>
              <a:rPr lang="en-US" sz="2000" dirty="0" err="1">
                <a:latin typeface="+mj-lt"/>
              </a:rPr>
              <a:t>menjadi</a:t>
            </a:r>
            <a:r>
              <a:rPr lang="en-US" sz="2000" dirty="0">
                <a:latin typeface="+mj-lt"/>
              </a:rPr>
              <a:t> </a:t>
            </a:r>
            <a:r>
              <a:rPr lang="en-US" sz="2000" dirty="0" err="1">
                <a:latin typeface="+mj-lt"/>
              </a:rPr>
              <a:t>substansi</a:t>
            </a:r>
            <a:r>
              <a:rPr lang="en-US" sz="2000" dirty="0">
                <a:latin typeface="+mj-lt"/>
              </a:rPr>
              <a:t> </a:t>
            </a:r>
            <a:r>
              <a:rPr lang="en-US" sz="2000" dirty="0" err="1">
                <a:latin typeface="+mj-lt"/>
              </a:rPr>
              <a:t>dan</a:t>
            </a:r>
            <a:r>
              <a:rPr lang="en-US" sz="2000" dirty="0">
                <a:latin typeface="+mj-lt"/>
              </a:rPr>
              <a:t> </a:t>
            </a:r>
            <a:r>
              <a:rPr lang="en-US" sz="2000" dirty="0" err="1">
                <a:latin typeface="+mj-lt"/>
              </a:rPr>
              <a:t>isi</a:t>
            </a:r>
            <a:r>
              <a:rPr lang="en-US" sz="2000" dirty="0">
                <a:latin typeface="+mj-lt"/>
              </a:rPr>
              <a:t> </a:t>
            </a:r>
            <a:r>
              <a:rPr lang="en-US" sz="2000" dirty="0" err="1">
                <a:latin typeface="+mj-lt"/>
              </a:rPr>
              <a:t>pembentukan</a:t>
            </a:r>
            <a:r>
              <a:rPr lang="en-US" sz="2000" dirty="0">
                <a:latin typeface="+mj-lt"/>
              </a:rPr>
              <a:t> </a:t>
            </a:r>
            <a:r>
              <a:rPr lang="en-US" sz="2000" dirty="0" err="1">
                <a:latin typeface="+mj-lt"/>
              </a:rPr>
              <a:t>ideologi</a:t>
            </a:r>
            <a:r>
              <a:rPr lang="en-US" sz="2000" dirty="0">
                <a:latin typeface="+mj-lt"/>
              </a:rPr>
              <a:t> </a:t>
            </a:r>
            <a:r>
              <a:rPr lang="en-US" sz="2000" dirty="0" err="1">
                <a:latin typeface="+mj-lt"/>
              </a:rPr>
              <a:t>Pancasila</a:t>
            </a:r>
            <a:r>
              <a:rPr lang="en-US" sz="2000" dirty="0">
                <a:latin typeface="+mj-lt"/>
              </a:rPr>
              <a:t>.</a:t>
            </a:r>
          </a:p>
          <a:p>
            <a:pPr algn="just"/>
            <a:r>
              <a:rPr lang="en-US" sz="2000" dirty="0" err="1">
                <a:latin typeface="+mj-lt"/>
              </a:rPr>
              <a:t>Sistem</a:t>
            </a:r>
            <a:r>
              <a:rPr lang="en-US" sz="2000" dirty="0">
                <a:latin typeface="+mj-lt"/>
              </a:rPr>
              <a:t> </a:t>
            </a:r>
            <a:r>
              <a:rPr lang="en-US" sz="2000" dirty="0" err="1">
                <a:latin typeface="+mj-lt"/>
              </a:rPr>
              <a:t>adalah</a:t>
            </a:r>
            <a:r>
              <a:rPr lang="en-US" sz="2000" dirty="0">
                <a:latin typeface="+mj-lt"/>
              </a:rPr>
              <a:t> </a:t>
            </a:r>
            <a:r>
              <a:rPr lang="en-US" sz="2000" dirty="0" err="1">
                <a:latin typeface="+mj-lt"/>
              </a:rPr>
              <a:t>suatu</a:t>
            </a:r>
            <a:r>
              <a:rPr lang="en-US" sz="2000" dirty="0">
                <a:latin typeface="+mj-lt"/>
              </a:rPr>
              <a:t> </a:t>
            </a:r>
            <a:r>
              <a:rPr lang="en-US" sz="2000" dirty="0" err="1">
                <a:latin typeface="+mj-lt"/>
              </a:rPr>
              <a:t>kesatuan</a:t>
            </a:r>
            <a:r>
              <a:rPr lang="en-US" sz="2000" dirty="0">
                <a:latin typeface="+mj-lt"/>
              </a:rPr>
              <a:t> </a:t>
            </a:r>
            <a:r>
              <a:rPr lang="en-US" sz="2000" dirty="0" err="1">
                <a:latin typeface="+mj-lt"/>
              </a:rPr>
              <a:t>bagian-bagian</a:t>
            </a:r>
            <a:r>
              <a:rPr lang="en-US" sz="2000" dirty="0">
                <a:latin typeface="+mj-lt"/>
              </a:rPr>
              <a:t> yang </a:t>
            </a:r>
            <a:r>
              <a:rPr lang="en-US" sz="2000" dirty="0" err="1">
                <a:latin typeface="+mj-lt"/>
              </a:rPr>
              <a:t>saling</a:t>
            </a:r>
            <a:r>
              <a:rPr lang="en-US" sz="2000" dirty="0">
                <a:latin typeface="+mj-lt"/>
              </a:rPr>
              <a:t> </a:t>
            </a:r>
            <a:r>
              <a:rPr lang="en-US" sz="2000" dirty="0" err="1">
                <a:latin typeface="+mj-lt"/>
              </a:rPr>
              <a:t>berhubungan</a:t>
            </a:r>
            <a:r>
              <a:rPr lang="en-US" sz="2000" dirty="0">
                <a:latin typeface="+mj-lt"/>
              </a:rPr>
              <a:t>, </a:t>
            </a:r>
            <a:r>
              <a:rPr lang="en-US" sz="2000" dirty="0" err="1">
                <a:latin typeface="+mj-lt"/>
              </a:rPr>
              <a:t>saling</a:t>
            </a:r>
            <a:r>
              <a:rPr lang="en-US" sz="2000" dirty="0">
                <a:latin typeface="+mj-lt"/>
              </a:rPr>
              <a:t> </a:t>
            </a:r>
            <a:r>
              <a:rPr lang="en-US" sz="2000" dirty="0" err="1">
                <a:latin typeface="+mj-lt"/>
              </a:rPr>
              <a:t>bekerjasama</a:t>
            </a:r>
            <a:r>
              <a:rPr lang="en-US" sz="2000" dirty="0">
                <a:latin typeface="+mj-lt"/>
              </a:rPr>
              <a:t> </a:t>
            </a:r>
            <a:r>
              <a:rPr lang="en-US" sz="2000" dirty="0" err="1">
                <a:latin typeface="+mj-lt"/>
              </a:rPr>
              <a:t>untuk</a:t>
            </a:r>
            <a:r>
              <a:rPr lang="en-US" sz="2000" dirty="0">
                <a:latin typeface="+mj-lt"/>
              </a:rPr>
              <a:t> </a:t>
            </a:r>
            <a:r>
              <a:rPr lang="en-US" sz="2000" dirty="0" err="1">
                <a:latin typeface="+mj-lt"/>
              </a:rPr>
              <a:t>tujuan</a:t>
            </a:r>
            <a:r>
              <a:rPr lang="en-US" sz="2000" dirty="0">
                <a:latin typeface="+mj-lt"/>
              </a:rPr>
              <a:t> </a:t>
            </a:r>
            <a:r>
              <a:rPr lang="en-US" sz="2000" dirty="0" err="1">
                <a:latin typeface="+mj-lt"/>
              </a:rPr>
              <a:t>tertentu</a:t>
            </a:r>
            <a:r>
              <a:rPr lang="en-US" sz="2000" dirty="0">
                <a:latin typeface="+mj-lt"/>
              </a:rPr>
              <a:t> </a:t>
            </a:r>
            <a:r>
              <a:rPr lang="en-US" sz="2000" dirty="0" err="1">
                <a:latin typeface="+mj-lt"/>
              </a:rPr>
              <a:t>dan</a:t>
            </a:r>
            <a:r>
              <a:rPr lang="en-US" sz="2000" dirty="0">
                <a:latin typeface="+mj-lt"/>
              </a:rPr>
              <a:t> </a:t>
            </a:r>
            <a:r>
              <a:rPr lang="en-US" sz="2000" dirty="0" err="1">
                <a:latin typeface="+mj-lt"/>
              </a:rPr>
              <a:t>secara</a:t>
            </a:r>
            <a:r>
              <a:rPr lang="en-US" sz="2000" dirty="0">
                <a:latin typeface="+mj-lt"/>
              </a:rPr>
              <a:t> </a:t>
            </a:r>
            <a:r>
              <a:rPr lang="en-US" sz="2000" dirty="0" err="1">
                <a:latin typeface="+mj-lt"/>
              </a:rPr>
              <a:t>keseluruhan</a:t>
            </a:r>
            <a:r>
              <a:rPr lang="en-US" sz="2000" dirty="0">
                <a:latin typeface="+mj-lt"/>
              </a:rPr>
              <a:t> </a:t>
            </a:r>
            <a:r>
              <a:rPr lang="en-US" sz="2000" dirty="0" err="1">
                <a:latin typeface="+mj-lt"/>
              </a:rPr>
              <a:t>merupakan</a:t>
            </a:r>
            <a:r>
              <a:rPr lang="en-US" sz="2000" dirty="0">
                <a:latin typeface="+mj-lt"/>
              </a:rPr>
              <a:t> </a:t>
            </a:r>
            <a:r>
              <a:rPr lang="en-US" sz="2000" dirty="0" err="1">
                <a:latin typeface="+mj-lt"/>
              </a:rPr>
              <a:t>suatu</a:t>
            </a:r>
            <a:r>
              <a:rPr lang="en-US" sz="2000" dirty="0">
                <a:latin typeface="+mj-lt"/>
              </a:rPr>
              <a:t> </a:t>
            </a:r>
            <a:r>
              <a:rPr lang="en-US" sz="2000" dirty="0" err="1">
                <a:latin typeface="+mj-lt"/>
              </a:rPr>
              <a:t>kesatuan</a:t>
            </a:r>
            <a:r>
              <a:rPr lang="en-US" sz="2000" dirty="0">
                <a:latin typeface="+mj-lt"/>
              </a:rPr>
              <a:t> yang </a:t>
            </a:r>
            <a:r>
              <a:rPr lang="en-US" sz="2000" dirty="0" err="1">
                <a:latin typeface="+mj-lt"/>
              </a:rPr>
              <a:t>utuh</a:t>
            </a:r>
            <a:r>
              <a:rPr lang="en-US" sz="2000" dirty="0">
                <a:latin typeface="+mj-lt"/>
              </a:rPr>
              <a:t>.</a:t>
            </a:r>
          </a:p>
          <a:p>
            <a:pPr algn="just"/>
            <a:r>
              <a:rPr lang="en-US" sz="2000" dirty="0" err="1">
                <a:latin typeface="+mj-lt"/>
              </a:rPr>
              <a:t>Sila-sila</a:t>
            </a:r>
            <a:r>
              <a:rPr lang="en-US" sz="2000" dirty="0">
                <a:latin typeface="+mj-lt"/>
              </a:rPr>
              <a:t> </a:t>
            </a:r>
            <a:r>
              <a:rPr lang="en-US" sz="2000" dirty="0" err="1">
                <a:latin typeface="+mj-lt"/>
              </a:rPr>
              <a:t>Pancasila</a:t>
            </a:r>
            <a:r>
              <a:rPr lang="en-US" sz="2000" dirty="0">
                <a:latin typeface="+mj-lt"/>
              </a:rPr>
              <a:t> yang </a:t>
            </a:r>
            <a:r>
              <a:rPr lang="en-US" sz="2000" dirty="0" err="1">
                <a:latin typeface="+mj-lt"/>
              </a:rPr>
              <a:t>merupakan</a:t>
            </a:r>
            <a:r>
              <a:rPr lang="en-US" sz="2000" dirty="0">
                <a:latin typeface="+mj-lt"/>
              </a:rPr>
              <a:t> </a:t>
            </a:r>
            <a:r>
              <a:rPr lang="en-US" sz="2000" dirty="0" err="1">
                <a:latin typeface="+mj-lt"/>
              </a:rPr>
              <a:t>sistem</a:t>
            </a:r>
            <a:r>
              <a:rPr lang="en-US" sz="2000" dirty="0">
                <a:latin typeface="+mj-lt"/>
              </a:rPr>
              <a:t> </a:t>
            </a:r>
            <a:r>
              <a:rPr lang="en-US" sz="2000" dirty="0" err="1">
                <a:latin typeface="+mj-lt"/>
              </a:rPr>
              <a:t>filsafat</a:t>
            </a:r>
            <a:r>
              <a:rPr lang="en-US" sz="2000" dirty="0">
                <a:latin typeface="+mj-lt"/>
              </a:rPr>
              <a:t> </a:t>
            </a:r>
            <a:r>
              <a:rPr lang="en-US" sz="2000" dirty="0" err="1">
                <a:latin typeface="+mj-lt"/>
              </a:rPr>
              <a:t>pada</a:t>
            </a:r>
            <a:r>
              <a:rPr lang="en-US" sz="2000" dirty="0">
                <a:latin typeface="+mj-lt"/>
              </a:rPr>
              <a:t> </a:t>
            </a:r>
            <a:r>
              <a:rPr lang="en-US" sz="2000" dirty="0" err="1">
                <a:latin typeface="+mj-lt"/>
              </a:rPr>
              <a:t>hakikatnya</a:t>
            </a:r>
            <a:r>
              <a:rPr lang="en-US" sz="2000" dirty="0">
                <a:latin typeface="+mj-lt"/>
              </a:rPr>
              <a:t> </a:t>
            </a:r>
            <a:r>
              <a:rPr lang="en-US" sz="2000" dirty="0" err="1">
                <a:latin typeface="+mj-lt"/>
              </a:rPr>
              <a:t>merupakan</a:t>
            </a:r>
            <a:r>
              <a:rPr lang="en-US" sz="2000" dirty="0">
                <a:latin typeface="+mj-lt"/>
              </a:rPr>
              <a:t> </a:t>
            </a:r>
            <a:r>
              <a:rPr lang="en-US" sz="2000" dirty="0" err="1">
                <a:latin typeface="+mj-lt"/>
              </a:rPr>
              <a:t>suatu</a:t>
            </a:r>
            <a:r>
              <a:rPr lang="en-US" sz="2000" dirty="0">
                <a:latin typeface="+mj-lt"/>
              </a:rPr>
              <a:t> </a:t>
            </a:r>
            <a:r>
              <a:rPr lang="en-US" sz="2000" dirty="0" err="1">
                <a:latin typeface="+mj-lt"/>
              </a:rPr>
              <a:t>kesatuan</a:t>
            </a:r>
            <a:r>
              <a:rPr lang="en-US" sz="2000" dirty="0">
                <a:latin typeface="+mj-lt"/>
              </a:rPr>
              <a:t> </a:t>
            </a:r>
            <a:r>
              <a:rPr lang="en-US" sz="2000" dirty="0" err="1">
                <a:latin typeface="+mj-lt"/>
              </a:rPr>
              <a:t>organis</a:t>
            </a:r>
            <a:r>
              <a:rPr lang="en-US" sz="2000" dirty="0">
                <a:latin typeface="+mj-lt"/>
              </a:rPr>
              <a:t> </a:t>
            </a:r>
            <a:r>
              <a:rPr lang="en-US" sz="2000" dirty="0" err="1">
                <a:latin typeface="+mj-lt"/>
              </a:rPr>
              <a:t>yaitu</a:t>
            </a:r>
            <a:r>
              <a:rPr lang="en-US" sz="2000" dirty="0">
                <a:latin typeface="+mj-lt"/>
              </a:rPr>
              <a:t> </a:t>
            </a:r>
            <a:r>
              <a:rPr lang="en-US" sz="2000" dirty="0" err="1">
                <a:latin typeface="+mj-lt"/>
              </a:rPr>
              <a:t>saling</a:t>
            </a:r>
            <a:r>
              <a:rPr lang="en-US" sz="2000" dirty="0">
                <a:latin typeface="+mj-lt"/>
              </a:rPr>
              <a:t> </a:t>
            </a:r>
            <a:r>
              <a:rPr lang="en-US" sz="2000" dirty="0" err="1">
                <a:latin typeface="+mj-lt"/>
              </a:rPr>
              <a:t>berkaitan</a:t>
            </a:r>
            <a:r>
              <a:rPr lang="en-US" sz="2000" dirty="0">
                <a:latin typeface="+mj-lt"/>
              </a:rPr>
              <a:t>, </a:t>
            </a:r>
            <a:r>
              <a:rPr lang="en-US" sz="2000" dirty="0" err="1">
                <a:latin typeface="+mj-lt"/>
              </a:rPr>
              <a:t>saling</a:t>
            </a:r>
            <a:r>
              <a:rPr lang="en-US" sz="2000" dirty="0">
                <a:latin typeface="+mj-lt"/>
              </a:rPr>
              <a:t> </a:t>
            </a:r>
            <a:r>
              <a:rPr lang="en-US" sz="2000" dirty="0" err="1">
                <a:latin typeface="+mj-lt"/>
              </a:rPr>
              <a:t>berhubungan</a:t>
            </a:r>
            <a:r>
              <a:rPr lang="en-US" sz="2000" dirty="0">
                <a:latin typeface="+mj-lt"/>
              </a:rPr>
              <a:t> </a:t>
            </a:r>
            <a:r>
              <a:rPr lang="en-US" sz="2000" dirty="0" err="1">
                <a:latin typeface="+mj-lt"/>
              </a:rPr>
              <a:t>bahkan</a:t>
            </a:r>
            <a:r>
              <a:rPr lang="en-US" sz="2000" dirty="0">
                <a:latin typeface="+mj-lt"/>
              </a:rPr>
              <a:t> </a:t>
            </a:r>
            <a:r>
              <a:rPr lang="en-US" sz="2000" dirty="0" err="1">
                <a:latin typeface="+mj-lt"/>
              </a:rPr>
              <a:t>saling</a:t>
            </a:r>
            <a:r>
              <a:rPr lang="en-US" sz="2000" dirty="0">
                <a:latin typeface="+mj-lt"/>
              </a:rPr>
              <a:t> </a:t>
            </a:r>
            <a:r>
              <a:rPr lang="en-US" sz="2000" dirty="0" err="1">
                <a:latin typeface="+mj-lt"/>
              </a:rPr>
              <a:t>mengkualifikasi</a:t>
            </a:r>
            <a:r>
              <a:rPr lang="en-US" sz="2000" dirty="0">
                <a:latin typeface="+mj-lt"/>
              </a:rPr>
              <a:t>. </a:t>
            </a:r>
          </a:p>
          <a:p>
            <a:pPr algn="just"/>
            <a:endParaRPr lang="en-US" sz="2000" dirty="0">
              <a:latin typeface="+mj-lt"/>
            </a:endParaRPr>
          </a:p>
        </p:txBody>
      </p:sp>
    </p:spTree>
    <p:extLst>
      <p:ext uri="{BB962C8B-B14F-4D97-AF65-F5344CB8AC3E}">
        <p14:creationId xmlns:p14="http://schemas.microsoft.com/office/powerpoint/2010/main" val="2776675358"/>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4)">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4)">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4)">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heel(4)">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heel(4)">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Sistem</a:t>
            </a:r>
            <a:r>
              <a:rPr lang="en-US" dirty="0"/>
              <a:t> </a:t>
            </a:r>
            <a:r>
              <a:rPr lang="en-US" dirty="0" err="1"/>
              <a:t>Filsafat</a:t>
            </a:r>
            <a:r>
              <a:rPr lang="en-US" dirty="0"/>
              <a:t> </a:t>
            </a:r>
            <a:r>
              <a:rPr lang="en-US" dirty="0" err="1"/>
              <a:t>Pancasila</a:t>
            </a:r>
            <a:endParaRPr lang="en-US" dirty="0"/>
          </a:p>
        </p:txBody>
      </p:sp>
      <p:sp>
        <p:nvSpPr>
          <p:cNvPr id="3" name="Content Placeholder 2"/>
          <p:cNvSpPr>
            <a:spLocks noGrp="1"/>
          </p:cNvSpPr>
          <p:nvPr>
            <p:ph idx="1"/>
          </p:nvPr>
        </p:nvSpPr>
        <p:spPr/>
        <p:txBody>
          <a:bodyPr>
            <a:normAutofit/>
          </a:bodyPr>
          <a:lstStyle/>
          <a:p>
            <a:pPr algn="just"/>
            <a:r>
              <a:rPr lang="en-US" dirty="0" err="1">
                <a:latin typeface="+mj-lt"/>
              </a:rPr>
              <a:t>Pancasila</a:t>
            </a:r>
            <a:r>
              <a:rPr lang="en-US" dirty="0">
                <a:latin typeface="+mj-lt"/>
              </a:rPr>
              <a:t> </a:t>
            </a:r>
            <a:r>
              <a:rPr lang="en-US" dirty="0" err="1">
                <a:latin typeface="+mj-lt"/>
              </a:rPr>
              <a:t>sebagai</a:t>
            </a:r>
            <a:r>
              <a:rPr lang="en-US" dirty="0">
                <a:latin typeface="+mj-lt"/>
              </a:rPr>
              <a:t> </a:t>
            </a:r>
            <a:r>
              <a:rPr lang="en-US" dirty="0" err="1">
                <a:latin typeface="+mj-lt"/>
              </a:rPr>
              <a:t>sistem</a:t>
            </a:r>
            <a:r>
              <a:rPr lang="en-US" dirty="0">
                <a:latin typeface="+mj-lt"/>
              </a:rPr>
              <a:t> </a:t>
            </a:r>
            <a:r>
              <a:rPr lang="en-US" dirty="0" err="1">
                <a:latin typeface="+mj-lt"/>
              </a:rPr>
              <a:t>filsafat</a:t>
            </a:r>
            <a:r>
              <a:rPr lang="en-US" dirty="0">
                <a:latin typeface="+mj-lt"/>
              </a:rPr>
              <a:t> </a:t>
            </a:r>
            <a:r>
              <a:rPr lang="en-US" dirty="0" err="1">
                <a:latin typeface="+mj-lt"/>
              </a:rPr>
              <a:t>memiliki</a:t>
            </a:r>
            <a:r>
              <a:rPr lang="en-US" dirty="0">
                <a:latin typeface="+mj-lt"/>
              </a:rPr>
              <a:t> </a:t>
            </a:r>
            <a:r>
              <a:rPr lang="en-US" dirty="0" err="1">
                <a:latin typeface="+mj-lt"/>
              </a:rPr>
              <a:t>ciri</a:t>
            </a:r>
            <a:r>
              <a:rPr lang="en-US" dirty="0">
                <a:latin typeface="+mj-lt"/>
              </a:rPr>
              <a:t> </a:t>
            </a:r>
            <a:r>
              <a:rPr lang="en-US" dirty="0" err="1">
                <a:latin typeface="+mj-lt"/>
              </a:rPr>
              <a:t>khas</a:t>
            </a:r>
            <a:r>
              <a:rPr lang="en-US" dirty="0">
                <a:latin typeface="+mj-lt"/>
              </a:rPr>
              <a:t> yang </a:t>
            </a:r>
            <a:r>
              <a:rPr lang="en-US" dirty="0" err="1">
                <a:latin typeface="+mj-lt"/>
              </a:rPr>
              <a:t>berbeda</a:t>
            </a:r>
            <a:r>
              <a:rPr lang="en-US" dirty="0">
                <a:latin typeface="+mj-lt"/>
              </a:rPr>
              <a:t> </a:t>
            </a:r>
            <a:r>
              <a:rPr lang="en-US" dirty="0" err="1">
                <a:latin typeface="+mj-lt"/>
              </a:rPr>
              <a:t>dengan</a:t>
            </a:r>
            <a:r>
              <a:rPr lang="en-US" dirty="0">
                <a:latin typeface="+mj-lt"/>
              </a:rPr>
              <a:t> </a:t>
            </a:r>
            <a:r>
              <a:rPr lang="en-US" dirty="0" err="1">
                <a:latin typeface="+mj-lt"/>
              </a:rPr>
              <a:t>sistem-sistem</a:t>
            </a:r>
            <a:r>
              <a:rPr lang="en-US" dirty="0">
                <a:latin typeface="+mj-lt"/>
              </a:rPr>
              <a:t> </a:t>
            </a:r>
            <a:r>
              <a:rPr lang="en-US" dirty="0" err="1">
                <a:latin typeface="+mj-lt"/>
              </a:rPr>
              <a:t>filsafat</a:t>
            </a:r>
            <a:r>
              <a:rPr lang="en-US" dirty="0">
                <a:latin typeface="+mj-lt"/>
              </a:rPr>
              <a:t> </a:t>
            </a:r>
            <a:r>
              <a:rPr lang="en-US" dirty="0" err="1">
                <a:latin typeface="+mj-lt"/>
              </a:rPr>
              <a:t>lainnya</a:t>
            </a:r>
            <a:r>
              <a:rPr lang="en-US" dirty="0">
                <a:latin typeface="+mj-lt"/>
              </a:rPr>
              <a:t>, </a:t>
            </a:r>
            <a:r>
              <a:rPr lang="en-US" dirty="0" err="1">
                <a:latin typeface="+mj-lt"/>
              </a:rPr>
              <a:t>seperti</a:t>
            </a:r>
            <a:r>
              <a:rPr lang="en-US" dirty="0">
                <a:latin typeface="+mj-lt"/>
              </a:rPr>
              <a:t> </a:t>
            </a:r>
            <a:r>
              <a:rPr lang="en-US" dirty="0" err="1">
                <a:latin typeface="+mj-lt"/>
              </a:rPr>
              <a:t>materialisme</a:t>
            </a:r>
            <a:r>
              <a:rPr lang="en-US" dirty="0">
                <a:latin typeface="+mj-lt"/>
              </a:rPr>
              <a:t>, </a:t>
            </a:r>
            <a:r>
              <a:rPr lang="en-US" dirty="0" err="1">
                <a:latin typeface="+mj-lt"/>
              </a:rPr>
              <a:t>idealisme</a:t>
            </a:r>
            <a:r>
              <a:rPr lang="en-US" dirty="0">
                <a:latin typeface="+mj-lt"/>
              </a:rPr>
              <a:t>, </a:t>
            </a:r>
            <a:r>
              <a:rPr lang="en-US" dirty="0" err="1">
                <a:latin typeface="+mj-lt"/>
              </a:rPr>
              <a:t>rasionalisme</a:t>
            </a:r>
            <a:r>
              <a:rPr lang="en-US" dirty="0">
                <a:latin typeface="+mj-lt"/>
              </a:rPr>
              <a:t>, </a:t>
            </a:r>
            <a:r>
              <a:rPr lang="en-US" dirty="0" err="1">
                <a:latin typeface="+mj-lt"/>
              </a:rPr>
              <a:t>liberalisme</a:t>
            </a:r>
            <a:r>
              <a:rPr lang="en-US" dirty="0">
                <a:latin typeface="+mj-lt"/>
              </a:rPr>
              <a:t>, </a:t>
            </a:r>
            <a:r>
              <a:rPr lang="en-US" dirty="0" err="1">
                <a:latin typeface="+mj-lt"/>
              </a:rPr>
              <a:t>komunisme</a:t>
            </a:r>
            <a:r>
              <a:rPr lang="en-US" dirty="0">
                <a:latin typeface="+mj-lt"/>
              </a:rPr>
              <a:t> </a:t>
            </a:r>
            <a:r>
              <a:rPr lang="en-US" dirty="0" err="1">
                <a:latin typeface="+mj-lt"/>
              </a:rPr>
              <a:t>dan</a:t>
            </a:r>
            <a:r>
              <a:rPr lang="en-US" dirty="0">
                <a:latin typeface="+mj-lt"/>
              </a:rPr>
              <a:t> </a:t>
            </a:r>
            <a:r>
              <a:rPr lang="en-US" dirty="0" err="1">
                <a:latin typeface="+mj-lt"/>
              </a:rPr>
              <a:t>sebagainya</a:t>
            </a:r>
            <a:r>
              <a:rPr lang="en-US" dirty="0">
                <a:latin typeface="+mj-lt"/>
              </a:rPr>
              <a:t>.</a:t>
            </a:r>
          </a:p>
          <a:p>
            <a:pPr algn="just"/>
            <a:r>
              <a:rPr lang="en-US" dirty="0" err="1">
                <a:latin typeface="+mj-lt"/>
              </a:rPr>
              <a:t>Ciri</a:t>
            </a:r>
            <a:r>
              <a:rPr lang="en-US" dirty="0">
                <a:latin typeface="+mj-lt"/>
              </a:rPr>
              <a:t> </a:t>
            </a:r>
            <a:r>
              <a:rPr lang="en-US" dirty="0" err="1">
                <a:latin typeface="+mj-lt"/>
              </a:rPr>
              <a:t>sistem</a:t>
            </a:r>
            <a:r>
              <a:rPr lang="en-US" dirty="0">
                <a:latin typeface="+mj-lt"/>
              </a:rPr>
              <a:t> </a:t>
            </a:r>
            <a:r>
              <a:rPr lang="en-US" dirty="0" err="1">
                <a:latin typeface="+mj-lt"/>
              </a:rPr>
              <a:t>filsafat</a:t>
            </a:r>
            <a:r>
              <a:rPr lang="en-US" dirty="0">
                <a:latin typeface="+mj-lt"/>
              </a:rPr>
              <a:t> </a:t>
            </a:r>
            <a:r>
              <a:rPr lang="en-US" dirty="0" err="1">
                <a:latin typeface="+mj-lt"/>
              </a:rPr>
              <a:t>Pancasila</a:t>
            </a:r>
            <a:r>
              <a:rPr lang="en-US" dirty="0">
                <a:latin typeface="+mj-lt"/>
              </a:rPr>
              <a:t> </a:t>
            </a:r>
            <a:r>
              <a:rPr lang="en-US" dirty="0" err="1">
                <a:latin typeface="+mj-lt"/>
              </a:rPr>
              <a:t>adalah</a:t>
            </a:r>
            <a:r>
              <a:rPr lang="en-US" dirty="0">
                <a:latin typeface="+mj-lt"/>
              </a:rPr>
              <a:t> </a:t>
            </a:r>
            <a:r>
              <a:rPr lang="en-US" dirty="0" err="1">
                <a:latin typeface="+mj-lt"/>
              </a:rPr>
              <a:t>satu</a:t>
            </a:r>
            <a:r>
              <a:rPr lang="en-US" dirty="0">
                <a:latin typeface="+mj-lt"/>
              </a:rPr>
              <a:t> </a:t>
            </a:r>
            <a:r>
              <a:rPr lang="en-US" dirty="0" err="1">
                <a:latin typeface="+mj-lt"/>
              </a:rPr>
              <a:t>kesatuan</a:t>
            </a:r>
            <a:r>
              <a:rPr lang="en-US" dirty="0">
                <a:latin typeface="+mj-lt"/>
              </a:rPr>
              <a:t> yang </a:t>
            </a:r>
            <a:r>
              <a:rPr lang="en-US" dirty="0" err="1">
                <a:latin typeface="+mj-lt"/>
              </a:rPr>
              <a:t>bulat</a:t>
            </a:r>
            <a:r>
              <a:rPr lang="en-US" dirty="0">
                <a:latin typeface="+mj-lt"/>
              </a:rPr>
              <a:t> </a:t>
            </a:r>
            <a:r>
              <a:rPr lang="en-US" dirty="0" err="1">
                <a:latin typeface="+mj-lt"/>
              </a:rPr>
              <a:t>dan</a:t>
            </a:r>
            <a:r>
              <a:rPr lang="en-US" dirty="0">
                <a:latin typeface="+mj-lt"/>
              </a:rPr>
              <a:t> </a:t>
            </a:r>
            <a:r>
              <a:rPr lang="en-US" dirty="0" err="1">
                <a:latin typeface="+mj-lt"/>
              </a:rPr>
              <a:t>utuh</a:t>
            </a:r>
            <a:r>
              <a:rPr lang="en-US" dirty="0">
                <a:latin typeface="+mj-lt"/>
              </a:rPr>
              <a:t> </a:t>
            </a:r>
            <a:r>
              <a:rPr lang="en-US" dirty="0" err="1">
                <a:latin typeface="+mj-lt"/>
              </a:rPr>
              <a:t>serta</a:t>
            </a:r>
            <a:r>
              <a:rPr lang="en-US" dirty="0">
                <a:latin typeface="+mj-lt"/>
              </a:rPr>
              <a:t> </a:t>
            </a:r>
            <a:r>
              <a:rPr lang="en-US" dirty="0" err="1">
                <a:latin typeface="+mj-lt"/>
              </a:rPr>
              <a:t>memiliki</a:t>
            </a:r>
            <a:r>
              <a:rPr lang="en-US" dirty="0">
                <a:latin typeface="+mj-lt"/>
              </a:rPr>
              <a:t> </a:t>
            </a:r>
            <a:r>
              <a:rPr lang="en-US" dirty="0" err="1">
                <a:latin typeface="+mj-lt"/>
              </a:rPr>
              <a:t>keterkaitan</a:t>
            </a:r>
            <a:r>
              <a:rPr lang="en-US" dirty="0">
                <a:latin typeface="+mj-lt"/>
              </a:rPr>
              <a:t> </a:t>
            </a:r>
            <a:r>
              <a:rPr lang="en-US" dirty="0" err="1">
                <a:latin typeface="+mj-lt"/>
              </a:rPr>
              <a:t>antara</a:t>
            </a:r>
            <a:r>
              <a:rPr lang="en-US" dirty="0">
                <a:latin typeface="+mj-lt"/>
              </a:rPr>
              <a:t> </a:t>
            </a:r>
            <a:r>
              <a:rPr lang="en-US" dirty="0" err="1">
                <a:latin typeface="+mj-lt"/>
              </a:rPr>
              <a:t>satu</a:t>
            </a:r>
            <a:r>
              <a:rPr lang="en-US" dirty="0">
                <a:latin typeface="+mj-lt"/>
              </a:rPr>
              <a:t> </a:t>
            </a:r>
            <a:r>
              <a:rPr lang="en-US" dirty="0" err="1">
                <a:latin typeface="+mj-lt"/>
              </a:rPr>
              <a:t>sila</a:t>
            </a:r>
            <a:r>
              <a:rPr lang="en-US" dirty="0">
                <a:latin typeface="+mj-lt"/>
              </a:rPr>
              <a:t> </a:t>
            </a:r>
            <a:r>
              <a:rPr lang="en-US" dirty="0" err="1">
                <a:latin typeface="+mj-lt"/>
              </a:rPr>
              <a:t>dengan</a:t>
            </a:r>
            <a:r>
              <a:rPr lang="en-US" dirty="0">
                <a:latin typeface="+mj-lt"/>
              </a:rPr>
              <a:t> </a:t>
            </a:r>
            <a:r>
              <a:rPr lang="en-US" dirty="0" err="1">
                <a:latin typeface="+mj-lt"/>
              </a:rPr>
              <a:t>lainnya</a:t>
            </a:r>
            <a:r>
              <a:rPr lang="en-US" dirty="0">
                <a:latin typeface="+mj-lt"/>
              </a:rPr>
              <a:t> yang </a:t>
            </a:r>
            <a:r>
              <a:rPr lang="en-US" dirty="0" err="1">
                <a:latin typeface="+mj-lt"/>
              </a:rPr>
              <a:t>tidak</a:t>
            </a:r>
            <a:r>
              <a:rPr lang="en-US" dirty="0">
                <a:latin typeface="+mj-lt"/>
              </a:rPr>
              <a:t> </a:t>
            </a:r>
            <a:r>
              <a:rPr lang="en-US" dirty="0" err="1">
                <a:latin typeface="+mj-lt"/>
              </a:rPr>
              <a:t>terpisah-pisah</a:t>
            </a:r>
            <a:r>
              <a:rPr lang="en-US" dirty="0">
                <a:latin typeface="+mj-lt"/>
              </a:rPr>
              <a:t>.</a:t>
            </a:r>
          </a:p>
        </p:txBody>
      </p:sp>
    </p:spTree>
    <p:extLst>
      <p:ext uri="{BB962C8B-B14F-4D97-AF65-F5344CB8AC3E}">
        <p14:creationId xmlns:p14="http://schemas.microsoft.com/office/powerpoint/2010/main" val="1745920426"/>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err="1"/>
              <a:t>Sistem</a:t>
            </a:r>
            <a:r>
              <a:rPr lang="en-US" sz="4400" dirty="0"/>
              <a:t> </a:t>
            </a:r>
            <a:r>
              <a:rPr lang="en-US" sz="4400" dirty="0" err="1"/>
              <a:t>Filsafat</a:t>
            </a:r>
            <a:r>
              <a:rPr lang="en-US" sz="4400" dirty="0"/>
              <a:t> </a:t>
            </a:r>
            <a:r>
              <a:rPr lang="en-US" sz="4400" dirty="0" err="1"/>
              <a:t>Pancasila</a:t>
            </a:r>
            <a:endParaRPr lang="en-US" sz="4400" dirty="0"/>
          </a:p>
        </p:txBody>
      </p:sp>
      <p:sp>
        <p:nvSpPr>
          <p:cNvPr id="3" name="Content Placeholder 2"/>
          <p:cNvSpPr>
            <a:spLocks noGrp="1"/>
          </p:cNvSpPr>
          <p:nvPr>
            <p:ph idx="1"/>
          </p:nvPr>
        </p:nvSpPr>
        <p:spPr/>
        <p:txBody>
          <a:bodyPr>
            <a:normAutofit/>
          </a:bodyPr>
          <a:lstStyle/>
          <a:p>
            <a:pPr algn="just"/>
            <a:r>
              <a:rPr lang="en-US" sz="2000" dirty="0" err="1">
                <a:latin typeface="+mj-lt"/>
              </a:rPr>
              <a:t>Susunan</a:t>
            </a:r>
            <a:r>
              <a:rPr lang="en-US" sz="2000" dirty="0">
                <a:latin typeface="+mj-lt"/>
              </a:rPr>
              <a:t> </a:t>
            </a:r>
            <a:r>
              <a:rPr lang="en-US" sz="2000" dirty="0" err="1">
                <a:latin typeface="+mj-lt"/>
              </a:rPr>
              <a:t>Pancasila</a:t>
            </a:r>
            <a:r>
              <a:rPr lang="en-US" sz="2000" dirty="0">
                <a:latin typeface="+mj-lt"/>
              </a:rPr>
              <a:t> </a:t>
            </a:r>
            <a:r>
              <a:rPr lang="en-US" sz="2000" dirty="0" err="1">
                <a:latin typeface="+mj-lt"/>
              </a:rPr>
              <a:t>sebagai</a:t>
            </a:r>
            <a:r>
              <a:rPr lang="en-US" sz="2000" dirty="0">
                <a:latin typeface="+mj-lt"/>
              </a:rPr>
              <a:t> </a:t>
            </a:r>
            <a:r>
              <a:rPr lang="en-US" sz="2000" dirty="0" err="1">
                <a:latin typeface="+mj-lt"/>
              </a:rPr>
              <a:t>suatu</a:t>
            </a:r>
            <a:r>
              <a:rPr lang="en-US" sz="2000" dirty="0">
                <a:latin typeface="+mj-lt"/>
              </a:rPr>
              <a:t> </a:t>
            </a:r>
            <a:r>
              <a:rPr lang="en-US" sz="2000" dirty="0" err="1">
                <a:latin typeface="+mj-lt"/>
              </a:rPr>
              <a:t>sistem</a:t>
            </a:r>
            <a:r>
              <a:rPr lang="en-US" sz="2000" dirty="0">
                <a:latin typeface="+mj-lt"/>
              </a:rPr>
              <a:t> yang </a:t>
            </a:r>
            <a:r>
              <a:rPr lang="en-US" sz="2000" dirty="0" err="1">
                <a:latin typeface="+mj-lt"/>
              </a:rPr>
              <a:t>bulat</a:t>
            </a:r>
            <a:r>
              <a:rPr lang="en-US" sz="2000" dirty="0">
                <a:latin typeface="+mj-lt"/>
              </a:rPr>
              <a:t> </a:t>
            </a:r>
            <a:r>
              <a:rPr lang="en-US" sz="2000" dirty="0" err="1">
                <a:latin typeface="+mj-lt"/>
              </a:rPr>
              <a:t>dan</a:t>
            </a:r>
            <a:r>
              <a:rPr lang="en-US" sz="2000" dirty="0">
                <a:latin typeface="+mj-lt"/>
              </a:rPr>
              <a:t> </a:t>
            </a:r>
            <a:r>
              <a:rPr lang="en-US" sz="2000" dirty="0" err="1">
                <a:latin typeface="+mj-lt"/>
              </a:rPr>
              <a:t>utuh</a:t>
            </a:r>
            <a:r>
              <a:rPr lang="en-US" sz="2000" dirty="0">
                <a:latin typeface="+mj-lt"/>
              </a:rPr>
              <a:t> </a:t>
            </a:r>
            <a:r>
              <a:rPr lang="en-US" sz="2000" dirty="0" err="1">
                <a:latin typeface="+mj-lt"/>
              </a:rPr>
              <a:t>dapat</a:t>
            </a:r>
            <a:r>
              <a:rPr lang="en-US" sz="2000" dirty="0">
                <a:latin typeface="+mj-lt"/>
              </a:rPr>
              <a:t> </a:t>
            </a:r>
            <a:r>
              <a:rPr lang="en-US" sz="2000" dirty="0" err="1">
                <a:latin typeface="+mj-lt"/>
              </a:rPr>
              <a:t>digambarkan</a:t>
            </a:r>
            <a:r>
              <a:rPr lang="en-US" sz="2000" dirty="0">
                <a:latin typeface="+mj-lt"/>
              </a:rPr>
              <a:t> </a:t>
            </a:r>
            <a:r>
              <a:rPr lang="en-US" sz="2000" dirty="0" err="1">
                <a:latin typeface="+mj-lt"/>
              </a:rPr>
              <a:t>sebagai</a:t>
            </a:r>
            <a:r>
              <a:rPr lang="en-US" sz="2000" dirty="0">
                <a:latin typeface="+mj-lt"/>
              </a:rPr>
              <a:t> </a:t>
            </a:r>
            <a:r>
              <a:rPr lang="en-US" sz="2000" dirty="0" err="1">
                <a:latin typeface="+mj-lt"/>
              </a:rPr>
              <a:t>berikut</a:t>
            </a:r>
            <a:r>
              <a:rPr lang="en-US" sz="2000" dirty="0">
                <a:latin typeface="+mj-lt"/>
              </a:rPr>
              <a:t> :</a:t>
            </a:r>
          </a:p>
          <a:p>
            <a:pPr marL="800100" lvl="3" indent="-342900" algn="just"/>
            <a:r>
              <a:rPr lang="en-US" sz="2000" dirty="0" err="1">
                <a:latin typeface="+mj-lt"/>
              </a:rPr>
              <a:t>Sila</a:t>
            </a:r>
            <a:r>
              <a:rPr lang="en-US" sz="2000" dirty="0">
                <a:latin typeface="+mj-lt"/>
              </a:rPr>
              <a:t> 1, </a:t>
            </a:r>
            <a:r>
              <a:rPr lang="en-US" sz="2000" dirty="0" err="1">
                <a:latin typeface="+mj-lt"/>
              </a:rPr>
              <a:t>meliputi</a:t>
            </a:r>
            <a:r>
              <a:rPr lang="en-US" sz="2000" dirty="0">
                <a:latin typeface="+mj-lt"/>
              </a:rPr>
              <a:t>, </a:t>
            </a:r>
            <a:r>
              <a:rPr lang="en-US" sz="2000" dirty="0" err="1">
                <a:latin typeface="+mj-lt"/>
              </a:rPr>
              <a:t>mendasari</a:t>
            </a:r>
            <a:r>
              <a:rPr lang="en-US" sz="2000" dirty="0">
                <a:latin typeface="+mj-lt"/>
              </a:rPr>
              <a:t> </a:t>
            </a:r>
            <a:r>
              <a:rPr lang="en-US" sz="2000" dirty="0" err="1">
                <a:latin typeface="+mj-lt"/>
              </a:rPr>
              <a:t>dan</a:t>
            </a:r>
            <a:r>
              <a:rPr lang="en-US" sz="2000" dirty="0">
                <a:latin typeface="+mj-lt"/>
              </a:rPr>
              <a:t> </a:t>
            </a:r>
            <a:r>
              <a:rPr lang="en-US" sz="2000" dirty="0" err="1">
                <a:latin typeface="+mj-lt"/>
              </a:rPr>
              <a:t>menjiwai</a:t>
            </a:r>
            <a:r>
              <a:rPr lang="en-US" sz="2000" dirty="0">
                <a:latin typeface="+mj-lt"/>
              </a:rPr>
              <a:t> </a:t>
            </a:r>
            <a:r>
              <a:rPr lang="en-US" sz="2000" dirty="0" err="1">
                <a:latin typeface="+mj-lt"/>
              </a:rPr>
              <a:t>sila</a:t>
            </a:r>
            <a:r>
              <a:rPr lang="en-US" sz="2000" dirty="0">
                <a:latin typeface="+mj-lt"/>
              </a:rPr>
              <a:t> 2,</a:t>
            </a:r>
            <a:r>
              <a:rPr lang="id-ID" sz="2000" dirty="0">
                <a:latin typeface="+mj-lt"/>
              </a:rPr>
              <a:t> </a:t>
            </a:r>
            <a:r>
              <a:rPr lang="en-US" sz="2000" dirty="0">
                <a:latin typeface="+mj-lt"/>
              </a:rPr>
              <a:t>3,</a:t>
            </a:r>
            <a:r>
              <a:rPr lang="id-ID" sz="2000" dirty="0">
                <a:latin typeface="+mj-lt"/>
              </a:rPr>
              <a:t> </a:t>
            </a:r>
            <a:r>
              <a:rPr lang="en-US" sz="2000" dirty="0">
                <a:latin typeface="+mj-lt"/>
              </a:rPr>
              <a:t>4 </a:t>
            </a:r>
            <a:r>
              <a:rPr lang="en-US" sz="2000" dirty="0" err="1">
                <a:latin typeface="+mj-lt"/>
              </a:rPr>
              <a:t>dan</a:t>
            </a:r>
            <a:r>
              <a:rPr lang="en-US" sz="2000" dirty="0">
                <a:latin typeface="+mj-lt"/>
              </a:rPr>
              <a:t> 5;</a:t>
            </a:r>
          </a:p>
          <a:p>
            <a:pPr marL="800100" lvl="3" indent="-342900" algn="just"/>
            <a:r>
              <a:rPr lang="en-US" sz="2000" dirty="0" err="1">
                <a:latin typeface="+mj-lt"/>
              </a:rPr>
              <a:t>Sila</a:t>
            </a:r>
            <a:r>
              <a:rPr lang="en-US" sz="2000" dirty="0">
                <a:latin typeface="+mj-lt"/>
              </a:rPr>
              <a:t> 2, </a:t>
            </a:r>
            <a:r>
              <a:rPr lang="en-US" sz="2000" dirty="0" err="1">
                <a:latin typeface="+mj-lt"/>
              </a:rPr>
              <a:t>diliputi</a:t>
            </a:r>
            <a:r>
              <a:rPr lang="en-US" sz="2000" dirty="0">
                <a:latin typeface="+mj-lt"/>
              </a:rPr>
              <a:t>, </a:t>
            </a:r>
            <a:r>
              <a:rPr lang="en-US" sz="2000" dirty="0" err="1">
                <a:latin typeface="+mj-lt"/>
              </a:rPr>
              <a:t>didasari</a:t>
            </a:r>
            <a:r>
              <a:rPr lang="en-US" sz="2000" dirty="0">
                <a:latin typeface="+mj-lt"/>
              </a:rPr>
              <a:t>, </a:t>
            </a:r>
            <a:r>
              <a:rPr lang="en-US" sz="2000" dirty="0" err="1">
                <a:latin typeface="+mj-lt"/>
              </a:rPr>
              <a:t>dijiwai</a:t>
            </a:r>
            <a:r>
              <a:rPr lang="en-US" sz="2000" dirty="0">
                <a:latin typeface="+mj-lt"/>
              </a:rPr>
              <a:t> </a:t>
            </a:r>
            <a:r>
              <a:rPr lang="en-US" sz="2000" dirty="0" err="1">
                <a:latin typeface="+mj-lt"/>
              </a:rPr>
              <a:t>sila</a:t>
            </a:r>
            <a:r>
              <a:rPr lang="en-US" sz="2000" dirty="0">
                <a:latin typeface="+mj-lt"/>
              </a:rPr>
              <a:t> 1 </a:t>
            </a:r>
            <a:r>
              <a:rPr lang="en-US" sz="2000" dirty="0" err="1">
                <a:latin typeface="+mj-lt"/>
              </a:rPr>
              <a:t>dan</a:t>
            </a:r>
            <a:r>
              <a:rPr lang="en-US" sz="2000" dirty="0">
                <a:latin typeface="+mj-lt"/>
              </a:rPr>
              <a:t> </a:t>
            </a:r>
            <a:r>
              <a:rPr lang="en-US" sz="2000" dirty="0" err="1">
                <a:latin typeface="+mj-lt"/>
              </a:rPr>
              <a:t>mendasari</a:t>
            </a:r>
            <a:r>
              <a:rPr lang="en-US" sz="2000" dirty="0">
                <a:latin typeface="+mj-lt"/>
              </a:rPr>
              <a:t> </a:t>
            </a:r>
            <a:r>
              <a:rPr lang="en-US" sz="2000" dirty="0" err="1">
                <a:latin typeface="+mj-lt"/>
              </a:rPr>
              <a:t>dan</a:t>
            </a:r>
            <a:r>
              <a:rPr lang="en-US" sz="2000" dirty="0">
                <a:latin typeface="+mj-lt"/>
              </a:rPr>
              <a:t> </a:t>
            </a:r>
            <a:r>
              <a:rPr lang="en-US" sz="2000" dirty="0" err="1">
                <a:latin typeface="+mj-lt"/>
              </a:rPr>
              <a:t>menjiwai</a:t>
            </a:r>
            <a:r>
              <a:rPr lang="en-US" sz="2000" dirty="0">
                <a:latin typeface="+mj-lt"/>
              </a:rPr>
              <a:t> </a:t>
            </a:r>
            <a:r>
              <a:rPr lang="en-US" sz="2000" dirty="0" err="1">
                <a:latin typeface="+mj-lt"/>
              </a:rPr>
              <a:t>sila</a:t>
            </a:r>
            <a:r>
              <a:rPr lang="en-US" sz="2000" dirty="0">
                <a:latin typeface="+mj-lt"/>
              </a:rPr>
              <a:t> 3, 4 </a:t>
            </a:r>
            <a:r>
              <a:rPr lang="en-US" sz="2000" dirty="0" err="1">
                <a:latin typeface="+mj-lt"/>
              </a:rPr>
              <a:t>dan</a:t>
            </a:r>
            <a:r>
              <a:rPr lang="en-US" sz="2000" dirty="0">
                <a:latin typeface="+mj-lt"/>
              </a:rPr>
              <a:t> 5;</a:t>
            </a:r>
          </a:p>
          <a:p>
            <a:pPr marL="800100" lvl="3" indent="-342900" algn="just"/>
            <a:r>
              <a:rPr lang="en-US" sz="2000" dirty="0" err="1">
                <a:latin typeface="+mj-lt"/>
              </a:rPr>
              <a:t>Sila</a:t>
            </a:r>
            <a:r>
              <a:rPr lang="en-US" sz="2000" dirty="0">
                <a:latin typeface="+mj-lt"/>
              </a:rPr>
              <a:t> 3, </a:t>
            </a:r>
            <a:r>
              <a:rPr lang="en-US" sz="2000" dirty="0" err="1">
                <a:latin typeface="+mj-lt"/>
              </a:rPr>
              <a:t>diliputi</a:t>
            </a:r>
            <a:r>
              <a:rPr lang="en-US" sz="2000" dirty="0">
                <a:latin typeface="+mj-lt"/>
              </a:rPr>
              <a:t>, </a:t>
            </a:r>
            <a:r>
              <a:rPr lang="en-US" sz="2000" dirty="0" err="1">
                <a:latin typeface="+mj-lt"/>
              </a:rPr>
              <a:t>didasari</a:t>
            </a:r>
            <a:r>
              <a:rPr lang="en-US" sz="2000" dirty="0">
                <a:latin typeface="+mj-lt"/>
              </a:rPr>
              <a:t>, </a:t>
            </a:r>
            <a:r>
              <a:rPr lang="en-US" sz="2000" dirty="0" err="1">
                <a:latin typeface="+mj-lt"/>
              </a:rPr>
              <a:t>dijiwai</a:t>
            </a:r>
            <a:r>
              <a:rPr lang="en-US" sz="2000" dirty="0">
                <a:latin typeface="+mj-lt"/>
              </a:rPr>
              <a:t> </a:t>
            </a:r>
            <a:r>
              <a:rPr lang="en-US" sz="2000" dirty="0" err="1">
                <a:latin typeface="+mj-lt"/>
              </a:rPr>
              <a:t>sila</a:t>
            </a:r>
            <a:r>
              <a:rPr lang="en-US" sz="2000" dirty="0">
                <a:latin typeface="+mj-lt"/>
              </a:rPr>
              <a:t> 1, 2 </a:t>
            </a:r>
            <a:r>
              <a:rPr lang="en-US" sz="2000" dirty="0" err="1">
                <a:latin typeface="+mj-lt"/>
              </a:rPr>
              <a:t>dan</a:t>
            </a:r>
            <a:r>
              <a:rPr lang="en-US" sz="2000" dirty="0">
                <a:latin typeface="+mj-lt"/>
              </a:rPr>
              <a:t> </a:t>
            </a:r>
            <a:r>
              <a:rPr lang="en-US" sz="2000" dirty="0" err="1">
                <a:latin typeface="+mj-lt"/>
              </a:rPr>
              <a:t>mendasari</a:t>
            </a:r>
            <a:r>
              <a:rPr lang="en-US" sz="2000" dirty="0">
                <a:latin typeface="+mj-lt"/>
              </a:rPr>
              <a:t> </a:t>
            </a:r>
            <a:r>
              <a:rPr lang="en-US" sz="2000" dirty="0" err="1">
                <a:latin typeface="+mj-lt"/>
              </a:rPr>
              <a:t>dan</a:t>
            </a:r>
            <a:r>
              <a:rPr lang="en-US" sz="2000" dirty="0">
                <a:latin typeface="+mj-lt"/>
              </a:rPr>
              <a:t> </a:t>
            </a:r>
            <a:r>
              <a:rPr lang="en-US" sz="2000" dirty="0" err="1">
                <a:latin typeface="+mj-lt"/>
              </a:rPr>
              <a:t>menjiwai</a:t>
            </a:r>
            <a:r>
              <a:rPr lang="en-US" sz="2000" dirty="0">
                <a:latin typeface="+mj-lt"/>
              </a:rPr>
              <a:t> </a:t>
            </a:r>
            <a:r>
              <a:rPr lang="en-US" sz="2000" dirty="0" err="1">
                <a:latin typeface="+mj-lt"/>
              </a:rPr>
              <a:t>sila</a:t>
            </a:r>
            <a:r>
              <a:rPr lang="en-US" sz="2000" dirty="0">
                <a:latin typeface="+mj-lt"/>
              </a:rPr>
              <a:t> 4, 5;</a:t>
            </a:r>
          </a:p>
          <a:p>
            <a:pPr marL="800100" lvl="3" indent="-342900" algn="just"/>
            <a:r>
              <a:rPr lang="en-US" sz="2000" dirty="0" err="1">
                <a:latin typeface="+mj-lt"/>
              </a:rPr>
              <a:t>Sila</a:t>
            </a:r>
            <a:r>
              <a:rPr lang="en-US" sz="2000" dirty="0">
                <a:latin typeface="+mj-lt"/>
              </a:rPr>
              <a:t> 4, </a:t>
            </a:r>
            <a:r>
              <a:rPr lang="en-US" sz="2000" dirty="0" err="1">
                <a:latin typeface="+mj-lt"/>
              </a:rPr>
              <a:t>diliputi</a:t>
            </a:r>
            <a:r>
              <a:rPr lang="en-US" sz="2000" dirty="0">
                <a:latin typeface="+mj-lt"/>
              </a:rPr>
              <a:t>, </a:t>
            </a:r>
            <a:r>
              <a:rPr lang="en-US" sz="2000" dirty="0" err="1">
                <a:latin typeface="+mj-lt"/>
              </a:rPr>
              <a:t>didasari</a:t>
            </a:r>
            <a:r>
              <a:rPr lang="en-US" sz="2000" dirty="0">
                <a:latin typeface="+mj-lt"/>
              </a:rPr>
              <a:t>, </a:t>
            </a:r>
            <a:r>
              <a:rPr lang="en-US" sz="2000" dirty="0" err="1">
                <a:latin typeface="+mj-lt"/>
              </a:rPr>
              <a:t>dijiwai</a:t>
            </a:r>
            <a:r>
              <a:rPr lang="en-US" sz="2000" dirty="0">
                <a:latin typeface="+mj-lt"/>
              </a:rPr>
              <a:t> </a:t>
            </a:r>
            <a:r>
              <a:rPr lang="en-US" sz="2000" dirty="0" err="1">
                <a:latin typeface="+mj-lt"/>
              </a:rPr>
              <a:t>sila</a:t>
            </a:r>
            <a:r>
              <a:rPr lang="en-US" sz="2000" dirty="0">
                <a:latin typeface="+mj-lt"/>
              </a:rPr>
              <a:t> 1,</a:t>
            </a:r>
            <a:r>
              <a:rPr lang="id-ID" sz="2000" dirty="0">
                <a:latin typeface="+mj-lt"/>
              </a:rPr>
              <a:t> </a:t>
            </a:r>
            <a:r>
              <a:rPr lang="en-US" sz="2000" dirty="0">
                <a:latin typeface="+mj-lt"/>
              </a:rPr>
              <a:t>2,</a:t>
            </a:r>
            <a:r>
              <a:rPr lang="id-ID" sz="2000" dirty="0">
                <a:latin typeface="+mj-lt"/>
              </a:rPr>
              <a:t> </a:t>
            </a:r>
            <a:r>
              <a:rPr lang="en-US" sz="2000" dirty="0">
                <a:latin typeface="+mj-lt"/>
              </a:rPr>
              <a:t>3 </a:t>
            </a:r>
            <a:r>
              <a:rPr lang="en-US" sz="2000" dirty="0" err="1">
                <a:latin typeface="+mj-lt"/>
              </a:rPr>
              <a:t>dan</a:t>
            </a:r>
            <a:r>
              <a:rPr lang="en-US" sz="2000" dirty="0">
                <a:latin typeface="+mj-lt"/>
              </a:rPr>
              <a:t> </a:t>
            </a:r>
            <a:r>
              <a:rPr lang="en-US" sz="2000" dirty="0" err="1">
                <a:latin typeface="+mj-lt"/>
              </a:rPr>
              <a:t>mendasari</a:t>
            </a:r>
            <a:r>
              <a:rPr lang="en-US" sz="2000" dirty="0">
                <a:latin typeface="+mj-lt"/>
              </a:rPr>
              <a:t> </a:t>
            </a:r>
            <a:r>
              <a:rPr lang="en-US" sz="2000" dirty="0" err="1">
                <a:latin typeface="+mj-lt"/>
              </a:rPr>
              <a:t>dan</a:t>
            </a:r>
            <a:r>
              <a:rPr lang="en-US" sz="2000" dirty="0">
                <a:latin typeface="+mj-lt"/>
              </a:rPr>
              <a:t> </a:t>
            </a:r>
            <a:r>
              <a:rPr lang="en-US" sz="2000" dirty="0" err="1">
                <a:latin typeface="+mj-lt"/>
              </a:rPr>
              <a:t>menjiwai</a:t>
            </a:r>
            <a:r>
              <a:rPr lang="en-US" sz="2000" dirty="0">
                <a:latin typeface="+mj-lt"/>
              </a:rPr>
              <a:t> </a:t>
            </a:r>
            <a:r>
              <a:rPr lang="en-US" sz="2000" dirty="0" err="1">
                <a:latin typeface="+mj-lt"/>
              </a:rPr>
              <a:t>sila</a:t>
            </a:r>
            <a:r>
              <a:rPr lang="en-US" sz="2000" dirty="0">
                <a:latin typeface="+mj-lt"/>
              </a:rPr>
              <a:t> 5;</a:t>
            </a:r>
          </a:p>
          <a:p>
            <a:pPr marL="800100" lvl="3" indent="-342900" algn="just"/>
            <a:r>
              <a:rPr lang="en-US" sz="2000" dirty="0" err="1">
                <a:latin typeface="+mj-lt"/>
              </a:rPr>
              <a:t>Sila</a:t>
            </a:r>
            <a:r>
              <a:rPr lang="en-US" sz="2000" dirty="0">
                <a:latin typeface="+mj-lt"/>
              </a:rPr>
              <a:t> 5, </a:t>
            </a:r>
            <a:r>
              <a:rPr lang="en-US" sz="2000" dirty="0" err="1">
                <a:latin typeface="+mj-lt"/>
              </a:rPr>
              <a:t>diliputi</a:t>
            </a:r>
            <a:r>
              <a:rPr lang="en-US" sz="2000" dirty="0">
                <a:latin typeface="+mj-lt"/>
              </a:rPr>
              <a:t>, </a:t>
            </a:r>
            <a:r>
              <a:rPr lang="en-US" sz="2000" dirty="0" err="1">
                <a:latin typeface="+mj-lt"/>
              </a:rPr>
              <a:t>didasari</a:t>
            </a:r>
            <a:r>
              <a:rPr lang="en-US" sz="2000" dirty="0">
                <a:latin typeface="+mj-lt"/>
              </a:rPr>
              <a:t>, </a:t>
            </a:r>
            <a:r>
              <a:rPr lang="en-US" sz="2000" dirty="0" err="1">
                <a:latin typeface="+mj-lt"/>
              </a:rPr>
              <a:t>dijiwai</a:t>
            </a:r>
            <a:r>
              <a:rPr lang="en-US" sz="2000" dirty="0">
                <a:latin typeface="+mj-lt"/>
              </a:rPr>
              <a:t> </a:t>
            </a:r>
            <a:r>
              <a:rPr lang="en-US" sz="2000" dirty="0" err="1">
                <a:latin typeface="+mj-lt"/>
              </a:rPr>
              <a:t>sila</a:t>
            </a:r>
            <a:r>
              <a:rPr lang="en-US" sz="2000" dirty="0">
                <a:latin typeface="+mj-lt"/>
              </a:rPr>
              <a:t> 1,</a:t>
            </a:r>
            <a:r>
              <a:rPr lang="id-ID" sz="2000" dirty="0">
                <a:latin typeface="+mj-lt"/>
              </a:rPr>
              <a:t> </a:t>
            </a:r>
            <a:r>
              <a:rPr lang="en-US" sz="2000" dirty="0">
                <a:latin typeface="+mj-lt"/>
              </a:rPr>
              <a:t>2,</a:t>
            </a:r>
            <a:r>
              <a:rPr lang="id-ID" sz="2000" dirty="0">
                <a:latin typeface="+mj-lt"/>
              </a:rPr>
              <a:t> </a:t>
            </a:r>
            <a:r>
              <a:rPr lang="en-US" sz="2000" dirty="0">
                <a:latin typeface="+mj-lt"/>
              </a:rPr>
              <a:t>3,</a:t>
            </a:r>
            <a:r>
              <a:rPr lang="id-ID" sz="2000" dirty="0">
                <a:latin typeface="+mj-lt"/>
              </a:rPr>
              <a:t> </a:t>
            </a:r>
            <a:r>
              <a:rPr lang="en-US" sz="2000" dirty="0">
                <a:latin typeface="+mj-lt"/>
              </a:rPr>
              <a:t>4.</a:t>
            </a:r>
          </a:p>
          <a:p>
            <a:pPr algn="just"/>
            <a:endParaRPr lang="en-US" sz="2000" dirty="0">
              <a:latin typeface="+mj-lt"/>
            </a:endParaRPr>
          </a:p>
        </p:txBody>
      </p:sp>
    </p:spTree>
    <p:extLst>
      <p:ext uri="{BB962C8B-B14F-4D97-AF65-F5344CB8AC3E}">
        <p14:creationId xmlns:p14="http://schemas.microsoft.com/office/powerpoint/2010/main" val="3425815367"/>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
                                            <p:txEl>
                                              <p:pRg st="0" end="0"/>
                                            </p:txEl>
                                          </p:spTgt>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7" dur="1000" fill="hold"/>
                                        <p:tgtEl>
                                          <p:spTgt spid="3">
                                            <p:txEl>
                                              <p:pRg st="1" end="1"/>
                                            </p:txEl>
                                          </p:spTgt>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1" dur="1000" fill="hold"/>
                                        <p:tgtEl>
                                          <p:spTgt spid="3">
                                            <p:txEl>
                                              <p:pRg st="2" end="2"/>
                                            </p:txEl>
                                          </p:spTgt>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5" dur="1000" fill="hold"/>
                                        <p:tgtEl>
                                          <p:spTgt spid="3">
                                            <p:txEl>
                                              <p:pRg st="3" end="3"/>
                                            </p:txEl>
                                          </p:spTgt>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9" dur="1000" fill="hold"/>
                                        <p:tgtEl>
                                          <p:spTgt spid="3">
                                            <p:txEl>
                                              <p:pRg st="4" end="4"/>
                                            </p:txEl>
                                          </p:spTgt>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3"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PERTANYAAN</a:t>
            </a:r>
          </a:p>
        </p:txBody>
      </p:sp>
      <p:sp>
        <p:nvSpPr>
          <p:cNvPr id="3" name="Content Placeholder 2"/>
          <p:cNvSpPr>
            <a:spLocks noGrp="1"/>
          </p:cNvSpPr>
          <p:nvPr>
            <p:ph idx="1"/>
          </p:nvPr>
        </p:nvSpPr>
        <p:spPr/>
        <p:txBody>
          <a:bodyPr>
            <a:normAutofit fontScale="92500" lnSpcReduction="10000"/>
          </a:bodyPr>
          <a:lstStyle/>
          <a:p>
            <a:pPr marL="114300" indent="0" algn="ctr">
              <a:buNone/>
            </a:pPr>
            <a:r>
              <a:rPr lang="en-US" b="1" dirty="0"/>
              <a:t>MASIHKAH PANCASILA DIANGGAP, DIPERCAYA, DIYAKINI SEBAGAI IDEOLOGI, FALSAFAH DAN PANDANGAN  BANGSA YANG PALING SESUAI BAGI BANGSA INDONESIA?</a:t>
            </a:r>
          </a:p>
          <a:p>
            <a:pPr marL="114300" indent="0" algn="ctr">
              <a:buNone/>
            </a:pPr>
            <a:endParaRPr lang="id-ID" b="1" dirty="0"/>
          </a:p>
          <a:p>
            <a:pPr marL="114300" indent="0" algn="ctr">
              <a:buNone/>
            </a:pPr>
            <a:endParaRPr lang="id-ID" b="1" dirty="0"/>
          </a:p>
          <a:p>
            <a:pPr marL="114300" indent="0" algn="ctr">
              <a:buNone/>
            </a:pPr>
            <a:endParaRPr lang="id-ID" b="1" dirty="0"/>
          </a:p>
          <a:p>
            <a:pPr marL="114300" indent="0" algn="ctr">
              <a:buNone/>
            </a:pPr>
            <a:endParaRPr lang="id-ID" b="1" dirty="0"/>
          </a:p>
          <a:p>
            <a:pPr marL="114300" indent="0" algn="ctr">
              <a:buNone/>
            </a:pPr>
            <a:endParaRPr lang="id-ID" b="1" dirty="0"/>
          </a:p>
          <a:p>
            <a:pPr marL="114300" indent="0" algn="ctr">
              <a:buNone/>
            </a:pPr>
            <a:endParaRPr lang="id-ID" b="1" dirty="0"/>
          </a:p>
          <a:p>
            <a:pPr marL="114300" indent="0" algn="ctr">
              <a:buNone/>
            </a:pPr>
            <a:r>
              <a:rPr lang="en-US" b="1" dirty="0"/>
              <a:t>APABILA  (YA), KENAPA BANYAK MASALAH BANGSA INDONESIA YANG BERTENTANGAN DENGAN NILAI-N</a:t>
            </a:r>
            <a:r>
              <a:rPr lang="id-ID" b="1" dirty="0"/>
              <a:t>I</a:t>
            </a:r>
            <a:r>
              <a:rPr lang="en-US" b="1" dirty="0"/>
              <a:t>LAI PANCASILA  ? </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2852936"/>
            <a:ext cx="2448272"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2986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Sistem</a:t>
            </a:r>
            <a:r>
              <a:rPr lang="en-US" dirty="0"/>
              <a:t> </a:t>
            </a:r>
            <a:r>
              <a:rPr lang="en-US" dirty="0" err="1"/>
              <a:t>Filsafat</a:t>
            </a:r>
            <a:r>
              <a:rPr lang="en-US" dirty="0"/>
              <a:t> </a:t>
            </a:r>
            <a:r>
              <a:rPr lang="en-US" dirty="0" err="1"/>
              <a:t>Pancasila</a:t>
            </a:r>
            <a:endParaRPr lang="en-US" dirty="0"/>
          </a:p>
        </p:txBody>
      </p:sp>
      <p:sp>
        <p:nvSpPr>
          <p:cNvPr id="3" name="Content Placeholder 2"/>
          <p:cNvSpPr>
            <a:spLocks noGrp="1"/>
          </p:cNvSpPr>
          <p:nvPr>
            <p:ph idx="1"/>
          </p:nvPr>
        </p:nvSpPr>
        <p:spPr/>
        <p:txBody>
          <a:bodyPr>
            <a:noAutofit/>
          </a:bodyPr>
          <a:lstStyle/>
          <a:p>
            <a:pPr algn="just"/>
            <a:r>
              <a:rPr lang="en-US" dirty="0" err="1">
                <a:latin typeface="+mj-lt"/>
              </a:rPr>
              <a:t>Inti</a:t>
            </a:r>
            <a:r>
              <a:rPr lang="en-US" dirty="0">
                <a:latin typeface="+mj-lt"/>
              </a:rPr>
              <a:t> </a:t>
            </a:r>
            <a:r>
              <a:rPr lang="en-US" dirty="0" err="1">
                <a:latin typeface="+mj-lt"/>
              </a:rPr>
              <a:t>sila-sila</a:t>
            </a:r>
            <a:r>
              <a:rPr lang="en-US" dirty="0">
                <a:latin typeface="+mj-lt"/>
              </a:rPr>
              <a:t> </a:t>
            </a:r>
            <a:r>
              <a:rPr lang="en-US" dirty="0" err="1">
                <a:latin typeface="+mj-lt"/>
              </a:rPr>
              <a:t>Pancasila</a:t>
            </a:r>
            <a:r>
              <a:rPr lang="en-US" dirty="0">
                <a:latin typeface="+mj-lt"/>
              </a:rPr>
              <a:t> </a:t>
            </a:r>
            <a:r>
              <a:rPr lang="en-US" dirty="0" err="1">
                <a:latin typeface="+mj-lt"/>
              </a:rPr>
              <a:t>meliputi</a:t>
            </a:r>
            <a:r>
              <a:rPr lang="en-US" dirty="0">
                <a:latin typeface="+mj-lt"/>
              </a:rPr>
              <a:t> :</a:t>
            </a:r>
          </a:p>
          <a:p>
            <a:pPr lvl="1" algn="just"/>
            <a:r>
              <a:rPr lang="en-US" i="1" dirty="0" err="1">
                <a:latin typeface="+mj-lt"/>
              </a:rPr>
              <a:t>Tuhan</a:t>
            </a:r>
            <a:r>
              <a:rPr lang="en-US" dirty="0">
                <a:latin typeface="+mj-lt"/>
              </a:rPr>
              <a:t> </a:t>
            </a:r>
            <a:r>
              <a:rPr lang="en-US" dirty="0" err="1">
                <a:latin typeface="+mj-lt"/>
              </a:rPr>
              <a:t>yaitu</a:t>
            </a:r>
            <a:r>
              <a:rPr lang="en-US" dirty="0">
                <a:latin typeface="+mj-lt"/>
              </a:rPr>
              <a:t> </a:t>
            </a:r>
            <a:r>
              <a:rPr lang="en-US" dirty="0" err="1">
                <a:latin typeface="+mj-lt"/>
              </a:rPr>
              <a:t>sebagai</a:t>
            </a:r>
            <a:r>
              <a:rPr lang="en-US" dirty="0">
                <a:latin typeface="+mj-lt"/>
              </a:rPr>
              <a:t> </a:t>
            </a:r>
            <a:r>
              <a:rPr lang="en-US" dirty="0" err="1">
                <a:latin typeface="+mj-lt"/>
              </a:rPr>
              <a:t>kausa</a:t>
            </a:r>
            <a:r>
              <a:rPr lang="en-US" dirty="0">
                <a:latin typeface="+mj-lt"/>
              </a:rPr>
              <a:t> prima</a:t>
            </a:r>
            <a:r>
              <a:rPr lang="id-ID" dirty="0">
                <a:latin typeface="+mj-lt"/>
              </a:rPr>
              <a:t>;</a:t>
            </a:r>
            <a:endParaRPr lang="en-US" dirty="0">
              <a:latin typeface="+mj-lt"/>
            </a:endParaRPr>
          </a:p>
          <a:p>
            <a:pPr lvl="1" algn="just"/>
            <a:r>
              <a:rPr lang="en-US" i="1" dirty="0" err="1">
                <a:latin typeface="+mj-lt"/>
              </a:rPr>
              <a:t>Manusia</a:t>
            </a:r>
            <a:r>
              <a:rPr lang="en-US" dirty="0">
                <a:latin typeface="+mj-lt"/>
              </a:rPr>
              <a:t> </a:t>
            </a:r>
            <a:r>
              <a:rPr lang="en-US" dirty="0" err="1">
                <a:latin typeface="+mj-lt"/>
              </a:rPr>
              <a:t>yaitu</a:t>
            </a:r>
            <a:r>
              <a:rPr lang="en-US" dirty="0">
                <a:latin typeface="+mj-lt"/>
              </a:rPr>
              <a:t> </a:t>
            </a:r>
            <a:r>
              <a:rPr lang="en-US" dirty="0" err="1">
                <a:latin typeface="+mj-lt"/>
              </a:rPr>
              <a:t>makhluk</a:t>
            </a:r>
            <a:r>
              <a:rPr lang="en-US" dirty="0">
                <a:latin typeface="+mj-lt"/>
              </a:rPr>
              <a:t> </a:t>
            </a:r>
            <a:r>
              <a:rPr lang="en-US" dirty="0" err="1">
                <a:latin typeface="+mj-lt"/>
              </a:rPr>
              <a:t>individu</a:t>
            </a:r>
            <a:r>
              <a:rPr lang="en-US" dirty="0">
                <a:latin typeface="+mj-lt"/>
              </a:rPr>
              <a:t> </a:t>
            </a:r>
            <a:r>
              <a:rPr lang="en-US" dirty="0" err="1">
                <a:latin typeface="+mj-lt"/>
              </a:rPr>
              <a:t>dan</a:t>
            </a:r>
            <a:r>
              <a:rPr lang="en-US" dirty="0">
                <a:latin typeface="+mj-lt"/>
              </a:rPr>
              <a:t> </a:t>
            </a:r>
            <a:r>
              <a:rPr lang="en-US" dirty="0" err="1">
                <a:latin typeface="+mj-lt"/>
              </a:rPr>
              <a:t>makhluk</a:t>
            </a:r>
            <a:r>
              <a:rPr lang="en-US" dirty="0">
                <a:latin typeface="+mj-lt"/>
              </a:rPr>
              <a:t> </a:t>
            </a:r>
            <a:r>
              <a:rPr lang="en-US" dirty="0" err="1">
                <a:latin typeface="+mj-lt"/>
              </a:rPr>
              <a:t>sosial</a:t>
            </a:r>
            <a:r>
              <a:rPr lang="id-ID" dirty="0">
                <a:latin typeface="+mj-lt"/>
              </a:rPr>
              <a:t>;</a:t>
            </a:r>
            <a:endParaRPr lang="en-US" dirty="0">
              <a:latin typeface="+mj-lt"/>
            </a:endParaRPr>
          </a:p>
          <a:p>
            <a:pPr lvl="1" algn="just"/>
            <a:r>
              <a:rPr lang="en-US" i="1" dirty="0" err="1">
                <a:latin typeface="+mj-lt"/>
              </a:rPr>
              <a:t>Satu</a:t>
            </a:r>
            <a:r>
              <a:rPr lang="en-US" dirty="0">
                <a:latin typeface="+mj-lt"/>
              </a:rPr>
              <a:t> </a:t>
            </a:r>
            <a:r>
              <a:rPr lang="en-US" dirty="0" err="1">
                <a:latin typeface="+mj-lt"/>
              </a:rPr>
              <a:t>yaitu</a:t>
            </a:r>
            <a:r>
              <a:rPr lang="en-US" dirty="0">
                <a:latin typeface="+mj-lt"/>
              </a:rPr>
              <a:t> </a:t>
            </a:r>
            <a:r>
              <a:rPr lang="en-US" dirty="0" err="1">
                <a:latin typeface="+mj-lt"/>
              </a:rPr>
              <a:t>kesatuan</a:t>
            </a:r>
            <a:r>
              <a:rPr lang="en-US" dirty="0">
                <a:latin typeface="+mj-lt"/>
              </a:rPr>
              <a:t> </a:t>
            </a:r>
            <a:r>
              <a:rPr lang="en-US" dirty="0" err="1">
                <a:latin typeface="+mj-lt"/>
              </a:rPr>
              <a:t>memiliki</a:t>
            </a:r>
            <a:r>
              <a:rPr lang="en-US" dirty="0">
                <a:latin typeface="+mj-lt"/>
              </a:rPr>
              <a:t> </a:t>
            </a:r>
            <a:r>
              <a:rPr lang="en-US" dirty="0" err="1">
                <a:latin typeface="+mj-lt"/>
              </a:rPr>
              <a:t>kepribadian</a:t>
            </a:r>
            <a:r>
              <a:rPr lang="en-US" dirty="0">
                <a:latin typeface="+mj-lt"/>
              </a:rPr>
              <a:t> </a:t>
            </a:r>
            <a:r>
              <a:rPr lang="en-US" dirty="0" err="1">
                <a:latin typeface="+mj-lt"/>
              </a:rPr>
              <a:t>sendiri</a:t>
            </a:r>
            <a:r>
              <a:rPr lang="id-ID" dirty="0">
                <a:latin typeface="+mj-lt"/>
              </a:rPr>
              <a:t>;</a:t>
            </a:r>
            <a:endParaRPr lang="en-US" dirty="0">
              <a:latin typeface="+mj-lt"/>
            </a:endParaRPr>
          </a:p>
          <a:p>
            <a:pPr lvl="1" algn="just"/>
            <a:r>
              <a:rPr lang="en-US" i="1" dirty="0">
                <a:latin typeface="+mj-lt"/>
              </a:rPr>
              <a:t>Rakyat</a:t>
            </a:r>
            <a:r>
              <a:rPr lang="en-US" dirty="0">
                <a:latin typeface="+mj-lt"/>
              </a:rPr>
              <a:t> </a:t>
            </a:r>
            <a:r>
              <a:rPr lang="en-US" dirty="0" err="1">
                <a:latin typeface="+mj-lt"/>
              </a:rPr>
              <a:t>yaitu</a:t>
            </a:r>
            <a:r>
              <a:rPr lang="en-US" dirty="0">
                <a:latin typeface="+mj-lt"/>
              </a:rPr>
              <a:t> </a:t>
            </a:r>
            <a:r>
              <a:rPr lang="en-US" dirty="0" err="1">
                <a:latin typeface="+mj-lt"/>
              </a:rPr>
              <a:t>unsur</a:t>
            </a:r>
            <a:r>
              <a:rPr lang="en-US" dirty="0">
                <a:latin typeface="+mj-lt"/>
              </a:rPr>
              <a:t> </a:t>
            </a:r>
            <a:r>
              <a:rPr lang="en-US" dirty="0" err="1">
                <a:latin typeface="+mj-lt"/>
              </a:rPr>
              <a:t>mutlak</a:t>
            </a:r>
            <a:r>
              <a:rPr lang="en-US" dirty="0">
                <a:latin typeface="+mj-lt"/>
              </a:rPr>
              <a:t> </a:t>
            </a:r>
            <a:r>
              <a:rPr lang="en-US" dirty="0" err="1">
                <a:latin typeface="+mj-lt"/>
              </a:rPr>
              <a:t>negara</a:t>
            </a:r>
            <a:r>
              <a:rPr lang="en-US" dirty="0">
                <a:latin typeface="+mj-lt"/>
              </a:rPr>
              <a:t>, </a:t>
            </a:r>
            <a:r>
              <a:rPr lang="en-US" dirty="0" err="1">
                <a:latin typeface="+mj-lt"/>
              </a:rPr>
              <a:t>harus</a:t>
            </a:r>
            <a:r>
              <a:rPr lang="en-US" dirty="0">
                <a:latin typeface="+mj-lt"/>
              </a:rPr>
              <a:t> </a:t>
            </a:r>
            <a:r>
              <a:rPr lang="en-US" dirty="0" err="1">
                <a:latin typeface="+mj-lt"/>
              </a:rPr>
              <a:t>bekerja</a:t>
            </a:r>
            <a:r>
              <a:rPr lang="en-US" dirty="0">
                <a:latin typeface="+mj-lt"/>
              </a:rPr>
              <a:t> </a:t>
            </a:r>
            <a:r>
              <a:rPr lang="en-US" dirty="0" err="1">
                <a:latin typeface="+mj-lt"/>
              </a:rPr>
              <a:t>sama</a:t>
            </a:r>
            <a:r>
              <a:rPr lang="en-US" dirty="0">
                <a:latin typeface="+mj-lt"/>
              </a:rPr>
              <a:t> </a:t>
            </a:r>
            <a:r>
              <a:rPr lang="en-US" dirty="0" err="1">
                <a:latin typeface="+mj-lt"/>
              </a:rPr>
              <a:t>dan</a:t>
            </a:r>
            <a:r>
              <a:rPr lang="en-US" dirty="0">
                <a:latin typeface="+mj-lt"/>
              </a:rPr>
              <a:t> </a:t>
            </a:r>
            <a:r>
              <a:rPr lang="en-US" dirty="0" err="1">
                <a:latin typeface="+mj-lt"/>
              </a:rPr>
              <a:t>gotong</a:t>
            </a:r>
            <a:r>
              <a:rPr lang="en-US" dirty="0">
                <a:latin typeface="+mj-lt"/>
              </a:rPr>
              <a:t> </a:t>
            </a:r>
            <a:r>
              <a:rPr lang="en-US" dirty="0" err="1">
                <a:latin typeface="+mj-lt"/>
              </a:rPr>
              <a:t>royon</a:t>
            </a:r>
            <a:r>
              <a:rPr lang="id-ID" dirty="0">
                <a:latin typeface="+mj-lt"/>
              </a:rPr>
              <a:t>g;</a:t>
            </a:r>
            <a:endParaRPr lang="en-US" dirty="0">
              <a:latin typeface="+mj-lt"/>
            </a:endParaRPr>
          </a:p>
          <a:p>
            <a:pPr lvl="1" algn="just"/>
            <a:r>
              <a:rPr lang="en-US" i="1" dirty="0" err="1">
                <a:latin typeface="+mj-lt"/>
              </a:rPr>
              <a:t>Adil</a:t>
            </a:r>
            <a:r>
              <a:rPr lang="en-US" dirty="0">
                <a:latin typeface="+mj-lt"/>
              </a:rPr>
              <a:t> </a:t>
            </a:r>
            <a:r>
              <a:rPr lang="en-US" dirty="0" err="1">
                <a:latin typeface="+mj-lt"/>
              </a:rPr>
              <a:t>yaitu</a:t>
            </a:r>
            <a:r>
              <a:rPr lang="en-US" dirty="0">
                <a:latin typeface="+mj-lt"/>
              </a:rPr>
              <a:t> </a:t>
            </a:r>
            <a:r>
              <a:rPr lang="en-US" dirty="0" err="1">
                <a:latin typeface="+mj-lt"/>
              </a:rPr>
              <a:t>memberi</a:t>
            </a:r>
            <a:r>
              <a:rPr lang="en-US" dirty="0">
                <a:latin typeface="+mj-lt"/>
              </a:rPr>
              <a:t> </a:t>
            </a:r>
            <a:r>
              <a:rPr lang="en-US" dirty="0" err="1">
                <a:latin typeface="+mj-lt"/>
              </a:rPr>
              <a:t>keadilan</a:t>
            </a:r>
            <a:r>
              <a:rPr lang="en-US" dirty="0">
                <a:latin typeface="+mj-lt"/>
              </a:rPr>
              <a:t> </a:t>
            </a:r>
            <a:r>
              <a:rPr lang="en-US" dirty="0" err="1">
                <a:latin typeface="+mj-lt"/>
              </a:rPr>
              <a:t>kepada</a:t>
            </a:r>
            <a:r>
              <a:rPr lang="en-US" dirty="0">
                <a:latin typeface="+mj-lt"/>
              </a:rPr>
              <a:t> </a:t>
            </a:r>
            <a:r>
              <a:rPr lang="en-US" dirty="0" err="1">
                <a:latin typeface="+mj-lt"/>
              </a:rPr>
              <a:t>diri</a:t>
            </a:r>
            <a:r>
              <a:rPr lang="en-US" dirty="0">
                <a:latin typeface="+mj-lt"/>
              </a:rPr>
              <a:t> </a:t>
            </a:r>
            <a:r>
              <a:rPr lang="en-US" dirty="0" err="1">
                <a:latin typeface="+mj-lt"/>
              </a:rPr>
              <a:t>sendiri</a:t>
            </a:r>
            <a:r>
              <a:rPr lang="en-US" dirty="0">
                <a:latin typeface="+mj-lt"/>
              </a:rPr>
              <a:t> </a:t>
            </a:r>
            <a:r>
              <a:rPr lang="en-US" dirty="0" err="1">
                <a:latin typeface="+mj-lt"/>
              </a:rPr>
              <a:t>dan</a:t>
            </a:r>
            <a:r>
              <a:rPr lang="en-US" dirty="0">
                <a:latin typeface="+mj-lt"/>
              </a:rPr>
              <a:t> orang lain yang </a:t>
            </a:r>
            <a:r>
              <a:rPr lang="en-US" dirty="0" err="1">
                <a:latin typeface="+mj-lt"/>
              </a:rPr>
              <a:t>menjadi</a:t>
            </a:r>
            <a:r>
              <a:rPr lang="en-US" dirty="0">
                <a:latin typeface="+mj-lt"/>
              </a:rPr>
              <a:t> </a:t>
            </a:r>
            <a:r>
              <a:rPr lang="en-US" dirty="0" err="1">
                <a:latin typeface="+mj-lt"/>
              </a:rPr>
              <a:t>haknya</a:t>
            </a:r>
            <a:r>
              <a:rPr lang="id-ID" dirty="0">
                <a:latin typeface="+mj-lt"/>
              </a:rPr>
              <a:t>.</a:t>
            </a:r>
            <a:endParaRPr lang="en-US" dirty="0">
              <a:latin typeface="+mj-lt"/>
            </a:endParaRPr>
          </a:p>
        </p:txBody>
      </p:sp>
    </p:spTree>
    <p:extLst>
      <p:ext uri="{BB962C8B-B14F-4D97-AF65-F5344CB8AC3E}">
        <p14:creationId xmlns:p14="http://schemas.microsoft.com/office/powerpoint/2010/main" val="4099444221"/>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1000" fill="hold"/>
                                        <p:tgtEl>
                                          <p:spTgt spid="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1000" fill="hold"/>
                                        <p:tgtEl>
                                          <p:spTgt spid="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1000" fill="hold"/>
                                        <p:tgtEl>
                                          <p:spTgt spid="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
                                          </p:val>
                                        </p:tav>
                                        <p:tav tm="100000">
                                          <p:val>
                                            <p:strVal val="#ppt_y"/>
                                          </p:val>
                                        </p:tav>
                                      </p:tavLst>
                                    </p:anim>
                                  </p:childTnLst>
                                </p:cTn>
                              </p:par>
                              <p:par>
                                <p:cTn id="16" presetID="39" presetClass="entr" presetSubtype="0" accel="100000"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1000" fill="hold"/>
                                        <p:tgtEl>
                                          <p:spTgt spid="3">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9" dur="1000" fill="hold"/>
                                        <p:tgtEl>
                                          <p:spTgt spid="3">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0" dur="1000" fill="hold"/>
                                        <p:tgtEl>
                                          <p:spTgt spid="3">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
                                          </p:val>
                                        </p:tav>
                                        <p:tav tm="100000">
                                          <p:val>
                                            <p:strVal val="#ppt_y"/>
                                          </p:val>
                                        </p:tav>
                                      </p:tavLst>
                                    </p:anim>
                                  </p:childTnLst>
                                </p:cTn>
                              </p:par>
                              <p:par>
                                <p:cTn id="22" presetID="39" presetClass="entr" presetSubtype="0" accel="10000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1000" fill="hold"/>
                                        <p:tgtEl>
                                          <p:spTgt spid="3">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5" dur="1000" fill="hold"/>
                                        <p:tgtEl>
                                          <p:spTgt spid="3">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6" dur="1000" fill="hold"/>
                                        <p:tgtEl>
                                          <p:spTgt spid="3">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
                                          </p:val>
                                        </p:tav>
                                        <p:tav tm="100000">
                                          <p:val>
                                            <p:strVal val="#ppt_y"/>
                                          </p:val>
                                        </p:tav>
                                      </p:tavLst>
                                    </p:anim>
                                  </p:childTnLst>
                                </p:cTn>
                              </p:par>
                              <p:par>
                                <p:cTn id="28" presetID="39" presetClass="entr" presetSubtype="0" accel="100000" fill="hold" grpId="0"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p:cTn id="30" dur="1000" fill="hold"/>
                                        <p:tgtEl>
                                          <p:spTgt spid="3">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1" dur="1000" fill="hold"/>
                                        <p:tgtEl>
                                          <p:spTgt spid="3">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2" dur="1000" fill="hold"/>
                                        <p:tgtEl>
                                          <p:spTgt spid="3">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
                                          </p:val>
                                        </p:tav>
                                        <p:tav tm="100000">
                                          <p:val>
                                            <p:strVal val="#ppt_y"/>
                                          </p:val>
                                        </p:tav>
                                      </p:tavLst>
                                    </p:anim>
                                  </p:childTnLst>
                                </p:cTn>
                              </p:par>
                              <p:par>
                                <p:cTn id="34" presetID="39" presetClass="entr" presetSubtype="0" accel="100000" fill="hold" grpId="0"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p:cTn id="36" dur="1000" fill="hold"/>
                                        <p:tgtEl>
                                          <p:spTgt spid="3">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7" dur="1000" fill="hold"/>
                                        <p:tgtEl>
                                          <p:spTgt spid="3">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8" dur="1000" fill="hold"/>
                                        <p:tgtEl>
                                          <p:spTgt spid="3">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
                                          </p:val>
                                        </p:tav>
                                        <p:tav tm="100000">
                                          <p:val>
                                            <p:strVal val="#ppt_y"/>
                                          </p:val>
                                        </p:tav>
                                      </p:tavLst>
                                    </p:anim>
                                  </p:childTnLst>
                                </p:cTn>
                              </p:par>
                              <p:par>
                                <p:cTn id="40" presetID="39" presetClass="entr" presetSubtype="0" accel="100000" fill="hold" grpId="0"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3" dur="1000" fill="hold"/>
                                        <p:tgtEl>
                                          <p:spTgt spid="3">
                                            <p:txEl>
                                              <p:pRg st="5" end="5"/>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4" dur="1000" fill="hold"/>
                                        <p:tgtEl>
                                          <p:spTgt spid="3">
                                            <p:txEl>
                                              <p:pRg st="5" end="5"/>
                                            </p:txEl>
                                          </p:spTgt>
                                        </p:tgtEl>
                                        <p:attrNameLst>
                                          <p:attrName>ppt_x</p:attrName>
                                        </p:attrNameLst>
                                      </p:cBhvr>
                                      <p:tavLst>
                                        <p:tav tm="0">
                                          <p:val>
                                            <p:strVal val="#ppt_x-.3"/>
                                          </p:val>
                                        </p:tav>
                                        <p:tav tm="50000">
                                          <p:val>
                                            <p:strVal val="#ppt_x"/>
                                          </p:val>
                                        </p:tav>
                                        <p:tav tm="100000">
                                          <p:val>
                                            <p:strVal val="#ppt_x"/>
                                          </p:val>
                                        </p:tav>
                                      </p:tavLst>
                                    </p:anim>
                                    <p:anim calcmode="lin" valueType="num">
                                      <p:cBhvr>
                                        <p:cTn id="45"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Sistem</a:t>
            </a:r>
            <a:r>
              <a:rPr lang="en-US" dirty="0"/>
              <a:t> </a:t>
            </a:r>
            <a:r>
              <a:rPr lang="en-US" dirty="0" err="1"/>
              <a:t>Filsafat</a:t>
            </a:r>
            <a:r>
              <a:rPr lang="en-US" dirty="0"/>
              <a:t> </a:t>
            </a:r>
            <a:r>
              <a:rPr lang="en-US" dirty="0" err="1"/>
              <a:t>Pancasila</a:t>
            </a:r>
            <a:endParaRPr lang="en-US" dirty="0"/>
          </a:p>
        </p:txBody>
      </p:sp>
      <p:sp>
        <p:nvSpPr>
          <p:cNvPr id="3" name="Content Placeholder 2"/>
          <p:cNvSpPr>
            <a:spLocks noGrp="1"/>
          </p:cNvSpPr>
          <p:nvPr>
            <p:ph idx="1"/>
          </p:nvPr>
        </p:nvSpPr>
        <p:spPr/>
        <p:txBody>
          <a:bodyPr>
            <a:normAutofit/>
          </a:bodyPr>
          <a:lstStyle/>
          <a:p>
            <a:pPr algn="just"/>
            <a:r>
              <a:rPr lang="en-US" dirty="0" err="1">
                <a:latin typeface="+mj-lt"/>
              </a:rPr>
              <a:t>Filsafat</a:t>
            </a:r>
            <a:r>
              <a:rPr lang="en-US" dirty="0">
                <a:latin typeface="+mj-lt"/>
              </a:rPr>
              <a:t> </a:t>
            </a:r>
            <a:r>
              <a:rPr lang="en-US" dirty="0" err="1">
                <a:latin typeface="+mj-lt"/>
              </a:rPr>
              <a:t>Pancasila</a:t>
            </a:r>
            <a:r>
              <a:rPr lang="en-US" dirty="0">
                <a:latin typeface="+mj-lt"/>
              </a:rPr>
              <a:t> </a:t>
            </a:r>
            <a:r>
              <a:rPr lang="en-US" dirty="0" err="1">
                <a:latin typeface="+mj-lt"/>
              </a:rPr>
              <a:t>secara</a:t>
            </a:r>
            <a:r>
              <a:rPr lang="en-US" dirty="0">
                <a:latin typeface="+mj-lt"/>
              </a:rPr>
              <a:t> </a:t>
            </a:r>
            <a:r>
              <a:rPr lang="en-US" dirty="0" err="1">
                <a:latin typeface="+mj-lt"/>
              </a:rPr>
              <a:t>umum</a:t>
            </a:r>
            <a:r>
              <a:rPr lang="id-ID" dirty="0">
                <a:latin typeface="+mj-lt"/>
              </a:rPr>
              <a:t>:</a:t>
            </a:r>
            <a:r>
              <a:rPr lang="en-US" dirty="0">
                <a:latin typeface="+mj-lt"/>
              </a:rPr>
              <a:t> </a:t>
            </a:r>
          </a:p>
          <a:p>
            <a:pPr lvl="1" algn="just"/>
            <a:r>
              <a:rPr lang="en-US" dirty="0" err="1">
                <a:latin typeface="+mj-lt"/>
              </a:rPr>
              <a:t>Dianggap</a:t>
            </a:r>
            <a:r>
              <a:rPr lang="id-ID" dirty="0">
                <a:latin typeface="+mj-lt"/>
              </a:rPr>
              <a:t>;</a:t>
            </a:r>
            <a:endParaRPr lang="en-US" dirty="0">
              <a:latin typeface="+mj-lt"/>
            </a:endParaRPr>
          </a:p>
          <a:p>
            <a:pPr lvl="1" algn="just"/>
            <a:r>
              <a:rPr lang="en-US" dirty="0" err="1">
                <a:latin typeface="+mj-lt"/>
              </a:rPr>
              <a:t>Dipercaya</a:t>
            </a:r>
            <a:r>
              <a:rPr lang="id-ID" dirty="0">
                <a:latin typeface="+mj-lt"/>
              </a:rPr>
              <a:t>;</a:t>
            </a:r>
            <a:endParaRPr lang="en-US" dirty="0">
              <a:latin typeface="+mj-lt"/>
            </a:endParaRPr>
          </a:p>
          <a:p>
            <a:pPr lvl="1" algn="just"/>
            <a:r>
              <a:rPr lang="en-US" dirty="0" err="1">
                <a:latin typeface="+mj-lt"/>
              </a:rPr>
              <a:t>Diyakini</a:t>
            </a:r>
            <a:r>
              <a:rPr lang="id-ID" dirty="0">
                <a:latin typeface="+mj-lt"/>
              </a:rPr>
              <a:t>.</a:t>
            </a:r>
            <a:r>
              <a:rPr lang="en-US" dirty="0">
                <a:latin typeface="+mj-lt"/>
              </a:rPr>
              <a:t> </a:t>
            </a:r>
          </a:p>
          <a:p>
            <a:pPr algn="just">
              <a:buNone/>
            </a:pPr>
            <a:r>
              <a:rPr lang="en-US" dirty="0">
                <a:latin typeface="+mj-lt"/>
              </a:rPr>
              <a:t>	(paling </a:t>
            </a:r>
            <a:r>
              <a:rPr lang="en-US" dirty="0" err="1">
                <a:latin typeface="+mj-lt"/>
              </a:rPr>
              <a:t>sesuai</a:t>
            </a:r>
            <a:r>
              <a:rPr lang="en-US" dirty="0">
                <a:latin typeface="+mj-lt"/>
              </a:rPr>
              <a:t> </a:t>
            </a:r>
            <a:r>
              <a:rPr lang="en-US" dirty="0" err="1">
                <a:latin typeface="+mj-lt"/>
              </a:rPr>
              <a:t>bagi</a:t>
            </a:r>
            <a:r>
              <a:rPr lang="en-US" dirty="0">
                <a:latin typeface="+mj-lt"/>
              </a:rPr>
              <a:t> </a:t>
            </a:r>
            <a:r>
              <a:rPr lang="en-US" dirty="0" err="1">
                <a:latin typeface="+mj-lt"/>
              </a:rPr>
              <a:t>bangsa</a:t>
            </a:r>
            <a:r>
              <a:rPr lang="en-US" dirty="0">
                <a:latin typeface="+mj-lt"/>
              </a:rPr>
              <a:t> Indonesia)</a:t>
            </a:r>
          </a:p>
          <a:p>
            <a:pPr algn="just"/>
            <a:r>
              <a:rPr lang="en-US" dirty="0">
                <a:latin typeface="+mj-lt"/>
              </a:rPr>
              <a:t>Tingkat </a:t>
            </a:r>
            <a:r>
              <a:rPr lang="en-US" dirty="0" err="1">
                <a:latin typeface="+mj-lt"/>
              </a:rPr>
              <a:t>kebenaran</a:t>
            </a:r>
            <a:r>
              <a:rPr lang="en-US" dirty="0">
                <a:latin typeface="+mj-lt"/>
              </a:rPr>
              <a:t> </a:t>
            </a:r>
            <a:r>
              <a:rPr lang="en-US" dirty="0" err="1">
                <a:latin typeface="+mj-lt"/>
              </a:rPr>
              <a:t>Filsafat</a:t>
            </a:r>
            <a:r>
              <a:rPr lang="en-US" dirty="0">
                <a:latin typeface="+mj-lt"/>
              </a:rPr>
              <a:t> </a:t>
            </a:r>
            <a:r>
              <a:rPr lang="en-US" dirty="0" err="1">
                <a:latin typeface="+mj-lt"/>
              </a:rPr>
              <a:t>Pancasila</a:t>
            </a:r>
            <a:endParaRPr lang="en-US" dirty="0">
              <a:latin typeface="+mj-lt"/>
            </a:endParaRPr>
          </a:p>
          <a:p>
            <a:pPr lvl="1" algn="just"/>
            <a:r>
              <a:rPr lang="en-US" dirty="0" err="1">
                <a:latin typeface="+mj-lt"/>
              </a:rPr>
              <a:t>Kebenaran</a:t>
            </a:r>
            <a:r>
              <a:rPr lang="en-US" dirty="0">
                <a:latin typeface="+mj-lt"/>
              </a:rPr>
              <a:t> </a:t>
            </a:r>
            <a:r>
              <a:rPr lang="en-US" dirty="0" err="1">
                <a:latin typeface="+mj-lt"/>
              </a:rPr>
              <a:t>indra</a:t>
            </a:r>
            <a:r>
              <a:rPr lang="en-US" dirty="0">
                <a:latin typeface="+mj-lt"/>
              </a:rPr>
              <a:t> (</a:t>
            </a:r>
            <a:r>
              <a:rPr lang="en-US" dirty="0" err="1">
                <a:latin typeface="+mj-lt"/>
              </a:rPr>
              <a:t>pengetahuan</a:t>
            </a:r>
            <a:r>
              <a:rPr lang="en-US" dirty="0">
                <a:latin typeface="+mj-lt"/>
              </a:rPr>
              <a:t> </a:t>
            </a:r>
            <a:r>
              <a:rPr lang="en-US" dirty="0" err="1">
                <a:latin typeface="+mj-lt"/>
              </a:rPr>
              <a:t>biasa</a:t>
            </a:r>
            <a:r>
              <a:rPr lang="en-US" dirty="0">
                <a:latin typeface="+mj-lt"/>
              </a:rPr>
              <a:t>);</a:t>
            </a:r>
          </a:p>
          <a:p>
            <a:pPr lvl="1" algn="just"/>
            <a:r>
              <a:rPr lang="en-US" dirty="0" err="1">
                <a:latin typeface="+mj-lt"/>
              </a:rPr>
              <a:t>Kebenaran</a:t>
            </a:r>
            <a:r>
              <a:rPr lang="en-US" dirty="0">
                <a:latin typeface="+mj-lt"/>
              </a:rPr>
              <a:t> </a:t>
            </a:r>
            <a:r>
              <a:rPr lang="en-US" dirty="0" err="1">
                <a:latin typeface="+mj-lt"/>
              </a:rPr>
              <a:t>ilmiah</a:t>
            </a:r>
            <a:r>
              <a:rPr lang="en-US" dirty="0">
                <a:latin typeface="+mj-lt"/>
              </a:rPr>
              <a:t> (</a:t>
            </a:r>
            <a:r>
              <a:rPr lang="en-US" dirty="0" err="1">
                <a:latin typeface="+mj-lt"/>
              </a:rPr>
              <a:t>ilmu-ilmu</a:t>
            </a:r>
            <a:r>
              <a:rPr lang="en-US" dirty="0">
                <a:latin typeface="+mj-lt"/>
              </a:rPr>
              <a:t> </a:t>
            </a:r>
            <a:r>
              <a:rPr lang="en-US" dirty="0" err="1">
                <a:latin typeface="+mj-lt"/>
              </a:rPr>
              <a:t>pengetahuan</a:t>
            </a:r>
            <a:r>
              <a:rPr lang="en-US" dirty="0">
                <a:latin typeface="+mj-lt"/>
              </a:rPr>
              <a:t>);</a:t>
            </a:r>
          </a:p>
          <a:p>
            <a:pPr lvl="1" algn="just"/>
            <a:r>
              <a:rPr lang="en-US" dirty="0" err="1">
                <a:latin typeface="+mj-lt"/>
              </a:rPr>
              <a:t>Kebenaran</a:t>
            </a:r>
            <a:r>
              <a:rPr lang="en-US" dirty="0">
                <a:latin typeface="+mj-lt"/>
              </a:rPr>
              <a:t> </a:t>
            </a:r>
            <a:r>
              <a:rPr lang="en-US" dirty="0" err="1">
                <a:latin typeface="+mj-lt"/>
              </a:rPr>
              <a:t>filosofis</a:t>
            </a:r>
            <a:r>
              <a:rPr lang="en-US" dirty="0">
                <a:latin typeface="+mj-lt"/>
              </a:rPr>
              <a:t> (</a:t>
            </a:r>
            <a:r>
              <a:rPr lang="en-US" dirty="0" err="1">
                <a:latin typeface="+mj-lt"/>
              </a:rPr>
              <a:t>filsafat</a:t>
            </a:r>
            <a:r>
              <a:rPr lang="en-US" dirty="0">
                <a:latin typeface="+mj-lt"/>
              </a:rPr>
              <a:t>);</a:t>
            </a:r>
          </a:p>
          <a:p>
            <a:pPr lvl="1" algn="just"/>
            <a:r>
              <a:rPr lang="en-US" dirty="0" err="1">
                <a:latin typeface="+mj-lt"/>
              </a:rPr>
              <a:t>Kebenaran</a:t>
            </a:r>
            <a:r>
              <a:rPr lang="en-US" dirty="0">
                <a:latin typeface="+mj-lt"/>
              </a:rPr>
              <a:t> </a:t>
            </a:r>
            <a:r>
              <a:rPr lang="en-US" dirty="0" err="1">
                <a:latin typeface="+mj-lt"/>
              </a:rPr>
              <a:t>religius</a:t>
            </a:r>
            <a:r>
              <a:rPr lang="en-US" dirty="0">
                <a:latin typeface="+mj-lt"/>
              </a:rPr>
              <a:t> (</a:t>
            </a:r>
            <a:r>
              <a:rPr lang="en-US" dirty="0" err="1">
                <a:latin typeface="+mj-lt"/>
              </a:rPr>
              <a:t>religi</a:t>
            </a:r>
            <a:r>
              <a:rPr lang="en-US" dirty="0">
                <a:latin typeface="+mj-lt"/>
              </a:rPr>
              <a:t>).</a:t>
            </a:r>
          </a:p>
          <a:p>
            <a:pPr algn="just"/>
            <a:endParaRPr lang="en-US" dirty="0">
              <a:latin typeface="+mj-lt"/>
            </a:endParaRPr>
          </a:p>
        </p:txBody>
      </p:sp>
    </p:spTree>
    <p:extLst>
      <p:ext uri="{BB962C8B-B14F-4D97-AF65-F5344CB8AC3E}">
        <p14:creationId xmlns:p14="http://schemas.microsoft.com/office/powerpoint/2010/main" val="3594704395"/>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iterate type="lt">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anim calcmode="lin" valueType="num">
                                      <p:cBhvr>
                                        <p:cTn id="13" dur="5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4" dur="500" fill="hold"/>
                                        <p:tgtEl>
                                          <p:spTgt spid="3">
                                            <p:txEl>
                                              <p:pRg st="0" end="0"/>
                                            </p:txEl>
                                          </p:spTgt>
                                        </p:tgtEl>
                                        <p:attrNameLst>
                                          <p:attrName>ppt_h</p:attrName>
                                        </p:attrNameLst>
                                      </p:cBhvr>
                                      <p:tavLst>
                                        <p:tav tm="0">
                                          <p:val>
                                            <p:strVal val="#ppt_h"/>
                                          </p:val>
                                        </p:tav>
                                        <p:tav tm="100000">
                                          <p:val>
                                            <p:strVal val="#ppt_h"/>
                                          </p:val>
                                        </p:tav>
                                      </p:tavLst>
                                    </p:anim>
                                  </p:childTnLst>
                                </p:cTn>
                              </p:par>
                              <p:par>
                                <p:cTn id="15" presetID="45" presetClass="entr" presetSubtype="0" fill="hold" grpId="0" nodeType="withEffect">
                                  <p:stCondLst>
                                    <p:cond delay="0"/>
                                  </p:stCondLst>
                                  <p:iterate type="lt">
                                    <p:tmPct val="10000"/>
                                  </p:iterate>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anim calcmode="lin" valueType="num">
                                      <p:cBhvr>
                                        <p:cTn id="18" dur="5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9" dur="500" fill="hold"/>
                                        <p:tgtEl>
                                          <p:spTgt spid="3">
                                            <p:txEl>
                                              <p:pRg st="1" end="1"/>
                                            </p:txEl>
                                          </p:spTgt>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iterate type="lt">
                                    <p:tmPct val="10000"/>
                                  </p:iterate>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anim calcmode="lin" valueType="num">
                                      <p:cBhvr>
                                        <p:cTn id="23" dur="5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4" dur="500" fill="hold"/>
                                        <p:tgtEl>
                                          <p:spTgt spid="3">
                                            <p:txEl>
                                              <p:pRg st="2" end="2"/>
                                            </p:txEl>
                                          </p:spTgt>
                                        </p:tgtEl>
                                        <p:attrNameLst>
                                          <p:attrName>ppt_h</p:attrName>
                                        </p:attrNameLst>
                                      </p:cBhvr>
                                      <p:tavLst>
                                        <p:tav tm="0">
                                          <p:val>
                                            <p:strVal val="#ppt_h"/>
                                          </p:val>
                                        </p:tav>
                                        <p:tav tm="100000">
                                          <p:val>
                                            <p:strVal val="#ppt_h"/>
                                          </p:val>
                                        </p:tav>
                                      </p:tavLst>
                                    </p:anim>
                                  </p:childTnLst>
                                </p:cTn>
                              </p:par>
                              <p:par>
                                <p:cTn id="25" presetID="45" presetClass="entr" presetSubtype="0" fill="hold" grpId="0" nodeType="withEffect">
                                  <p:stCondLst>
                                    <p:cond delay="0"/>
                                  </p:stCondLst>
                                  <p:iterate type="lt">
                                    <p:tmPct val="10000"/>
                                  </p:iterate>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anim calcmode="lin" valueType="num">
                                      <p:cBhvr>
                                        <p:cTn id="28" dur="5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9"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grpId="0" nodeType="clickEffect">
                                  <p:stCondLst>
                                    <p:cond delay="0"/>
                                  </p:stCondLst>
                                  <p:iterate type="lt">
                                    <p:tmPct val="10000"/>
                                  </p:iterate>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36" dur="5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grpId="0" nodeType="clickEffect">
                                  <p:stCondLst>
                                    <p:cond delay="0"/>
                                  </p:stCondLst>
                                  <p:iterate type="lt">
                                    <p:tmPct val="10000"/>
                                  </p:iterate>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anim calcmode="lin" valueType="num">
                                      <p:cBhvr>
                                        <p:cTn id="42" dur="5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43" dur="500" fill="hold"/>
                                        <p:tgtEl>
                                          <p:spTgt spid="3">
                                            <p:txEl>
                                              <p:pRg st="5" end="5"/>
                                            </p:txEl>
                                          </p:spTgt>
                                        </p:tgtEl>
                                        <p:attrNameLst>
                                          <p:attrName>ppt_h</p:attrName>
                                        </p:attrNameLst>
                                      </p:cBhvr>
                                      <p:tavLst>
                                        <p:tav tm="0">
                                          <p:val>
                                            <p:strVal val="#ppt_h"/>
                                          </p:val>
                                        </p:tav>
                                        <p:tav tm="100000">
                                          <p:val>
                                            <p:strVal val="#ppt_h"/>
                                          </p:val>
                                        </p:tav>
                                      </p:tavLst>
                                    </p:anim>
                                  </p:childTnLst>
                                </p:cTn>
                              </p:par>
                              <p:par>
                                <p:cTn id="44" presetID="45" presetClass="entr" presetSubtype="0" fill="hold" grpId="0" nodeType="withEffect">
                                  <p:stCondLst>
                                    <p:cond delay="0"/>
                                  </p:stCondLst>
                                  <p:iterate type="lt">
                                    <p:tmPct val="10000"/>
                                  </p:iterate>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anim calcmode="lin" valueType="num">
                                      <p:cBhvr>
                                        <p:cTn id="47" dur="5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48" dur="500" fill="hold"/>
                                        <p:tgtEl>
                                          <p:spTgt spid="3">
                                            <p:txEl>
                                              <p:pRg st="6" end="6"/>
                                            </p:txEl>
                                          </p:spTgt>
                                        </p:tgtEl>
                                        <p:attrNameLst>
                                          <p:attrName>ppt_h</p:attrName>
                                        </p:attrNameLst>
                                      </p:cBhvr>
                                      <p:tavLst>
                                        <p:tav tm="0">
                                          <p:val>
                                            <p:strVal val="#ppt_h"/>
                                          </p:val>
                                        </p:tav>
                                        <p:tav tm="100000">
                                          <p:val>
                                            <p:strVal val="#ppt_h"/>
                                          </p:val>
                                        </p:tav>
                                      </p:tavLst>
                                    </p:anim>
                                  </p:childTnLst>
                                </p:cTn>
                              </p:par>
                              <p:par>
                                <p:cTn id="49" presetID="45" presetClass="entr" presetSubtype="0" fill="hold" grpId="0" nodeType="withEffect">
                                  <p:stCondLst>
                                    <p:cond delay="0"/>
                                  </p:stCondLst>
                                  <p:iterate type="lt">
                                    <p:tmPct val="10000"/>
                                  </p:iterate>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500"/>
                                        <p:tgtEl>
                                          <p:spTgt spid="3">
                                            <p:txEl>
                                              <p:pRg st="7" end="7"/>
                                            </p:txEl>
                                          </p:spTgt>
                                        </p:tgtEl>
                                      </p:cBhvr>
                                    </p:animEffect>
                                    <p:anim calcmode="lin" valueType="num">
                                      <p:cBhvr>
                                        <p:cTn id="52" dur="5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53" dur="500" fill="hold"/>
                                        <p:tgtEl>
                                          <p:spTgt spid="3">
                                            <p:txEl>
                                              <p:pRg st="7" end="7"/>
                                            </p:txEl>
                                          </p:spTgt>
                                        </p:tgtEl>
                                        <p:attrNameLst>
                                          <p:attrName>ppt_h</p:attrName>
                                        </p:attrNameLst>
                                      </p:cBhvr>
                                      <p:tavLst>
                                        <p:tav tm="0">
                                          <p:val>
                                            <p:strVal val="#ppt_h"/>
                                          </p:val>
                                        </p:tav>
                                        <p:tav tm="100000">
                                          <p:val>
                                            <p:strVal val="#ppt_h"/>
                                          </p:val>
                                        </p:tav>
                                      </p:tavLst>
                                    </p:anim>
                                  </p:childTnLst>
                                </p:cTn>
                              </p:par>
                              <p:par>
                                <p:cTn id="54" presetID="45" presetClass="entr" presetSubtype="0" fill="hold" grpId="0" nodeType="withEffect">
                                  <p:stCondLst>
                                    <p:cond delay="0"/>
                                  </p:stCondLst>
                                  <p:iterate type="lt">
                                    <p:tmPct val="10000"/>
                                  </p:iterate>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500"/>
                                        <p:tgtEl>
                                          <p:spTgt spid="3">
                                            <p:txEl>
                                              <p:pRg st="8" end="8"/>
                                            </p:txEl>
                                          </p:spTgt>
                                        </p:tgtEl>
                                      </p:cBhvr>
                                    </p:animEffect>
                                    <p:anim calcmode="lin" valueType="num">
                                      <p:cBhvr>
                                        <p:cTn id="57" dur="500" fill="hold"/>
                                        <p:tgtEl>
                                          <p:spTgt spid="3">
                                            <p:txEl>
                                              <p:pRg st="8" end="8"/>
                                            </p:txEl>
                                          </p:spTgt>
                                        </p:tgtEl>
                                        <p:attrNameLst>
                                          <p:attrName>ppt_w</p:attrName>
                                        </p:attrNameLst>
                                      </p:cBhvr>
                                      <p:tavLst>
                                        <p:tav tm="0" fmla="#ppt_w*sin(2.5*pi*$)">
                                          <p:val>
                                            <p:fltVal val="0"/>
                                          </p:val>
                                        </p:tav>
                                        <p:tav tm="100000">
                                          <p:val>
                                            <p:fltVal val="1"/>
                                          </p:val>
                                        </p:tav>
                                      </p:tavLst>
                                    </p:anim>
                                    <p:anim calcmode="lin" valueType="num">
                                      <p:cBhvr>
                                        <p:cTn id="58" dur="500" fill="hold"/>
                                        <p:tgtEl>
                                          <p:spTgt spid="3">
                                            <p:txEl>
                                              <p:pRg st="8" end="8"/>
                                            </p:txEl>
                                          </p:spTgt>
                                        </p:tgtEl>
                                        <p:attrNameLst>
                                          <p:attrName>ppt_h</p:attrName>
                                        </p:attrNameLst>
                                      </p:cBhvr>
                                      <p:tavLst>
                                        <p:tav tm="0">
                                          <p:val>
                                            <p:strVal val="#ppt_h"/>
                                          </p:val>
                                        </p:tav>
                                        <p:tav tm="100000">
                                          <p:val>
                                            <p:strVal val="#ppt_h"/>
                                          </p:val>
                                        </p:tav>
                                      </p:tavLst>
                                    </p:anim>
                                  </p:childTnLst>
                                </p:cTn>
                              </p:par>
                              <p:par>
                                <p:cTn id="59" presetID="45" presetClass="entr" presetSubtype="0" fill="hold" grpId="0" nodeType="withEffect">
                                  <p:stCondLst>
                                    <p:cond delay="0"/>
                                  </p:stCondLst>
                                  <p:iterate type="lt">
                                    <p:tmPct val="10000"/>
                                  </p:iterate>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500"/>
                                        <p:tgtEl>
                                          <p:spTgt spid="3">
                                            <p:txEl>
                                              <p:pRg st="9" end="9"/>
                                            </p:txEl>
                                          </p:spTgt>
                                        </p:tgtEl>
                                      </p:cBhvr>
                                    </p:animEffect>
                                    <p:anim calcmode="lin" valueType="num">
                                      <p:cBhvr>
                                        <p:cTn id="62" dur="500" fill="hold"/>
                                        <p:tgtEl>
                                          <p:spTgt spid="3">
                                            <p:txEl>
                                              <p:pRg st="9" end="9"/>
                                            </p:txEl>
                                          </p:spTgt>
                                        </p:tgtEl>
                                        <p:attrNameLst>
                                          <p:attrName>ppt_w</p:attrName>
                                        </p:attrNameLst>
                                      </p:cBhvr>
                                      <p:tavLst>
                                        <p:tav tm="0" fmla="#ppt_w*sin(2.5*pi*$)">
                                          <p:val>
                                            <p:fltVal val="0"/>
                                          </p:val>
                                        </p:tav>
                                        <p:tav tm="100000">
                                          <p:val>
                                            <p:fltVal val="1"/>
                                          </p:val>
                                        </p:tav>
                                      </p:tavLst>
                                    </p:anim>
                                    <p:anim calcmode="lin" valueType="num">
                                      <p:cBhvr>
                                        <p:cTn id="63" dur="500" fill="hold"/>
                                        <p:tgtEl>
                                          <p:spTgt spid="3">
                                            <p:txEl>
                                              <p:pRg st="9" end="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219200"/>
          </a:xfrm>
        </p:spPr>
        <p:txBody>
          <a:bodyPr/>
          <a:lstStyle/>
          <a:p>
            <a:pPr algn="ctr"/>
            <a:r>
              <a:rPr lang="en-US" dirty="0" err="1"/>
              <a:t>Sistem</a:t>
            </a:r>
            <a:r>
              <a:rPr lang="en-US" dirty="0"/>
              <a:t> </a:t>
            </a:r>
            <a:r>
              <a:rPr lang="en-US" dirty="0" err="1"/>
              <a:t>Filsafat</a:t>
            </a:r>
            <a:r>
              <a:rPr lang="en-US" dirty="0"/>
              <a:t> </a:t>
            </a:r>
            <a:r>
              <a:rPr lang="en-US" dirty="0" err="1"/>
              <a:t>Pancasil</a:t>
            </a:r>
            <a:r>
              <a:rPr lang="id-ID" dirty="0"/>
              <a:t>a</a:t>
            </a:r>
            <a:endParaRPr lang="en-US" dirty="0"/>
          </a:p>
        </p:txBody>
      </p:sp>
      <p:sp>
        <p:nvSpPr>
          <p:cNvPr id="3" name="Content Placeholder 2"/>
          <p:cNvSpPr>
            <a:spLocks noGrp="1"/>
          </p:cNvSpPr>
          <p:nvPr>
            <p:ph idx="1"/>
          </p:nvPr>
        </p:nvSpPr>
        <p:spPr>
          <a:xfrm>
            <a:off x="0" y="1196752"/>
            <a:ext cx="8460432" cy="5661248"/>
          </a:xfrm>
        </p:spPr>
        <p:txBody>
          <a:bodyPr>
            <a:normAutofit/>
          </a:bodyPr>
          <a:lstStyle/>
          <a:p>
            <a:pPr algn="just"/>
            <a:r>
              <a:rPr lang="en-US" sz="1800" dirty="0" err="1">
                <a:latin typeface="+mj-lt"/>
              </a:rPr>
              <a:t>Pancasila</a:t>
            </a:r>
            <a:r>
              <a:rPr lang="en-US" sz="1800" dirty="0">
                <a:latin typeface="+mj-lt"/>
              </a:rPr>
              <a:t> </a:t>
            </a:r>
            <a:r>
              <a:rPr lang="en-US" sz="1800" dirty="0" err="1">
                <a:latin typeface="+mj-lt"/>
              </a:rPr>
              <a:t>sebagai</a:t>
            </a:r>
            <a:r>
              <a:rPr lang="en-US" sz="1800" dirty="0">
                <a:latin typeface="+mj-lt"/>
              </a:rPr>
              <a:t> </a:t>
            </a:r>
            <a:r>
              <a:rPr lang="en-US" sz="1800" dirty="0" err="1">
                <a:latin typeface="+mj-lt"/>
              </a:rPr>
              <a:t>sistem</a:t>
            </a:r>
            <a:r>
              <a:rPr lang="en-US" sz="1800" dirty="0">
                <a:latin typeface="+mj-lt"/>
              </a:rPr>
              <a:t> </a:t>
            </a:r>
            <a:r>
              <a:rPr lang="en-US" sz="1800" dirty="0" err="1">
                <a:latin typeface="+mj-lt"/>
              </a:rPr>
              <a:t>filsafat</a:t>
            </a:r>
            <a:r>
              <a:rPr lang="en-US" sz="1800" dirty="0">
                <a:latin typeface="+mj-lt"/>
              </a:rPr>
              <a:t> </a:t>
            </a:r>
            <a:r>
              <a:rPr lang="en-US" sz="1800" dirty="0" err="1">
                <a:latin typeface="+mj-lt"/>
              </a:rPr>
              <a:t>dapat</a:t>
            </a:r>
            <a:r>
              <a:rPr lang="en-US" sz="1800" dirty="0">
                <a:latin typeface="+mj-lt"/>
              </a:rPr>
              <a:t> </a:t>
            </a:r>
            <a:r>
              <a:rPr lang="en-US" sz="1800" dirty="0" err="1">
                <a:latin typeface="+mj-lt"/>
              </a:rPr>
              <a:t>dilakukan</a:t>
            </a:r>
            <a:r>
              <a:rPr lang="en-US" sz="1800" dirty="0">
                <a:latin typeface="+mj-lt"/>
              </a:rPr>
              <a:t> </a:t>
            </a:r>
            <a:r>
              <a:rPr lang="en-US" sz="1800" dirty="0" err="1">
                <a:latin typeface="+mj-lt"/>
              </a:rPr>
              <a:t>dengan</a:t>
            </a:r>
            <a:r>
              <a:rPr lang="en-US" sz="1800" dirty="0">
                <a:latin typeface="+mj-lt"/>
              </a:rPr>
              <a:t> </a:t>
            </a:r>
            <a:r>
              <a:rPr lang="en-US" sz="1800" dirty="0" err="1">
                <a:latin typeface="+mj-lt"/>
              </a:rPr>
              <a:t>cara</a:t>
            </a:r>
            <a:r>
              <a:rPr lang="en-US" sz="1800" dirty="0">
                <a:latin typeface="+mj-lt"/>
              </a:rPr>
              <a:t> :</a:t>
            </a:r>
          </a:p>
          <a:p>
            <a:pPr lvl="1" algn="just"/>
            <a:r>
              <a:rPr lang="en-US" sz="1800" b="1" dirty="0" err="1">
                <a:latin typeface="+mj-lt"/>
              </a:rPr>
              <a:t>Deduktif</a:t>
            </a:r>
            <a:r>
              <a:rPr lang="en-US" sz="1800" dirty="0">
                <a:latin typeface="+mj-lt"/>
              </a:rPr>
              <a:t> </a:t>
            </a:r>
            <a:r>
              <a:rPr lang="en-US" sz="1800" dirty="0" err="1">
                <a:latin typeface="+mj-lt"/>
              </a:rPr>
              <a:t>yaitu</a:t>
            </a:r>
            <a:r>
              <a:rPr lang="en-US" sz="1800" dirty="0">
                <a:latin typeface="+mj-lt"/>
              </a:rPr>
              <a:t> </a:t>
            </a:r>
            <a:r>
              <a:rPr lang="en-US" sz="1800" dirty="0" err="1">
                <a:latin typeface="+mj-lt"/>
              </a:rPr>
              <a:t>dengan</a:t>
            </a:r>
            <a:r>
              <a:rPr lang="en-US" sz="1800" dirty="0">
                <a:latin typeface="+mj-lt"/>
              </a:rPr>
              <a:t> </a:t>
            </a:r>
            <a:r>
              <a:rPr lang="en-US" sz="1800" dirty="0" err="1">
                <a:latin typeface="+mj-lt"/>
              </a:rPr>
              <a:t>mencari</a:t>
            </a:r>
            <a:r>
              <a:rPr lang="en-US" sz="1800" dirty="0">
                <a:latin typeface="+mj-lt"/>
              </a:rPr>
              <a:t> </a:t>
            </a:r>
            <a:r>
              <a:rPr lang="en-US" sz="1800" dirty="0" err="1">
                <a:latin typeface="+mj-lt"/>
              </a:rPr>
              <a:t>hakikat</a:t>
            </a:r>
            <a:r>
              <a:rPr lang="en-US" sz="1800" dirty="0">
                <a:latin typeface="+mj-lt"/>
              </a:rPr>
              <a:t> </a:t>
            </a:r>
            <a:r>
              <a:rPr lang="en-US" sz="1800" dirty="0" err="1">
                <a:latin typeface="+mj-lt"/>
              </a:rPr>
              <a:t>Pancasila</a:t>
            </a:r>
            <a:r>
              <a:rPr lang="en-US" sz="1800" dirty="0">
                <a:latin typeface="+mj-lt"/>
              </a:rPr>
              <a:t> </a:t>
            </a:r>
            <a:r>
              <a:rPr lang="en-US" sz="1800" dirty="0" err="1">
                <a:latin typeface="+mj-lt"/>
              </a:rPr>
              <a:t>serta</a:t>
            </a:r>
            <a:r>
              <a:rPr lang="en-US" sz="1800" dirty="0">
                <a:latin typeface="+mj-lt"/>
              </a:rPr>
              <a:t> </a:t>
            </a:r>
            <a:r>
              <a:rPr lang="en-US" sz="1800" dirty="0" err="1">
                <a:latin typeface="+mj-lt"/>
              </a:rPr>
              <a:t>menganalisis</a:t>
            </a:r>
            <a:r>
              <a:rPr lang="en-US" sz="1800" dirty="0">
                <a:latin typeface="+mj-lt"/>
              </a:rPr>
              <a:t> </a:t>
            </a:r>
            <a:r>
              <a:rPr lang="en-US" sz="1800" dirty="0" err="1">
                <a:latin typeface="+mj-lt"/>
              </a:rPr>
              <a:t>dan</a:t>
            </a:r>
            <a:r>
              <a:rPr lang="en-US" sz="1800" dirty="0">
                <a:latin typeface="+mj-lt"/>
              </a:rPr>
              <a:t> </a:t>
            </a:r>
            <a:r>
              <a:rPr lang="en-US" sz="1800" dirty="0" err="1">
                <a:latin typeface="+mj-lt"/>
              </a:rPr>
              <a:t>menyusunnya</a:t>
            </a:r>
            <a:r>
              <a:rPr lang="en-US" sz="1800" dirty="0">
                <a:latin typeface="+mj-lt"/>
              </a:rPr>
              <a:t> </a:t>
            </a:r>
            <a:r>
              <a:rPr lang="en-US" sz="1800" dirty="0" err="1">
                <a:latin typeface="+mj-lt"/>
              </a:rPr>
              <a:t>secara</a:t>
            </a:r>
            <a:r>
              <a:rPr lang="en-US" sz="1800" dirty="0">
                <a:latin typeface="+mj-lt"/>
              </a:rPr>
              <a:t> </a:t>
            </a:r>
            <a:r>
              <a:rPr lang="en-US" sz="1800" dirty="0" err="1">
                <a:latin typeface="+mj-lt"/>
              </a:rPr>
              <a:t>sistematis</a:t>
            </a:r>
            <a:r>
              <a:rPr lang="en-US" sz="1800" dirty="0">
                <a:latin typeface="+mj-lt"/>
              </a:rPr>
              <a:t> </a:t>
            </a:r>
            <a:r>
              <a:rPr lang="en-US" sz="1800" dirty="0" err="1">
                <a:latin typeface="+mj-lt"/>
              </a:rPr>
              <a:t>menjadi</a:t>
            </a:r>
            <a:r>
              <a:rPr lang="en-US" sz="1800" dirty="0">
                <a:latin typeface="+mj-lt"/>
              </a:rPr>
              <a:t> </a:t>
            </a:r>
            <a:r>
              <a:rPr lang="en-US" sz="1800" dirty="0" err="1">
                <a:latin typeface="+mj-lt"/>
              </a:rPr>
              <a:t>keutuhan</a:t>
            </a:r>
            <a:r>
              <a:rPr lang="en-US" sz="1800" dirty="0">
                <a:latin typeface="+mj-lt"/>
              </a:rPr>
              <a:t> </a:t>
            </a:r>
            <a:r>
              <a:rPr lang="en-US" sz="1800" dirty="0" err="1">
                <a:latin typeface="+mj-lt"/>
              </a:rPr>
              <a:t>pandangan</a:t>
            </a:r>
            <a:r>
              <a:rPr lang="en-US" sz="1800" dirty="0">
                <a:latin typeface="+mj-lt"/>
              </a:rPr>
              <a:t> yang </a:t>
            </a:r>
            <a:r>
              <a:rPr lang="en-US" sz="1800" dirty="0" err="1">
                <a:latin typeface="+mj-lt"/>
              </a:rPr>
              <a:t>komp</a:t>
            </a:r>
            <a:r>
              <a:rPr lang="id-ID" sz="1800" dirty="0">
                <a:latin typeface="+mj-lt"/>
              </a:rPr>
              <a:t>re</a:t>
            </a:r>
            <a:r>
              <a:rPr lang="en-US" sz="1800" dirty="0" err="1">
                <a:latin typeface="+mj-lt"/>
              </a:rPr>
              <a:t>hensif</a:t>
            </a:r>
            <a:r>
              <a:rPr lang="en-US" sz="1800" dirty="0">
                <a:latin typeface="+mj-lt"/>
              </a:rPr>
              <a:t>.</a:t>
            </a:r>
          </a:p>
          <a:p>
            <a:pPr lvl="1" algn="just"/>
            <a:r>
              <a:rPr lang="en-US" sz="1800" b="1" dirty="0" err="1">
                <a:latin typeface="+mj-lt"/>
              </a:rPr>
              <a:t>Induktif</a:t>
            </a:r>
            <a:r>
              <a:rPr lang="en-US" sz="1800" dirty="0">
                <a:latin typeface="+mj-lt"/>
              </a:rPr>
              <a:t> </a:t>
            </a:r>
            <a:r>
              <a:rPr lang="en-US" sz="1800" dirty="0" err="1">
                <a:latin typeface="+mj-lt"/>
              </a:rPr>
              <a:t>yaitu</a:t>
            </a:r>
            <a:r>
              <a:rPr lang="en-US" sz="1800" dirty="0">
                <a:latin typeface="+mj-lt"/>
              </a:rPr>
              <a:t> </a:t>
            </a:r>
            <a:r>
              <a:rPr lang="en-US" sz="1800" dirty="0" err="1">
                <a:latin typeface="+mj-lt"/>
              </a:rPr>
              <a:t>dengan</a:t>
            </a:r>
            <a:r>
              <a:rPr lang="en-US" sz="1800" dirty="0">
                <a:latin typeface="+mj-lt"/>
              </a:rPr>
              <a:t> </a:t>
            </a:r>
            <a:r>
              <a:rPr lang="en-US" sz="1800" dirty="0" err="1">
                <a:latin typeface="+mj-lt"/>
              </a:rPr>
              <a:t>mengamati</a:t>
            </a:r>
            <a:r>
              <a:rPr lang="en-US" sz="1800" dirty="0">
                <a:latin typeface="+mj-lt"/>
              </a:rPr>
              <a:t> </a:t>
            </a:r>
            <a:r>
              <a:rPr lang="en-US" sz="1800" dirty="0" err="1">
                <a:latin typeface="+mj-lt"/>
              </a:rPr>
              <a:t>gejala-gejala</a:t>
            </a:r>
            <a:r>
              <a:rPr lang="en-US" sz="1800" dirty="0">
                <a:latin typeface="+mj-lt"/>
              </a:rPr>
              <a:t> </a:t>
            </a:r>
            <a:r>
              <a:rPr lang="en-US" sz="1800" dirty="0" err="1">
                <a:latin typeface="+mj-lt"/>
              </a:rPr>
              <a:t>sosial</a:t>
            </a:r>
            <a:r>
              <a:rPr lang="en-US" sz="1800" dirty="0">
                <a:latin typeface="+mj-lt"/>
              </a:rPr>
              <a:t> </a:t>
            </a:r>
            <a:r>
              <a:rPr lang="en-US" sz="1800" dirty="0" err="1">
                <a:latin typeface="+mj-lt"/>
              </a:rPr>
              <a:t>budaya</a:t>
            </a:r>
            <a:r>
              <a:rPr lang="en-US" sz="1800" dirty="0">
                <a:latin typeface="+mj-lt"/>
              </a:rPr>
              <a:t> </a:t>
            </a:r>
            <a:r>
              <a:rPr lang="en-US" sz="1800" dirty="0" err="1">
                <a:latin typeface="+mj-lt"/>
              </a:rPr>
              <a:t>masyarakat</a:t>
            </a:r>
            <a:r>
              <a:rPr lang="en-US" sz="1800" dirty="0">
                <a:latin typeface="+mj-lt"/>
              </a:rPr>
              <a:t>, </a:t>
            </a:r>
            <a:r>
              <a:rPr lang="en-US" sz="1800" dirty="0" err="1">
                <a:latin typeface="+mj-lt"/>
              </a:rPr>
              <a:t>merefleksikannya</a:t>
            </a:r>
            <a:r>
              <a:rPr lang="en-US" sz="1800" dirty="0">
                <a:latin typeface="+mj-lt"/>
              </a:rPr>
              <a:t> </a:t>
            </a:r>
            <a:r>
              <a:rPr lang="en-US" sz="1800" dirty="0" err="1">
                <a:latin typeface="+mj-lt"/>
              </a:rPr>
              <a:t>dan</a:t>
            </a:r>
            <a:r>
              <a:rPr lang="en-US" sz="1800" dirty="0">
                <a:latin typeface="+mj-lt"/>
              </a:rPr>
              <a:t> </a:t>
            </a:r>
            <a:r>
              <a:rPr lang="en-US" sz="1800" dirty="0" err="1">
                <a:latin typeface="+mj-lt"/>
              </a:rPr>
              <a:t>menarik</a:t>
            </a:r>
            <a:r>
              <a:rPr lang="en-US" sz="1800" dirty="0">
                <a:latin typeface="+mj-lt"/>
              </a:rPr>
              <a:t> </a:t>
            </a:r>
            <a:r>
              <a:rPr lang="en-US" sz="1800" dirty="0" err="1">
                <a:latin typeface="+mj-lt"/>
              </a:rPr>
              <a:t>arti</a:t>
            </a:r>
            <a:r>
              <a:rPr lang="en-US" sz="1800" dirty="0">
                <a:latin typeface="+mj-lt"/>
              </a:rPr>
              <a:t> </a:t>
            </a:r>
            <a:r>
              <a:rPr lang="en-US" sz="1800" dirty="0" err="1">
                <a:latin typeface="+mj-lt"/>
              </a:rPr>
              <a:t>dan</a:t>
            </a:r>
            <a:r>
              <a:rPr lang="en-US" sz="1800" dirty="0">
                <a:latin typeface="+mj-lt"/>
              </a:rPr>
              <a:t> </a:t>
            </a:r>
            <a:r>
              <a:rPr lang="en-US" sz="1800" dirty="0" err="1">
                <a:latin typeface="+mj-lt"/>
              </a:rPr>
              <a:t>makna</a:t>
            </a:r>
            <a:r>
              <a:rPr lang="en-US" sz="1800" dirty="0">
                <a:latin typeface="+mj-lt"/>
              </a:rPr>
              <a:t> yang </a:t>
            </a:r>
            <a:r>
              <a:rPr lang="en-US" sz="1800" dirty="0" err="1">
                <a:latin typeface="+mj-lt"/>
              </a:rPr>
              <a:t>hakiki</a:t>
            </a:r>
            <a:r>
              <a:rPr lang="en-US" sz="1800" dirty="0">
                <a:latin typeface="+mj-lt"/>
              </a:rPr>
              <a:t> </a:t>
            </a:r>
            <a:r>
              <a:rPr lang="en-US" sz="1800" dirty="0" err="1">
                <a:latin typeface="+mj-lt"/>
              </a:rPr>
              <a:t>dari</a:t>
            </a:r>
            <a:r>
              <a:rPr lang="en-US" sz="1800" dirty="0">
                <a:latin typeface="+mj-lt"/>
              </a:rPr>
              <a:t> </a:t>
            </a:r>
            <a:r>
              <a:rPr lang="en-US" sz="1800" dirty="0" err="1">
                <a:latin typeface="+mj-lt"/>
              </a:rPr>
              <a:t>gejala-gejala</a:t>
            </a:r>
            <a:r>
              <a:rPr lang="en-US" sz="1800" dirty="0">
                <a:latin typeface="+mj-lt"/>
              </a:rPr>
              <a:t> </a:t>
            </a:r>
            <a:r>
              <a:rPr lang="en-US" sz="1800" dirty="0" err="1">
                <a:latin typeface="+mj-lt"/>
              </a:rPr>
              <a:t>itu</a:t>
            </a:r>
            <a:r>
              <a:rPr lang="en-US" sz="1800" dirty="0">
                <a:latin typeface="+mj-lt"/>
              </a:rPr>
              <a:t>.</a:t>
            </a:r>
          </a:p>
        </p:txBody>
      </p:sp>
    </p:spTree>
    <p:extLst>
      <p:ext uri="{BB962C8B-B14F-4D97-AF65-F5344CB8AC3E}">
        <p14:creationId xmlns:p14="http://schemas.microsoft.com/office/powerpoint/2010/main" val="639444018"/>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ppt_w</p:attrName>
                                        </p:attrNameLst>
                                      </p:cBhvr>
                                      <p:tavLst>
                                        <p:tav tm="0" fmla="#ppt_w*sin(2.5*pi*$)">
                                          <p:val>
                                            <p:fltVal val="0"/>
                                          </p:val>
                                        </p:tav>
                                        <p:tav tm="100000">
                                          <p:val>
                                            <p:fltVal val="1"/>
                                          </p:val>
                                        </p:tav>
                                      </p:tavLst>
                                    </p:anim>
                                    <p:anim calcmode="lin" valueType="num">
                                      <p:cBhvr>
                                        <p:cTn id="9" dur="1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4)">
                                      <p:cBhvr>
                                        <p:cTn id="14" dur="2000"/>
                                        <p:tgtEl>
                                          <p:spTgt spid="3">
                                            <p:txEl>
                                              <p:pRg st="0" end="0"/>
                                            </p:txEl>
                                          </p:spTgt>
                                        </p:tgtEl>
                                      </p:cBhvr>
                                    </p:animEffect>
                                  </p:childTnLst>
                                </p:cTn>
                              </p:par>
                              <p:par>
                                <p:cTn id="15" presetID="21"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heel(4)">
                                      <p:cBhvr>
                                        <p:cTn id="17" dur="2000"/>
                                        <p:tgtEl>
                                          <p:spTgt spid="3">
                                            <p:txEl>
                                              <p:pRg st="1" end="1"/>
                                            </p:txEl>
                                          </p:spTgt>
                                        </p:tgtEl>
                                      </p:cBhvr>
                                    </p:animEffect>
                                  </p:childTnLst>
                                </p:cTn>
                              </p:par>
                              <p:par>
                                <p:cTn id="18" presetID="21" presetClass="entr" presetSubtype="4"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heel(4)">
                                      <p:cBhvr>
                                        <p:cTn id="2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0" y="260648"/>
            <a:ext cx="8534400" cy="758952"/>
          </a:xfrm>
        </p:spPr>
        <p:txBody>
          <a:bodyPr>
            <a:normAutofit fontScale="90000"/>
          </a:bodyPr>
          <a:lstStyle/>
          <a:p>
            <a:pPr algn="ctr">
              <a:lnSpc>
                <a:spcPts val="4000"/>
              </a:lnSpc>
            </a:pPr>
            <a:r>
              <a:rPr lang="en-US" dirty="0" err="1"/>
              <a:t>Filasafat</a:t>
            </a:r>
            <a:r>
              <a:rPr lang="en-US" dirty="0"/>
              <a:t> </a:t>
            </a:r>
            <a:r>
              <a:rPr lang="en-US" dirty="0" err="1"/>
              <a:t>Pancasila</a:t>
            </a:r>
            <a:r>
              <a:rPr lang="en-US" dirty="0"/>
              <a:t> </a:t>
            </a:r>
            <a:r>
              <a:rPr lang="en-US" dirty="0" err="1"/>
              <a:t>Sebagai</a:t>
            </a:r>
            <a:r>
              <a:rPr lang="en-US" dirty="0"/>
              <a:t> </a:t>
            </a:r>
            <a:r>
              <a:rPr lang="en-US" dirty="0" err="1"/>
              <a:t>Pandangan</a:t>
            </a:r>
            <a:r>
              <a:rPr lang="en-US" dirty="0"/>
              <a:t> </a:t>
            </a:r>
            <a:r>
              <a:rPr lang="en-US" dirty="0" err="1"/>
              <a:t>Hidup</a:t>
            </a:r>
            <a:r>
              <a:rPr lang="en-US" dirty="0"/>
              <a:t> </a:t>
            </a:r>
            <a:r>
              <a:rPr lang="en-US" dirty="0" err="1"/>
              <a:t>Bangsa</a:t>
            </a:r>
            <a:endParaRPr lang="en-US" dirty="0"/>
          </a:p>
        </p:txBody>
      </p:sp>
      <p:sp>
        <p:nvSpPr>
          <p:cNvPr id="3" name="Content Placeholder 2"/>
          <p:cNvSpPr>
            <a:spLocks noGrp="1"/>
          </p:cNvSpPr>
          <p:nvPr>
            <p:ph idx="1"/>
          </p:nvPr>
        </p:nvSpPr>
        <p:spPr/>
        <p:txBody>
          <a:bodyPr>
            <a:normAutofit/>
          </a:bodyPr>
          <a:lstStyle/>
          <a:p>
            <a:pPr algn="just"/>
            <a:r>
              <a:rPr lang="en-US" dirty="0" err="1">
                <a:latin typeface="+mj-lt"/>
              </a:rPr>
              <a:t>Dapat</a:t>
            </a:r>
            <a:r>
              <a:rPr lang="en-US" dirty="0">
                <a:latin typeface="+mj-lt"/>
              </a:rPr>
              <a:t> </a:t>
            </a:r>
            <a:r>
              <a:rPr lang="en-US" dirty="0" err="1">
                <a:latin typeface="+mj-lt"/>
              </a:rPr>
              <a:t>menentukan</a:t>
            </a:r>
            <a:r>
              <a:rPr lang="en-US" dirty="0">
                <a:latin typeface="+mj-lt"/>
              </a:rPr>
              <a:t> </a:t>
            </a:r>
            <a:r>
              <a:rPr lang="en-US" dirty="0" err="1">
                <a:latin typeface="+mj-lt"/>
              </a:rPr>
              <a:t>arah</a:t>
            </a:r>
            <a:r>
              <a:rPr lang="en-US" dirty="0">
                <a:latin typeface="+mj-lt"/>
              </a:rPr>
              <a:t> </a:t>
            </a:r>
            <a:r>
              <a:rPr lang="en-US" dirty="0" err="1">
                <a:latin typeface="+mj-lt"/>
              </a:rPr>
              <a:t>dan</a:t>
            </a:r>
            <a:r>
              <a:rPr lang="en-US" dirty="0">
                <a:latin typeface="+mj-lt"/>
              </a:rPr>
              <a:t> </a:t>
            </a:r>
            <a:r>
              <a:rPr lang="en-US" dirty="0" err="1">
                <a:latin typeface="+mj-lt"/>
              </a:rPr>
              <a:t>memecahkan</a:t>
            </a:r>
            <a:r>
              <a:rPr lang="en-US" dirty="0">
                <a:latin typeface="+mj-lt"/>
              </a:rPr>
              <a:t> </a:t>
            </a:r>
            <a:r>
              <a:rPr lang="en-US" dirty="0" err="1">
                <a:latin typeface="+mj-lt"/>
              </a:rPr>
              <a:t>persoalan</a:t>
            </a:r>
            <a:r>
              <a:rPr lang="en-US" dirty="0">
                <a:latin typeface="+mj-lt"/>
              </a:rPr>
              <a:t> </a:t>
            </a:r>
            <a:r>
              <a:rPr lang="en-US" dirty="0" err="1">
                <a:latin typeface="+mj-lt"/>
              </a:rPr>
              <a:t>kehidupan</a:t>
            </a:r>
            <a:r>
              <a:rPr lang="id-ID" dirty="0">
                <a:latin typeface="+mj-lt"/>
              </a:rPr>
              <a:t>;</a:t>
            </a:r>
            <a:endParaRPr lang="en-US" dirty="0">
              <a:latin typeface="+mj-lt"/>
            </a:endParaRPr>
          </a:p>
          <a:p>
            <a:pPr algn="just"/>
            <a:r>
              <a:rPr lang="en-US" dirty="0" err="1">
                <a:latin typeface="+mj-lt"/>
              </a:rPr>
              <a:t>Memiliki</a:t>
            </a:r>
            <a:r>
              <a:rPr lang="en-US" dirty="0">
                <a:latin typeface="+mj-lt"/>
              </a:rPr>
              <a:t> </a:t>
            </a:r>
            <a:r>
              <a:rPr lang="en-US" dirty="0" err="1">
                <a:latin typeface="+mj-lt"/>
              </a:rPr>
              <a:t>pegangan</a:t>
            </a:r>
            <a:r>
              <a:rPr lang="en-US" dirty="0">
                <a:latin typeface="+mj-lt"/>
              </a:rPr>
              <a:t> </a:t>
            </a:r>
            <a:r>
              <a:rPr lang="en-US" dirty="0" err="1">
                <a:latin typeface="+mj-lt"/>
              </a:rPr>
              <a:t>dan</a:t>
            </a:r>
            <a:r>
              <a:rPr lang="en-US" dirty="0">
                <a:latin typeface="+mj-lt"/>
              </a:rPr>
              <a:t> </a:t>
            </a:r>
            <a:r>
              <a:rPr lang="en-US" dirty="0" err="1">
                <a:latin typeface="+mj-lt"/>
              </a:rPr>
              <a:t>pedoman</a:t>
            </a:r>
            <a:r>
              <a:rPr lang="en-US" dirty="0">
                <a:latin typeface="+mj-lt"/>
              </a:rPr>
              <a:t> </a:t>
            </a:r>
            <a:r>
              <a:rPr lang="en-US" dirty="0" err="1">
                <a:latin typeface="+mj-lt"/>
              </a:rPr>
              <a:t>dalam</a:t>
            </a:r>
            <a:r>
              <a:rPr lang="en-US" dirty="0">
                <a:latin typeface="+mj-lt"/>
              </a:rPr>
              <a:t> </a:t>
            </a:r>
            <a:r>
              <a:rPr lang="en-US" dirty="0" err="1">
                <a:latin typeface="+mj-lt"/>
              </a:rPr>
              <a:t>memecahkan</a:t>
            </a:r>
            <a:r>
              <a:rPr lang="en-US" dirty="0">
                <a:latin typeface="+mj-lt"/>
              </a:rPr>
              <a:t> </a:t>
            </a:r>
            <a:r>
              <a:rPr lang="en-US" dirty="0" err="1">
                <a:latin typeface="+mj-lt"/>
              </a:rPr>
              <a:t>masalah-masalah</a:t>
            </a:r>
            <a:r>
              <a:rPr lang="en-US" dirty="0">
                <a:latin typeface="+mj-lt"/>
              </a:rPr>
              <a:t> </a:t>
            </a:r>
            <a:r>
              <a:rPr lang="en-US" dirty="0" err="1">
                <a:latin typeface="+mj-lt"/>
              </a:rPr>
              <a:t>politik</a:t>
            </a:r>
            <a:r>
              <a:rPr lang="en-US" dirty="0">
                <a:latin typeface="+mj-lt"/>
              </a:rPr>
              <a:t>, </a:t>
            </a:r>
            <a:r>
              <a:rPr lang="en-US" dirty="0" err="1">
                <a:latin typeface="+mj-lt"/>
              </a:rPr>
              <a:t>ekonomi</a:t>
            </a:r>
            <a:r>
              <a:rPr lang="en-US" dirty="0">
                <a:latin typeface="+mj-lt"/>
              </a:rPr>
              <a:t>, </a:t>
            </a:r>
            <a:r>
              <a:rPr lang="en-US" dirty="0" err="1">
                <a:latin typeface="+mj-lt"/>
              </a:rPr>
              <a:t>sosial</a:t>
            </a:r>
            <a:r>
              <a:rPr lang="en-US" dirty="0">
                <a:latin typeface="+mj-lt"/>
              </a:rPr>
              <a:t> </a:t>
            </a:r>
            <a:r>
              <a:rPr lang="en-US" dirty="0" err="1">
                <a:latin typeface="+mj-lt"/>
              </a:rPr>
              <a:t>dan</a:t>
            </a:r>
            <a:r>
              <a:rPr lang="en-US" dirty="0">
                <a:latin typeface="+mj-lt"/>
              </a:rPr>
              <a:t> </a:t>
            </a:r>
            <a:r>
              <a:rPr lang="en-US" dirty="0" err="1">
                <a:latin typeface="+mj-lt"/>
              </a:rPr>
              <a:t>budaya</a:t>
            </a:r>
            <a:r>
              <a:rPr lang="en-US" dirty="0">
                <a:latin typeface="+mj-lt"/>
              </a:rPr>
              <a:t> yang </a:t>
            </a:r>
            <a:r>
              <a:rPr lang="en-US" dirty="0" err="1">
                <a:latin typeface="+mj-lt"/>
              </a:rPr>
              <a:t>timbul</a:t>
            </a:r>
            <a:r>
              <a:rPr lang="en-US" dirty="0">
                <a:latin typeface="+mj-lt"/>
              </a:rPr>
              <a:t> </a:t>
            </a:r>
            <a:r>
              <a:rPr lang="en-US" dirty="0" err="1">
                <a:latin typeface="+mj-lt"/>
              </a:rPr>
              <a:t>dalam</a:t>
            </a:r>
            <a:r>
              <a:rPr lang="en-US" dirty="0">
                <a:latin typeface="+mj-lt"/>
              </a:rPr>
              <a:t> </a:t>
            </a:r>
            <a:r>
              <a:rPr lang="en-US" dirty="0" err="1">
                <a:latin typeface="+mj-lt"/>
              </a:rPr>
              <a:t>gerak</a:t>
            </a:r>
            <a:r>
              <a:rPr lang="en-US" dirty="0">
                <a:latin typeface="+mj-lt"/>
              </a:rPr>
              <a:t> </a:t>
            </a:r>
            <a:r>
              <a:rPr lang="en-US" dirty="0" err="1">
                <a:latin typeface="+mj-lt"/>
              </a:rPr>
              <a:t>masyarakat</a:t>
            </a:r>
            <a:r>
              <a:rPr lang="en-US" dirty="0">
                <a:latin typeface="+mj-lt"/>
              </a:rPr>
              <a:t> yang </a:t>
            </a:r>
            <a:r>
              <a:rPr lang="en-US" dirty="0" err="1">
                <a:latin typeface="+mj-lt"/>
              </a:rPr>
              <a:t>makin</a:t>
            </a:r>
            <a:r>
              <a:rPr lang="en-US" dirty="0">
                <a:latin typeface="+mj-lt"/>
              </a:rPr>
              <a:t> </a:t>
            </a:r>
            <a:r>
              <a:rPr lang="en-US" dirty="0" err="1">
                <a:latin typeface="+mj-lt"/>
              </a:rPr>
              <a:t>maju</a:t>
            </a:r>
            <a:r>
              <a:rPr lang="id-ID" dirty="0">
                <a:latin typeface="+mj-lt"/>
              </a:rPr>
              <a:t>;</a:t>
            </a:r>
            <a:endParaRPr lang="en-US" dirty="0">
              <a:latin typeface="+mj-lt"/>
            </a:endParaRPr>
          </a:p>
          <a:p>
            <a:pPr algn="just"/>
            <a:r>
              <a:rPr lang="en-US" dirty="0" err="1">
                <a:latin typeface="+mj-lt"/>
              </a:rPr>
              <a:t>Kristalisasi</a:t>
            </a:r>
            <a:r>
              <a:rPr lang="en-US" dirty="0">
                <a:latin typeface="+mj-lt"/>
              </a:rPr>
              <a:t> </a:t>
            </a:r>
            <a:r>
              <a:rPr lang="en-US" dirty="0" err="1">
                <a:latin typeface="+mj-lt"/>
              </a:rPr>
              <a:t>nilai-nilai</a:t>
            </a:r>
            <a:r>
              <a:rPr lang="en-US" dirty="0">
                <a:latin typeface="+mj-lt"/>
              </a:rPr>
              <a:t> yang </a:t>
            </a:r>
            <a:r>
              <a:rPr lang="en-US" dirty="0" err="1">
                <a:latin typeface="+mj-lt"/>
              </a:rPr>
              <a:t>dimiliki</a:t>
            </a:r>
            <a:r>
              <a:rPr lang="en-US" dirty="0">
                <a:latin typeface="+mj-lt"/>
              </a:rPr>
              <a:t> </a:t>
            </a:r>
            <a:r>
              <a:rPr lang="en-US" dirty="0" err="1">
                <a:latin typeface="+mj-lt"/>
              </a:rPr>
              <a:t>suatu</a:t>
            </a:r>
            <a:r>
              <a:rPr lang="en-US" dirty="0">
                <a:latin typeface="+mj-lt"/>
              </a:rPr>
              <a:t> </a:t>
            </a:r>
            <a:r>
              <a:rPr lang="en-US" dirty="0" err="1">
                <a:latin typeface="+mj-lt"/>
              </a:rPr>
              <a:t>bangsa</a:t>
            </a:r>
            <a:r>
              <a:rPr lang="en-US" dirty="0">
                <a:latin typeface="+mj-lt"/>
              </a:rPr>
              <a:t> </a:t>
            </a:r>
            <a:r>
              <a:rPr lang="en-US" dirty="0" err="1">
                <a:latin typeface="+mj-lt"/>
              </a:rPr>
              <a:t>dan</a:t>
            </a:r>
            <a:r>
              <a:rPr lang="en-US" dirty="0">
                <a:latin typeface="+mj-lt"/>
              </a:rPr>
              <a:t> </a:t>
            </a:r>
            <a:r>
              <a:rPr lang="en-US" dirty="0" err="1">
                <a:latin typeface="+mj-lt"/>
              </a:rPr>
              <a:t>diyakini</a:t>
            </a:r>
            <a:r>
              <a:rPr lang="en-US" dirty="0">
                <a:latin typeface="+mj-lt"/>
              </a:rPr>
              <a:t> </a:t>
            </a:r>
            <a:r>
              <a:rPr lang="en-US" dirty="0" err="1">
                <a:latin typeface="+mj-lt"/>
              </a:rPr>
              <a:t>kebenarannya</a:t>
            </a:r>
            <a:r>
              <a:rPr lang="en-US" dirty="0">
                <a:latin typeface="+mj-lt"/>
              </a:rPr>
              <a:t> </a:t>
            </a:r>
            <a:r>
              <a:rPr lang="en-US" dirty="0" err="1">
                <a:latin typeface="+mj-lt"/>
              </a:rPr>
              <a:t>serta</a:t>
            </a:r>
            <a:r>
              <a:rPr lang="en-US" dirty="0">
                <a:latin typeface="+mj-lt"/>
              </a:rPr>
              <a:t> </a:t>
            </a:r>
            <a:r>
              <a:rPr lang="en-US" dirty="0" err="1">
                <a:latin typeface="+mj-lt"/>
              </a:rPr>
              <a:t>menimbulkan</a:t>
            </a:r>
            <a:r>
              <a:rPr lang="en-US" dirty="0">
                <a:latin typeface="+mj-lt"/>
              </a:rPr>
              <a:t> </a:t>
            </a:r>
            <a:r>
              <a:rPr lang="en-US" dirty="0" err="1">
                <a:latin typeface="+mj-lt"/>
              </a:rPr>
              <a:t>tekad</a:t>
            </a:r>
            <a:r>
              <a:rPr lang="en-US" dirty="0">
                <a:latin typeface="+mj-lt"/>
              </a:rPr>
              <a:t> </a:t>
            </a:r>
            <a:r>
              <a:rPr lang="en-US" dirty="0" err="1">
                <a:latin typeface="+mj-lt"/>
              </a:rPr>
              <a:t>untuk</a:t>
            </a:r>
            <a:r>
              <a:rPr lang="en-US" dirty="0">
                <a:latin typeface="+mj-lt"/>
              </a:rPr>
              <a:t> </a:t>
            </a:r>
            <a:r>
              <a:rPr lang="en-US" dirty="0" err="1">
                <a:latin typeface="+mj-lt"/>
              </a:rPr>
              <a:t>mewujudkannya</a:t>
            </a:r>
            <a:r>
              <a:rPr lang="en-US" dirty="0">
                <a:latin typeface="+mj-lt"/>
              </a:rPr>
              <a:t>.</a:t>
            </a:r>
          </a:p>
        </p:txBody>
      </p:sp>
    </p:spTree>
    <p:extLst>
      <p:ext uri="{BB962C8B-B14F-4D97-AF65-F5344CB8AC3E}">
        <p14:creationId xmlns:p14="http://schemas.microsoft.com/office/powerpoint/2010/main" val="3628727727"/>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ppt_w</p:attrName>
                                        </p:attrNameLst>
                                      </p:cBhvr>
                                      <p:tavLst>
                                        <p:tav tm="0" fmla="#ppt_w*sin(2.5*pi*$)">
                                          <p:val>
                                            <p:fltVal val="0"/>
                                          </p:val>
                                        </p:tav>
                                        <p:tav tm="100000">
                                          <p:val>
                                            <p:fltVal val="1"/>
                                          </p:val>
                                        </p:tav>
                                      </p:tavLst>
                                    </p:anim>
                                    <p:anim calcmode="lin" valueType="num">
                                      <p:cBhvr>
                                        <p:cTn id="9"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9" presetClass="entr" presetSubtype="0" accel="10000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1000" fill="hold"/>
                                        <p:tgtEl>
                                          <p:spTgt spid="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1000" fill="hold"/>
                                        <p:tgtEl>
                                          <p:spTgt spid="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1000" fill="hold"/>
                                        <p:tgtEl>
                                          <p:spTgt spid="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9" presetClass="entr" presetSubtype="0" accel="10000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p:cTn id="22" dur="1000" fill="hold"/>
                                        <p:tgtEl>
                                          <p:spTgt spid="3">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3" dur="1000" fill="hold"/>
                                        <p:tgtEl>
                                          <p:spTgt spid="3">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4" dur="1000" fill="hold"/>
                                        <p:tgtEl>
                                          <p:spTgt spid="3">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25"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9" presetClass="entr" presetSubtype="0" accel="10000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 calcmode="lin" valueType="num">
                                      <p:cBhvr>
                                        <p:cTn id="30" dur="1000" fill="hold"/>
                                        <p:tgtEl>
                                          <p:spTgt spid="3">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1" dur="1000" fill="hold"/>
                                        <p:tgtEl>
                                          <p:spTgt spid="3">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2" dur="1000" fill="hold"/>
                                        <p:tgtEl>
                                          <p:spTgt spid="3">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33"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648"/>
            <a:ext cx="8534400" cy="758952"/>
          </a:xfrm>
        </p:spPr>
        <p:txBody>
          <a:bodyPr>
            <a:normAutofit fontScale="90000"/>
          </a:bodyPr>
          <a:lstStyle/>
          <a:p>
            <a:pPr algn="ctr">
              <a:lnSpc>
                <a:spcPts val="4000"/>
              </a:lnSpc>
            </a:pPr>
            <a:r>
              <a:rPr lang="en-US" dirty="0" err="1"/>
              <a:t>Filasafat</a:t>
            </a:r>
            <a:r>
              <a:rPr lang="en-US" dirty="0"/>
              <a:t> </a:t>
            </a:r>
            <a:r>
              <a:rPr lang="en-US" dirty="0" err="1"/>
              <a:t>Pancasila</a:t>
            </a:r>
            <a:r>
              <a:rPr lang="en-US" dirty="0"/>
              <a:t> </a:t>
            </a:r>
            <a:r>
              <a:rPr lang="en-US" dirty="0" err="1"/>
              <a:t>Sebagai</a:t>
            </a:r>
            <a:r>
              <a:rPr lang="en-US" dirty="0"/>
              <a:t> </a:t>
            </a:r>
            <a:r>
              <a:rPr lang="en-US" dirty="0" err="1"/>
              <a:t>Pandangan</a:t>
            </a:r>
            <a:r>
              <a:rPr lang="en-US" dirty="0"/>
              <a:t> </a:t>
            </a:r>
            <a:r>
              <a:rPr lang="en-US" dirty="0" err="1"/>
              <a:t>Hidup</a:t>
            </a:r>
            <a:r>
              <a:rPr lang="en-US" dirty="0"/>
              <a:t> </a:t>
            </a:r>
            <a:r>
              <a:rPr lang="en-US" dirty="0" err="1"/>
              <a:t>Bangsa</a:t>
            </a:r>
            <a:endParaRPr lang="en-US" dirty="0"/>
          </a:p>
        </p:txBody>
      </p:sp>
      <p:sp>
        <p:nvSpPr>
          <p:cNvPr id="3" name="Content Placeholder 2"/>
          <p:cNvSpPr>
            <a:spLocks noGrp="1"/>
          </p:cNvSpPr>
          <p:nvPr>
            <p:ph idx="1"/>
          </p:nvPr>
        </p:nvSpPr>
        <p:spPr/>
        <p:txBody>
          <a:bodyPr>
            <a:normAutofit/>
          </a:bodyPr>
          <a:lstStyle/>
          <a:p>
            <a:pPr algn="just"/>
            <a:r>
              <a:rPr lang="en-US" dirty="0" err="1">
                <a:latin typeface="+mj-lt"/>
              </a:rPr>
              <a:t>Merupakan</a:t>
            </a:r>
            <a:r>
              <a:rPr lang="en-US" dirty="0">
                <a:latin typeface="+mj-lt"/>
              </a:rPr>
              <a:t> </a:t>
            </a:r>
            <a:r>
              <a:rPr lang="en-US" dirty="0" err="1">
                <a:latin typeface="+mj-lt"/>
              </a:rPr>
              <a:t>pandangan</a:t>
            </a:r>
            <a:r>
              <a:rPr lang="en-US" dirty="0">
                <a:latin typeface="+mj-lt"/>
              </a:rPr>
              <a:t> </a:t>
            </a:r>
            <a:r>
              <a:rPr lang="en-US" dirty="0" err="1">
                <a:latin typeface="+mj-lt"/>
              </a:rPr>
              <a:t>hidup</a:t>
            </a:r>
            <a:r>
              <a:rPr lang="en-US" dirty="0">
                <a:latin typeface="+mj-lt"/>
              </a:rPr>
              <a:t> yang </a:t>
            </a:r>
            <a:r>
              <a:rPr lang="en-US" dirty="0" err="1">
                <a:latin typeface="+mj-lt"/>
              </a:rPr>
              <a:t>berakar</a:t>
            </a:r>
            <a:r>
              <a:rPr lang="en-US" dirty="0">
                <a:latin typeface="+mj-lt"/>
              </a:rPr>
              <a:t> </a:t>
            </a:r>
            <a:r>
              <a:rPr lang="en-US" dirty="0" err="1">
                <a:latin typeface="+mj-lt"/>
              </a:rPr>
              <a:t>dalam</a:t>
            </a:r>
            <a:r>
              <a:rPr lang="en-US" dirty="0">
                <a:latin typeface="+mj-lt"/>
              </a:rPr>
              <a:t> </a:t>
            </a:r>
            <a:r>
              <a:rPr lang="en-US" dirty="0" err="1">
                <a:latin typeface="+mj-lt"/>
              </a:rPr>
              <a:t>kepribadian</a:t>
            </a:r>
            <a:r>
              <a:rPr lang="en-US" dirty="0">
                <a:latin typeface="+mj-lt"/>
              </a:rPr>
              <a:t> </a:t>
            </a:r>
            <a:r>
              <a:rPr lang="en-US" dirty="0" err="1">
                <a:latin typeface="+mj-lt"/>
              </a:rPr>
              <a:t>bangsa</a:t>
            </a:r>
            <a:r>
              <a:rPr lang="en-US" dirty="0">
                <a:latin typeface="+mj-lt"/>
              </a:rPr>
              <a:t> </a:t>
            </a:r>
            <a:r>
              <a:rPr lang="en-US" dirty="0" err="1">
                <a:latin typeface="+mj-lt"/>
              </a:rPr>
              <a:t>dan</a:t>
            </a:r>
            <a:r>
              <a:rPr lang="en-US" dirty="0">
                <a:latin typeface="+mj-lt"/>
              </a:rPr>
              <a:t> </a:t>
            </a:r>
            <a:r>
              <a:rPr lang="en-US" dirty="0" err="1">
                <a:latin typeface="+mj-lt"/>
              </a:rPr>
              <a:t>diterima</a:t>
            </a:r>
            <a:r>
              <a:rPr lang="en-US" dirty="0">
                <a:latin typeface="+mj-lt"/>
              </a:rPr>
              <a:t> </a:t>
            </a:r>
            <a:r>
              <a:rPr lang="en-US" dirty="0" err="1">
                <a:latin typeface="+mj-lt"/>
              </a:rPr>
              <a:t>sebagai</a:t>
            </a:r>
            <a:r>
              <a:rPr lang="en-US" dirty="0">
                <a:latin typeface="+mj-lt"/>
              </a:rPr>
              <a:t> </a:t>
            </a:r>
            <a:r>
              <a:rPr lang="en-US" dirty="0" err="1">
                <a:latin typeface="+mj-lt"/>
              </a:rPr>
              <a:t>dasar</a:t>
            </a:r>
            <a:r>
              <a:rPr lang="en-US" dirty="0">
                <a:latin typeface="+mj-lt"/>
              </a:rPr>
              <a:t> </a:t>
            </a:r>
            <a:r>
              <a:rPr lang="en-US" dirty="0" err="1">
                <a:latin typeface="+mj-lt"/>
              </a:rPr>
              <a:t>negara</a:t>
            </a:r>
            <a:r>
              <a:rPr lang="en-US" dirty="0">
                <a:latin typeface="+mj-lt"/>
              </a:rPr>
              <a:t> yang </a:t>
            </a:r>
            <a:r>
              <a:rPr lang="en-US" dirty="0" err="1">
                <a:latin typeface="+mj-lt"/>
              </a:rPr>
              <a:t>mengatur</a:t>
            </a:r>
            <a:r>
              <a:rPr lang="en-US" dirty="0">
                <a:latin typeface="+mj-lt"/>
              </a:rPr>
              <a:t> </a:t>
            </a:r>
            <a:r>
              <a:rPr lang="en-US" dirty="0" err="1">
                <a:latin typeface="+mj-lt"/>
              </a:rPr>
              <a:t>hidup</a:t>
            </a:r>
            <a:r>
              <a:rPr lang="en-US" dirty="0">
                <a:latin typeface="+mj-lt"/>
              </a:rPr>
              <a:t> </a:t>
            </a:r>
            <a:r>
              <a:rPr lang="en-US" dirty="0" err="1">
                <a:latin typeface="+mj-lt"/>
              </a:rPr>
              <a:t>ketatanegaraan</a:t>
            </a:r>
            <a:r>
              <a:rPr lang="id-ID" dirty="0">
                <a:latin typeface="+mj-lt"/>
              </a:rPr>
              <a:t>;</a:t>
            </a:r>
            <a:endParaRPr lang="en-US" dirty="0">
              <a:latin typeface="+mj-lt"/>
            </a:endParaRPr>
          </a:p>
          <a:p>
            <a:pPr algn="just"/>
            <a:r>
              <a:rPr lang="en-US" dirty="0" err="1">
                <a:latin typeface="+mj-lt"/>
              </a:rPr>
              <a:t>Dikukuhkan</a:t>
            </a:r>
            <a:r>
              <a:rPr lang="en-US" dirty="0">
                <a:latin typeface="+mj-lt"/>
              </a:rPr>
              <a:t> </a:t>
            </a:r>
            <a:r>
              <a:rPr lang="en-US" dirty="0" err="1">
                <a:latin typeface="+mj-lt"/>
              </a:rPr>
              <a:t>dalam</a:t>
            </a:r>
            <a:r>
              <a:rPr lang="en-US" dirty="0">
                <a:latin typeface="+mj-lt"/>
              </a:rPr>
              <a:t> </a:t>
            </a:r>
            <a:r>
              <a:rPr lang="en-US" dirty="0" err="1">
                <a:latin typeface="+mj-lt"/>
              </a:rPr>
              <a:t>kehidupan</a:t>
            </a:r>
            <a:r>
              <a:rPr lang="en-US" dirty="0">
                <a:latin typeface="+mj-lt"/>
              </a:rPr>
              <a:t> </a:t>
            </a:r>
            <a:r>
              <a:rPr lang="en-US" dirty="0" err="1">
                <a:latin typeface="+mj-lt"/>
              </a:rPr>
              <a:t>konstitusional</a:t>
            </a:r>
            <a:r>
              <a:rPr lang="id-ID" dirty="0">
                <a:latin typeface="+mj-lt"/>
              </a:rPr>
              <a:t>;</a:t>
            </a:r>
            <a:endParaRPr lang="en-US" dirty="0">
              <a:latin typeface="+mj-lt"/>
            </a:endParaRPr>
          </a:p>
          <a:p>
            <a:pPr algn="just"/>
            <a:r>
              <a:rPr lang="en-US" dirty="0" err="1">
                <a:latin typeface="+mj-lt"/>
              </a:rPr>
              <a:t>Menjadi</a:t>
            </a:r>
            <a:r>
              <a:rPr lang="en-US" dirty="0">
                <a:latin typeface="+mj-lt"/>
              </a:rPr>
              <a:t> </a:t>
            </a:r>
            <a:r>
              <a:rPr lang="en-US" dirty="0" err="1">
                <a:latin typeface="+mj-lt"/>
              </a:rPr>
              <a:t>pegangan</a:t>
            </a:r>
            <a:r>
              <a:rPr lang="en-US" dirty="0">
                <a:latin typeface="+mj-lt"/>
              </a:rPr>
              <a:t> </a:t>
            </a:r>
            <a:r>
              <a:rPr lang="en-US" dirty="0" err="1">
                <a:latin typeface="+mj-lt"/>
              </a:rPr>
              <a:t>saat</a:t>
            </a:r>
            <a:r>
              <a:rPr lang="en-US" dirty="0">
                <a:latin typeface="+mj-lt"/>
              </a:rPr>
              <a:t> </a:t>
            </a:r>
            <a:r>
              <a:rPr lang="en-US" dirty="0" err="1">
                <a:latin typeface="+mj-lt"/>
              </a:rPr>
              <a:t>krisis</a:t>
            </a:r>
            <a:r>
              <a:rPr lang="en-US" dirty="0">
                <a:latin typeface="+mj-lt"/>
              </a:rPr>
              <a:t> </a:t>
            </a:r>
            <a:r>
              <a:rPr lang="en-US" dirty="0" err="1">
                <a:latin typeface="+mj-lt"/>
              </a:rPr>
              <a:t>dan</a:t>
            </a:r>
            <a:r>
              <a:rPr lang="en-US" dirty="0">
                <a:latin typeface="+mj-lt"/>
              </a:rPr>
              <a:t> </a:t>
            </a:r>
            <a:r>
              <a:rPr lang="en-US" dirty="0" err="1">
                <a:latin typeface="+mj-lt"/>
              </a:rPr>
              <a:t>ancaman</a:t>
            </a:r>
            <a:r>
              <a:rPr lang="en-US" dirty="0">
                <a:latin typeface="+mj-lt"/>
              </a:rPr>
              <a:t> </a:t>
            </a:r>
            <a:r>
              <a:rPr lang="en-US" dirty="0" err="1">
                <a:latin typeface="+mj-lt"/>
              </a:rPr>
              <a:t>terhadap</a:t>
            </a:r>
            <a:r>
              <a:rPr lang="en-US" dirty="0">
                <a:latin typeface="+mj-lt"/>
              </a:rPr>
              <a:t> </a:t>
            </a:r>
            <a:r>
              <a:rPr lang="en-US" dirty="0" err="1">
                <a:latin typeface="+mj-lt"/>
              </a:rPr>
              <a:t>eksistensi</a:t>
            </a:r>
            <a:r>
              <a:rPr lang="en-US" dirty="0">
                <a:latin typeface="+mj-lt"/>
              </a:rPr>
              <a:t> </a:t>
            </a:r>
            <a:r>
              <a:rPr lang="en-US" dirty="0" err="1">
                <a:latin typeface="+mj-lt"/>
              </a:rPr>
              <a:t>bangsa</a:t>
            </a:r>
            <a:r>
              <a:rPr lang="en-US" dirty="0">
                <a:latin typeface="+mj-lt"/>
              </a:rPr>
              <a:t> Indonesia</a:t>
            </a:r>
            <a:r>
              <a:rPr lang="id-ID" dirty="0">
                <a:latin typeface="+mj-lt"/>
              </a:rPr>
              <a:t>;</a:t>
            </a:r>
            <a:endParaRPr lang="en-US" dirty="0">
              <a:latin typeface="+mj-lt"/>
            </a:endParaRPr>
          </a:p>
          <a:p>
            <a:pPr algn="just"/>
            <a:r>
              <a:rPr lang="en-US" dirty="0" err="1">
                <a:latin typeface="+mj-lt"/>
              </a:rPr>
              <a:t>Merupakan</a:t>
            </a:r>
            <a:r>
              <a:rPr lang="en-US" dirty="0">
                <a:latin typeface="+mj-lt"/>
              </a:rPr>
              <a:t> </a:t>
            </a:r>
            <a:r>
              <a:rPr lang="en-US" dirty="0" err="1">
                <a:latin typeface="+mj-lt"/>
              </a:rPr>
              <a:t>dasar</a:t>
            </a:r>
            <a:r>
              <a:rPr lang="en-US" dirty="0">
                <a:latin typeface="+mj-lt"/>
              </a:rPr>
              <a:t> </a:t>
            </a:r>
            <a:r>
              <a:rPr lang="en-US" dirty="0" err="1">
                <a:latin typeface="+mj-lt"/>
              </a:rPr>
              <a:t>mempersatukan</a:t>
            </a:r>
            <a:r>
              <a:rPr lang="en-US" dirty="0">
                <a:latin typeface="+mj-lt"/>
              </a:rPr>
              <a:t> </a:t>
            </a:r>
            <a:r>
              <a:rPr lang="en-US" dirty="0" err="1">
                <a:latin typeface="+mj-lt"/>
              </a:rPr>
              <a:t>seluruh</a:t>
            </a:r>
            <a:r>
              <a:rPr lang="en-US" dirty="0">
                <a:latin typeface="+mj-lt"/>
              </a:rPr>
              <a:t> </a:t>
            </a:r>
            <a:r>
              <a:rPr lang="en-US" dirty="0" err="1">
                <a:latin typeface="+mj-lt"/>
              </a:rPr>
              <a:t>rakyat</a:t>
            </a:r>
            <a:r>
              <a:rPr lang="en-US" dirty="0">
                <a:latin typeface="+mj-lt"/>
              </a:rPr>
              <a:t> Indonesia.</a:t>
            </a:r>
          </a:p>
        </p:txBody>
      </p:sp>
    </p:spTree>
    <p:extLst>
      <p:ext uri="{BB962C8B-B14F-4D97-AF65-F5344CB8AC3E}">
        <p14:creationId xmlns:p14="http://schemas.microsoft.com/office/powerpoint/2010/main" val="256837061"/>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6"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strips(downRight)">
                                      <p:cBhvr>
                                        <p:cTn id="14" dur="10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strips(downRight)">
                                      <p:cBhvr>
                                        <p:cTn id="19" dur="1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strips(downRight)">
                                      <p:cBhvr>
                                        <p:cTn id="24" dur="10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strips(downRight)">
                                      <p:cBhvr>
                                        <p:cTn id="29"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84048"/>
            <a:ext cx="8534400" cy="758952"/>
          </a:xfrm>
        </p:spPr>
        <p:txBody>
          <a:bodyPr>
            <a:normAutofit fontScale="90000"/>
          </a:bodyPr>
          <a:lstStyle/>
          <a:p>
            <a:pPr algn="ctr">
              <a:lnSpc>
                <a:spcPts val="4000"/>
              </a:lnSpc>
            </a:pPr>
            <a:r>
              <a:rPr lang="en-US" dirty="0" err="1"/>
              <a:t>Falsafah</a:t>
            </a:r>
            <a:r>
              <a:rPr lang="en-US" dirty="0"/>
              <a:t> </a:t>
            </a:r>
            <a:r>
              <a:rPr lang="en-US" dirty="0" err="1"/>
              <a:t>Pancasila</a:t>
            </a:r>
            <a:r>
              <a:rPr lang="en-US" dirty="0"/>
              <a:t> </a:t>
            </a:r>
            <a:r>
              <a:rPr lang="en-US" dirty="0" err="1"/>
              <a:t>Sebagai</a:t>
            </a:r>
            <a:r>
              <a:rPr lang="en-US" dirty="0"/>
              <a:t> </a:t>
            </a:r>
            <a:r>
              <a:rPr lang="en-US" dirty="0" err="1"/>
              <a:t>Dasar</a:t>
            </a:r>
            <a:r>
              <a:rPr lang="en-US" dirty="0"/>
              <a:t> Negara Indonesia</a:t>
            </a:r>
          </a:p>
        </p:txBody>
      </p:sp>
      <p:sp>
        <p:nvSpPr>
          <p:cNvPr id="3" name="Content Placeholder 2"/>
          <p:cNvSpPr>
            <a:spLocks noGrp="1"/>
          </p:cNvSpPr>
          <p:nvPr>
            <p:ph idx="1"/>
          </p:nvPr>
        </p:nvSpPr>
        <p:spPr/>
        <p:txBody>
          <a:bodyPr>
            <a:noAutofit/>
          </a:bodyPr>
          <a:lstStyle/>
          <a:p>
            <a:pPr algn="just"/>
            <a:r>
              <a:rPr lang="en-US" dirty="0" err="1">
                <a:latin typeface="+mj-lt"/>
              </a:rPr>
              <a:t>Pidato</a:t>
            </a:r>
            <a:r>
              <a:rPr lang="en-US" dirty="0">
                <a:latin typeface="+mj-lt"/>
              </a:rPr>
              <a:t> Ir. </a:t>
            </a:r>
            <a:r>
              <a:rPr lang="en-US" dirty="0" err="1">
                <a:latin typeface="+mj-lt"/>
              </a:rPr>
              <a:t>Soekarno</a:t>
            </a:r>
            <a:r>
              <a:rPr lang="en-US" dirty="0">
                <a:latin typeface="+mj-lt"/>
              </a:rPr>
              <a:t> </a:t>
            </a:r>
            <a:r>
              <a:rPr lang="en-US" dirty="0" err="1">
                <a:latin typeface="+mj-lt"/>
              </a:rPr>
              <a:t>tanggal</a:t>
            </a:r>
            <a:r>
              <a:rPr lang="en-US" dirty="0">
                <a:latin typeface="+mj-lt"/>
              </a:rPr>
              <a:t> 1 </a:t>
            </a:r>
            <a:r>
              <a:rPr lang="en-US" dirty="0" err="1">
                <a:latin typeface="+mj-lt"/>
              </a:rPr>
              <a:t>Juni</a:t>
            </a:r>
            <a:r>
              <a:rPr lang="en-US" dirty="0">
                <a:latin typeface="+mj-lt"/>
              </a:rPr>
              <a:t> 1945.</a:t>
            </a:r>
          </a:p>
          <a:p>
            <a:pPr algn="just"/>
            <a:r>
              <a:rPr lang="en-US" dirty="0" err="1">
                <a:latin typeface="+mj-lt"/>
              </a:rPr>
              <a:t>Naskah</a:t>
            </a:r>
            <a:r>
              <a:rPr lang="en-US" dirty="0">
                <a:latin typeface="+mj-lt"/>
              </a:rPr>
              <a:t> </a:t>
            </a:r>
            <a:r>
              <a:rPr lang="en-US" dirty="0" err="1">
                <a:latin typeface="+mj-lt"/>
              </a:rPr>
              <a:t>Politik</a:t>
            </a:r>
            <a:r>
              <a:rPr lang="en-US" dirty="0">
                <a:latin typeface="+mj-lt"/>
              </a:rPr>
              <a:t>, </a:t>
            </a:r>
            <a:r>
              <a:rPr lang="en-US" dirty="0" err="1">
                <a:latin typeface="+mj-lt"/>
              </a:rPr>
              <a:t>tanggal</a:t>
            </a:r>
            <a:r>
              <a:rPr lang="en-US" dirty="0">
                <a:latin typeface="+mj-lt"/>
              </a:rPr>
              <a:t> 22 </a:t>
            </a:r>
            <a:r>
              <a:rPr lang="en-US" dirty="0" err="1">
                <a:latin typeface="+mj-lt"/>
              </a:rPr>
              <a:t>Juni</a:t>
            </a:r>
            <a:r>
              <a:rPr lang="en-US" dirty="0">
                <a:latin typeface="+mj-lt"/>
              </a:rPr>
              <a:t> 1945 </a:t>
            </a:r>
            <a:r>
              <a:rPr lang="en-US" dirty="0" err="1">
                <a:latin typeface="+mj-lt"/>
              </a:rPr>
              <a:t>alinea</a:t>
            </a:r>
            <a:r>
              <a:rPr lang="en-US" dirty="0">
                <a:latin typeface="+mj-lt"/>
              </a:rPr>
              <a:t> IV, </a:t>
            </a:r>
            <a:r>
              <a:rPr lang="en-US" dirty="0" err="1">
                <a:latin typeface="+mj-lt"/>
              </a:rPr>
              <a:t>kemudian</a:t>
            </a:r>
            <a:r>
              <a:rPr lang="en-US" dirty="0">
                <a:latin typeface="+mj-lt"/>
              </a:rPr>
              <a:t> </a:t>
            </a:r>
            <a:r>
              <a:rPr lang="en-US" dirty="0" err="1">
                <a:latin typeface="+mj-lt"/>
              </a:rPr>
              <a:t>dijadikan</a:t>
            </a:r>
            <a:r>
              <a:rPr lang="en-US" dirty="0">
                <a:latin typeface="+mj-lt"/>
              </a:rPr>
              <a:t> </a:t>
            </a:r>
            <a:r>
              <a:rPr lang="en-US" dirty="0" err="1">
                <a:latin typeface="+mj-lt"/>
              </a:rPr>
              <a:t>naskah</a:t>
            </a:r>
            <a:r>
              <a:rPr lang="en-US" dirty="0">
                <a:latin typeface="+mj-lt"/>
              </a:rPr>
              <a:t> </a:t>
            </a:r>
            <a:r>
              <a:rPr lang="en-US" dirty="0" err="1">
                <a:latin typeface="+mj-lt"/>
              </a:rPr>
              <a:t>rancangan</a:t>
            </a:r>
            <a:r>
              <a:rPr lang="en-US" dirty="0">
                <a:latin typeface="+mj-lt"/>
              </a:rPr>
              <a:t> </a:t>
            </a:r>
            <a:r>
              <a:rPr lang="en-US" dirty="0" err="1">
                <a:latin typeface="+mj-lt"/>
              </a:rPr>
              <a:t>Pembukaan</a:t>
            </a:r>
            <a:r>
              <a:rPr lang="en-US" dirty="0">
                <a:latin typeface="+mj-lt"/>
              </a:rPr>
              <a:t> UUD 1945 (</a:t>
            </a:r>
            <a:r>
              <a:rPr lang="en-US" dirty="0" err="1">
                <a:latin typeface="+mj-lt"/>
              </a:rPr>
              <a:t>terkenal</a:t>
            </a:r>
            <a:r>
              <a:rPr lang="en-US" dirty="0">
                <a:latin typeface="+mj-lt"/>
              </a:rPr>
              <a:t> </a:t>
            </a:r>
            <a:r>
              <a:rPr lang="en-US" dirty="0" err="1">
                <a:latin typeface="+mj-lt"/>
              </a:rPr>
              <a:t>dengan</a:t>
            </a:r>
            <a:r>
              <a:rPr lang="en-US" dirty="0">
                <a:latin typeface="+mj-lt"/>
              </a:rPr>
              <a:t> </a:t>
            </a:r>
            <a:r>
              <a:rPr lang="en-US" dirty="0" err="1">
                <a:latin typeface="+mj-lt"/>
              </a:rPr>
              <a:t>sebutan</a:t>
            </a:r>
            <a:r>
              <a:rPr lang="en-US" dirty="0">
                <a:latin typeface="+mj-lt"/>
              </a:rPr>
              <a:t> </a:t>
            </a:r>
            <a:r>
              <a:rPr lang="en-US" dirty="0" err="1">
                <a:latin typeface="+mj-lt"/>
              </a:rPr>
              <a:t>Piagam</a:t>
            </a:r>
            <a:r>
              <a:rPr lang="en-US" dirty="0">
                <a:latin typeface="+mj-lt"/>
              </a:rPr>
              <a:t> Jakarta).</a:t>
            </a:r>
          </a:p>
          <a:p>
            <a:pPr algn="just"/>
            <a:r>
              <a:rPr lang="en-US" dirty="0" err="1">
                <a:latin typeface="+mj-lt"/>
              </a:rPr>
              <a:t>Naskah</a:t>
            </a:r>
            <a:r>
              <a:rPr lang="en-US" dirty="0">
                <a:latin typeface="+mj-lt"/>
              </a:rPr>
              <a:t> </a:t>
            </a:r>
            <a:r>
              <a:rPr lang="en-US" dirty="0" err="1">
                <a:latin typeface="+mj-lt"/>
              </a:rPr>
              <a:t>Pembukaan</a:t>
            </a:r>
            <a:r>
              <a:rPr lang="en-US" dirty="0">
                <a:latin typeface="+mj-lt"/>
              </a:rPr>
              <a:t> UUD</a:t>
            </a:r>
            <a:r>
              <a:rPr lang="id-ID" dirty="0">
                <a:latin typeface="+mj-lt"/>
              </a:rPr>
              <a:t>:</a:t>
            </a:r>
            <a:r>
              <a:rPr lang="en-US" dirty="0">
                <a:latin typeface="+mj-lt"/>
              </a:rPr>
              <a:t> </a:t>
            </a:r>
            <a:r>
              <a:rPr lang="en-US" dirty="0" err="1">
                <a:latin typeface="+mj-lt"/>
              </a:rPr>
              <a:t>Proklamasi</a:t>
            </a:r>
            <a:r>
              <a:rPr lang="en-US" dirty="0">
                <a:latin typeface="+mj-lt"/>
              </a:rPr>
              <a:t> 1945, </a:t>
            </a:r>
            <a:r>
              <a:rPr lang="en-US" dirty="0" err="1">
                <a:latin typeface="+mj-lt"/>
              </a:rPr>
              <a:t>alinea</a:t>
            </a:r>
            <a:r>
              <a:rPr lang="en-US" dirty="0">
                <a:latin typeface="+mj-lt"/>
              </a:rPr>
              <a:t> IV.</a:t>
            </a:r>
          </a:p>
        </p:txBody>
      </p:sp>
    </p:spTree>
    <p:extLst>
      <p:ext uri="{BB962C8B-B14F-4D97-AF65-F5344CB8AC3E}">
        <p14:creationId xmlns:p14="http://schemas.microsoft.com/office/powerpoint/2010/main" val="1544827797"/>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amond(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amond(in)">
                                      <p:cBhvr>
                                        <p:cTn id="2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84048"/>
            <a:ext cx="8534400" cy="758952"/>
          </a:xfrm>
        </p:spPr>
        <p:txBody>
          <a:bodyPr>
            <a:normAutofit fontScale="90000"/>
          </a:bodyPr>
          <a:lstStyle/>
          <a:p>
            <a:pPr algn="ctr">
              <a:lnSpc>
                <a:spcPts val="4000"/>
              </a:lnSpc>
            </a:pPr>
            <a:r>
              <a:rPr lang="en-US" dirty="0" err="1"/>
              <a:t>Falsafah</a:t>
            </a:r>
            <a:r>
              <a:rPr lang="en-US" dirty="0"/>
              <a:t> </a:t>
            </a:r>
            <a:r>
              <a:rPr lang="en-US" dirty="0" err="1"/>
              <a:t>Pancasila</a:t>
            </a:r>
            <a:r>
              <a:rPr lang="en-US" dirty="0"/>
              <a:t> </a:t>
            </a:r>
            <a:r>
              <a:rPr lang="en-US" dirty="0" err="1"/>
              <a:t>Sebagai</a:t>
            </a:r>
            <a:r>
              <a:rPr lang="en-US" dirty="0"/>
              <a:t> </a:t>
            </a:r>
            <a:r>
              <a:rPr lang="en-US" dirty="0" err="1"/>
              <a:t>Dasar</a:t>
            </a:r>
            <a:r>
              <a:rPr lang="en-US" dirty="0"/>
              <a:t> Negara Indonesia</a:t>
            </a:r>
          </a:p>
        </p:txBody>
      </p:sp>
      <p:sp>
        <p:nvSpPr>
          <p:cNvPr id="3" name="Content Placeholder 2"/>
          <p:cNvSpPr>
            <a:spLocks noGrp="1"/>
          </p:cNvSpPr>
          <p:nvPr>
            <p:ph idx="1"/>
          </p:nvPr>
        </p:nvSpPr>
        <p:spPr/>
        <p:txBody>
          <a:bodyPr>
            <a:noAutofit/>
          </a:bodyPr>
          <a:lstStyle/>
          <a:p>
            <a:pPr algn="just"/>
            <a:r>
              <a:rPr lang="en-US" dirty="0" err="1">
                <a:latin typeface="+mj-lt"/>
              </a:rPr>
              <a:t>Mukadimah</a:t>
            </a:r>
            <a:r>
              <a:rPr lang="en-US" dirty="0">
                <a:latin typeface="+mj-lt"/>
              </a:rPr>
              <a:t> </a:t>
            </a:r>
            <a:r>
              <a:rPr lang="en-US" dirty="0" err="1">
                <a:latin typeface="+mj-lt"/>
              </a:rPr>
              <a:t>Konstitusi</a:t>
            </a:r>
            <a:r>
              <a:rPr lang="en-US" dirty="0">
                <a:latin typeface="+mj-lt"/>
              </a:rPr>
              <a:t> </a:t>
            </a:r>
            <a:r>
              <a:rPr lang="en-US" dirty="0" err="1">
                <a:latin typeface="+mj-lt"/>
              </a:rPr>
              <a:t>Republik</a:t>
            </a:r>
            <a:r>
              <a:rPr lang="en-US" dirty="0">
                <a:latin typeface="+mj-lt"/>
              </a:rPr>
              <a:t> Indonesia </a:t>
            </a:r>
            <a:r>
              <a:rPr lang="en-US" dirty="0" err="1">
                <a:latin typeface="+mj-lt"/>
              </a:rPr>
              <a:t>Serikat</a:t>
            </a:r>
            <a:r>
              <a:rPr lang="en-US" dirty="0">
                <a:latin typeface="+mj-lt"/>
              </a:rPr>
              <a:t> (RIS) </a:t>
            </a:r>
            <a:r>
              <a:rPr lang="en-US" dirty="0" err="1">
                <a:latin typeface="+mj-lt"/>
              </a:rPr>
              <a:t>tanggal</a:t>
            </a:r>
            <a:r>
              <a:rPr lang="en-US" dirty="0">
                <a:latin typeface="+mj-lt"/>
              </a:rPr>
              <a:t> 27 </a:t>
            </a:r>
            <a:r>
              <a:rPr lang="en-US" dirty="0" err="1">
                <a:latin typeface="+mj-lt"/>
              </a:rPr>
              <a:t>Desember</a:t>
            </a:r>
            <a:r>
              <a:rPr lang="en-US" dirty="0">
                <a:latin typeface="+mj-lt"/>
              </a:rPr>
              <a:t> 1945, </a:t>
            </a:r>
            <a:r>
              <a:rPr lang="en-US" dirty="0" err="1">
                <a:latin typeface="+mj-lt"/>
              </a:rPr>
              <a:t>alinea</a:t>
            </a:r>
            <a:r>
              <a:rPr lang="en-US" dirty="0">
                <a:latin typeface="+mj-lt"/>
              </a:rPr>
              <a:t> IV</a:t>
            </a:r>
            <a:r>
              <a:rPr lang="id-ID" dirty="0">
                <a:latin typeface="+mj-lt"/>
              </a:rPr>
              <a:t>;</a:t>
            </a:r>
            <a:endParaRPr lang="en-US" dirty="0">
              <a:latin typeface="+mj-lt"/>
            </a:endParaRPr>
          </a:p>
          <a:p>
            <a:pPr algn="just"/>
            <a:r>
              <a:rPr lang="en-US" dirty="0" err="1">
                <a:latin typeface="+mj-lt"/>
              </a:rPr>
              <a:t>Mukadimah</a:t>
            </a:r>
            <a:r>
              <a:rPr lang="en-US" dirty="0">
                <a:latin typeface="+mj-lt"/>
              </a:rPr>
              <a:t> UUD </a:t>
            </a:r>
            <a:r>
              <a:rPr lang="en-US" dirty="0" err="1">
                <a:latin typeface="+mj-lt"/>
              </a:rPr>
              <a:t>Sementara</a:t>
            </a:r>
            <a:r>
              <a:rPr lang="en-US" dirty="0">
                <a:latin typeface="+mj-lt"/>
              </a:rPr>
              <a:t> </a:t>
            </a:r>
            <a:r>
              <a:rPr lang="en-US" dirty="0" err="1">
                <a:latin typeface="+mj-lt"/>
              </a:rPr>
              <a:t>Republik</a:t>
            </a:r>
            <a:r>
              <a:rPr lang="en-US" dirty="0">
                <a:latin typeface="+mj-lt"/>
              </a:rPr>
              <a:t> Indonesia (UUDS RI) </a:t>
            </a:r>
            <a:r>
              <a:rPr lang="en-US" dirty="0" err="1">
                <a:latin typeface="+mj-lt"/>
              </a:rPr>
              <a:t>tanggal</a:t>
            </a:r>
            <a:r>
              <a:rPr lang="en-US" dirty="0">
                <a:latin typeface="+mj-lt"/>
              </a:rPr>
              <a:t> 17 </a:t>
            </a:r>
            <a:r>
              <a:rPr lang="en-US" dirty="0" err="1">
                <a:latin typeface="+mj-lt"/>
              </a:rPr>
              <a:t>Agustus</a:t>
            </a:r>
            <a:r>
              <a:rPr lang="en-US" dirty="0">
                <a:latin typeface="+mj-lt"/>
              </a:rPr>
              <a:t> 1950</a:t>
            </a:r>
            <a:r>
              <a:rPr lang="id-ID" dirty="0">
                <a:latin typeface="+mj-lt"/>
              </a:rPr>
              <a:t>;</a:t>
            </a:r>
            <a:endParaRPr lang="en-US" dirty="0">
              <a:latin typeface="+mj-lt"/>
            </a:endParaRPr>
          </a:p>
          <a:p>
            <a:pPr algn="just"/>
            <a:r>
              <a:rPr lang="en-US" dirty="0" err="1">
                <a:latin typeface="+mj-lt"/>
              </a:rPr>
              <a:t>Pembukaan</a:t>
            </a:r>
            <a:r>
              <a:rPr lang="en-US" dirty="0">
                <a:latin typeface="+mj-lt"/>
              </a:rPr>
              <a:t> UUD 1945, </a:t>
            </a:r>
            <a:r>
              <a:rPr lang="en-US" dirty="0" err="1">
                <a:latin typeface="+mj-lt"/>
              </a:rPr>
              <a:t>alinea</a:t>
            </a:r>
            <a:r>
              <a:rPr lang="en-US" dirty="0">
                <a:latin typeface="+mj-lt"/>
              </a:rPr>
              <a:t> IV </a:t>
            </a:r>
            <a:r>
              <a:rPr lang="en-US" dirty="0" err="1">
                <a:latin typeface="+mj-lt"/>
              </a:rPr>
              <a:t>setelah</a:t>
            </a:r>
            <a:r>
              <a:rPr lang="en-US" dirty="0">
                <a:latin typeface="+mj-lt"/>
              </a:rPr>
              <a:t> </a:t>
            </a:r>
            <a:r>
              <a:rPr lang="en-US" dirty="0" err="1">
                <a:latin typeface="+mj-lt"/>
              </a:rPr>
              <a:t>Dekrit</a:t>
            </a:r>
            <a:r>
              <a:rPr lang="en-US" dirty="0">
                <a:latin typeface="+mj-lt"/>
              </a:rPr>
              <a:t> </a:t>
            </a:r>
            <a:r>
              <a:rPr lang="en-US" dirty="0" err="1">
                <a:latin typeface="+mj-lt"/>
              </a:rPr>
              <a:t>Presiden</a:t>
            </a:r>
            <a:r>
              <a:rPr lang="en-US" dirty="0">
                <a:latin typeface="+mj-lt"/>
              </a:rPr>
              <a:t> RI </a:t>
            </a:r>
            <a:r>
              <a:rPr lang="en-US" dirty="0" err="1">
                <a:latin typeface="+mj-lt"/>
              </a:rPr>
              <a:t>tanggal</a:t>
            </a:r>
            <a:r>
              <a:rPr lang="en-US" dirty="0">
                <a:latin typeface="+mj-lt"/>
              </a:rPr>
              <a:t>  5 </a:t>
            </a:r>
            <a:r>
              <a:rPr lang="en-US" dirty="0" err="1">
                <a:latin typeface="+mj-lt"/>
              </a:rPr>
              <a:t>Juli</a:t>
            </a:r>
            <a:r>
              <a:rPr lang="en-US" dirty="0">
                <a:latin typeface="+mj-lt"/>
              </a:rPr>
              <a:t> 1959</a:t>
            </a:r>
            <a:r>
              <a:rPr lang="id-ID" dirty="0">
                <a:latin typeface="+mj-lt"/>
              </a:rPr>
              <a:t>.</a:t>
            </a:r>
            <a:endParaRPr lang="en-US" dirty="0">
              <a:latin typeface="+mj-lt"/>
            </a:endParaRPr>
          </a:p>
        </p:txBody>
      </p:sp>
    </p:spTree>
    <p:extLst>
      <p:ext uri="{BB962C8B-B14F-4D97-AF65-F5344CB8AC3E}">
        <p14:creationId xmlns:p14="http://schemas.microsoft.com/office/powerpoint/2010/main" val="3990706990"/>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ts val="4000"/>
              </a:lnSpc>
            </a:pPr>
            <a:r>
              <a:rPr lang="en-US" dirty="0" err="1"/>
              <a:t>Filsafat</a:t>
            </a:r>
            <a:r>
              <a:rPr lang="en-US" dirty="0"/>
              <a:t> </a:t>
            </a:r>
            <a:r>
              <a:rPr lang="en-US" dirty="0" err="1"/>
              <a:t>Pancasila</a:t>
            </a:r>
            <a:r>
              <a:rPr lang="en-US" dirty="0"/>
              <a:t> </a:t>
            </a:r>
            <a:r>
              <a:rPr lang="en-US" dirty="0" err="1"/>
              <a:t>sebagai</a:t>
            </a:r>
            <a:r>
              <a:rPr lang="en-US" dirty="0"/>
              <a:t> </a:t>
            </a:r>
            <a:r>
              <a:rPr lang="en-US" dirty="0" err="1"/>
              <a:t>Sumber</a:t>
            </a:r>
            <a:r>
              <a:rPr lang="en-US" dirty="0"/>
              <a:t> </a:t>
            </a:r>
            <a:r>
              <a:rPr lang="en-US" dirty="0" err="1"/>
              <a:t>Imajinasi</a:t>
            </a:r>
            <a:endParaRPr lang="en-US" dirty="0"/>
          </a:p>
        </p:txBody>
      </p:sp>
      <p:sp>
        <p:nvSpPr>
          <p:cNvPr id="3" name="Content Placeholder 2"/>
          <p:cNvSpPr>
            <a:spLocks noGrp="1"/>
          </p:cNvSpPr>
          <p:nvPr>
            <p:ph idx="1"/>
          </p:nvPr>
        </p:nvSpPr>
        <p:spPr/>
        <p:txBody>
          <a:bodyPr>
            <a:normAutofit/>
          </a:bodyPr>
          <a:lstStyle/>
          <a:p>
            <a:pPr algn="just"/>
            <a:r>
              <a:rPr lang="en-US" dirty="0" err="1">
                <a:latin typeface="+mj-lt"/>
              </a:rPr>
              <a:t>Filsafat</a:t>
            </a:r>
            <a:r>
              <a:rPr lang="en-US" dirty="0">
                <a:latin typeface="+mj-lt"/>
              </a:rPr>
              <a:t> </a:t>
            </a:r>
            <a:r>
              <a:rPr lang="en-US" dirty="0" err="1">
                <a:latin typeface="+mj-lt"/>
              </a:rPr>
              <a:t>bangsa</a:t>
            </a:r>
            <a:r>
              <a:rPr lang="en-US" dirty="0">
                <a:latin typeface="+mj-lt"/>
              </a:rPr>
              <a:t> </a:t>
            </a:r>
            <a:r>
              <a:rPr lang="en-US" dirty="0" err="1">
                <a:latin typeface="+mj-lt"/>
              </a:rPr>
              <a:t>merupakan</a:t>
            </a:r>
            <a:r>
              <a:rPr lang="en-US" dirty="0">
                <a:latin typeface="+mj-lt"/>
              </a:rPr>
              <a:t> </a:t>
            </a:r>
            <a:r>
              <a:rPr lang="en-US" dirty="0" err="1">
                <a:latin typeface="+mj-lt"/>
              </a:rPr>
              <a:t>landasan</a:t>
            </a:r>
            <a:r>
              <a:rPr lang="en-US" dirty="0">
                <a:latin typeface="+mj-lt"/>
              </a:rPr>
              <a:t> </a:t>
            </a:r>
            <a:r>
              <a:rPr lang="en-US" dirty="0" err="1">
                <a:latin typeface="+mj-lt"/>
              </a:rPr>
              <a:t>idiil</a:t>
            </a:r>
            <a:r>
              <a:rPr lang="en-US" dirty="0">
                <a:latin typeface="+mj-lt"/>
              </a:rPr>
              <a:t> </a:t>
            </a:r>
            <a:r>
              <a:rPr lang="en-US" dirty="0" err="1">
                <a:latin typeface="+mj-lt"/>
              </a:rPr>
              <a:t>bangsa</a:t>
            </a:r>
            <a:r>
              <a:rPr lang="en-US" dirty="0">
                <a:latin typeface="+mj-lt"/>
              </a:rPr>
              <a:t> </a:t>
            </a:r>
            <a:r>
              <a:rPr lang="en-US" dirty="0" err="1">
                <a:latin typeface="+mj-lt"/>
              </a:rPr>
              <a:t>untuk</a:t>
            </a:r>
            <a:r>
              <a:rPr lang="en-US" dirty="0">
                <a:latin typeface="+mj-lt"/>
              </a:rPr>
              <a:t> </a:t>
            </a:r>
            <a:r>
              <a:rPr lang="en-US" dirty="0" err="1">
                <a:latin typeface="+mj-lt"/>
              </a:rPr>
              <a:t>menggapai</a:t>
            </a:r>
            <a:r>
              <a:rPr lang="en-US" dirty="0">
                <a:latin typeface="+mj-lt"/>
              </a:rPr>
              <a:t> </a:t>
            </a:r>
            <a:r>
              <a:rPr lang="en-US" dirty="0" err="1">
                <a:latin typeface="+mj-lt"/>
              </a:rPr>
              <a:t>cita</a:t>
            </a:r>
            <a:r>
              <a:rPr lang="id-ID" dirty="0">
                <a:latin typeface="+mj-lt"/>
              </a:rPr>
              <a:t> negara (</a:t>
            </a:r>
            <a:r>
              <a:rPr lang="id-ID" i="1" dirty="0">
                <a:latin typeface="+mj-lt"/>
              </a:rPr>
              <a:t>rechtssidee</a:t>
            </a:r>
            <a:r>
              <a:rPr lang="id-ID" dirty="0">
                <a:latin typeface="+mj-lt"/>
              </a:rPr>
              <a:t>)</a:t>
            </a:r>
            <a:r>
              <a:rPr lang="en-US" dirty="0">
                <a:latin typeface="+mj-lt"/>
              </a:rPr>
              <a:t> </a:t>
            </a:r>
            <a:r>
              <a:rPr lang="en-US" dirty="0" err="1">
                <a:latin typeface="+mj-lt"/>
              </a:rPr>
              <a:t>dan</a:t>
            </a:r>
            <a:r>
              <a:rPr lang="en-US" dirty="0">
                <a:latin typeface="+mj-lt"/>
              </a:rPr>
              <a:t> </a:t>
            </a:r>
            <a:r>
              <a:rPr lang="en-US" dirty="0" err="1">
                <a:latin typeface="+mj-lt"/>
              </a:rPr>
              <a:t>sumber</a:t>
            </a:r>
            <a:r>
              <a:rPr lang="en-US" dirty="0">
                <a:latin typeface="+mj-lt"/>
              </a:rPr>
              <a:t> </a:t>
            </a:r>
            <a:r>
              <a:rPr lang="en-US" dirty="0" err="1">
                <a:latin typeface="+mj-lt"/>
              </a:rPr>
              <a:t>imajinasi</a:t>
            </a:r>
            <a:r>
              <a:rPr lang="en-US" dirty="0">
                <a:latin typeface="+mj-lt"/>
              </a:rPr>
              <a:t> yang </a:t>
            </a:r>
            <a:r>
              <a:rPr lang="en-US" dirty="0" err="1">
                <a:latin typeface="+mj-lt"/>
              </a:rPr>
              <a:t>mengilhami</a:t>
            </a:r>
            <a:r>
              <a:rPr lang="en-US" dirty="0">
                <a:latin typeface="+mj-lt"/>
              </a:rPr>
              <a:t> </a:t>
            </a:r>
            <a:r>
              <a:rPr lang="en-US" dirty="0" err="1">
                <a:latin typeface="+mj-lt"/>
              </a:rPr>
              <a:t>anak</a:t>
            </a:r>
            <a:r>
              <a:rPr lang="en-US" dirty="0">
                <a:latin typeface="+mj-lt"/>
              </a:rPr>
              <a:t> </a:t>
            </a:r>
            <a:r>
              <a:rPr lang="en-US" dirty="0" err="1">
                <a:latin typeface="+mj-lt"/>
              </a:rPr>
              <a:t>bangsa</a:t>
            </a:r>
            <a:r>
              <a:rPr lang="en-US" dirty="0">
                <a:latin typeface="+mj-lt"/>
              </a:rPr>
              <a:t> </a:t>
            </a:r>
            <a:r>
              <a:rPr lang="en-US" dirty="0" err="1">
                <a:latin typeface="+mj-lt"/>
              </a:rPr>
              <a:t>dalam</a:t>
            </a:r>
            <a:r>
              <a:rPr lang="en-US" dirty="0">
                <a:latin typeface="+mj-lt"/>
              </a:rPr>
              <a:t> </a:t>
            </a:r>
            <a:r>
              <a:rPr lang="en-US" dirty="0" err="1">
                <a:latin typeface="+mj-lt"/>
              </a:rPr>
              <a:t>meletakkan</a:t>
            </a:r>
            <a:r>
              <a:rPr lang="en-US" dirty="0">
                <a:latin typeface="+mj-lt"/>
              </a:rPr>
              <a:t> </a:t>
            </a:r>
            <a:r>
              <a:rPr lang="en-US" dirty="0" err="1">
                <a:latin typeface="+mj-lt"/>
              </a:rPr>
              <a:t>dasar</a:t>
            </a:r>
            <a:r>
              <a:rPr lang="en-US" dirty="0">
                <a:latin typeface="+mj-lt"/>
              </a:rPr>
              <a:t> </a:t>
            </a:r>
            <a:r>
              <a:rPr lang="en-US" dirty="0" err="1">
                <a:latin typeface="+mj-lt"/>
              </a:rPr>
              <a:t>membangun</a:t>
            </a:r>
            <a:r>
              <a:rPr lang="en-US" dirty="0">
                <a:latin typeface="+mj-lt"/>
              </a:rPr>
              <a:t> </a:t>
            </a:r>
            <a:r>
              <a:rPr lang="en-US" dirty="0" err="1">
                <a:latin typeface="+mj-lt"/>
              </a:rPr>
              <a:t>berbagai</a:t>
            </a:r>
            <a:r>
              <a:rPr lang="en-US" dirty="0">
                <a:latin typeface="+mj-lt"/>
              </a:rPr>
              <a:t> </a:t>
            </a:r>
            <a:r>
              <a:rPr lang="en-US" dirty="0" err="1">
                <a:latin typeface="+mj-lt"/>
              </a:rPr>
              <a:t>aspek</a:t>
            </a:r>
            <a:r>
              <a:rPr lang="en-US" dirty="0">
                <a:latin typeface="+mj-lt"/>
              </a:rPr>
              <a:t> </a:t>
            </a:r>
            <a:r>
              <a:rPr lang="en-US" dirty="0" err="1">
                <a:latin typeface="+mj-lt"/>
              </a:rPr>
              <a:t>kehidupan</a:t>
            </a:r>
            <a:r>
              <a:rPr lang="en-US" dirty="0">
                <a:latin typeface="+mj-lt"/>
              </a:rPr>
              <a:t>.</a:t>
            </a:r>
          </a:p>
          <a:p>
            <a:pPr algn="just"/>
            <a:r>
              <a:rPr lang="en-US" dirty="0" err="1">
                <a:latin typeface="+mj-lt"/>
              </a:rPr>
              <a:t>Filsafat</a:t>
            </a:r>
            <a:r>
              <a:rPr lang="en-US" dirty="0">
                <a:latin typeface="+mj-lt"/>
              </a:rPr>
              <a:t> </a:t>
            </a:r>
            <a:r>
              <a:rPr lang="en-US" dirty="0" err="1">
                <a:latin typeface="+mj-lt"/>
              </a:rPr>
              <a:t>pancasila</a:t>
            </a:r>
            <a:r>
              <a:rPr lang="en-US" dirty="0">
                <a:latin typeface="+mj-lt"/>
              </a:rPr>
              <a:t> </a:t>
            </a:r>
            <a:r>
              <a:rPr lang="en-US" dirty="0" err="1">
                <a:latin typeface="+mj-lt"/>
              </a:rPr>
              <a:t>memberikan</a:t>
            </a:r>
            <a:r>
              <a:rPr lang="en-US" dirty="0">
                <a:latin typeface="+mj-lt"/>
              </a:rPr>
              <a:t> </a:t>
            </a:r>
            <a:r>
              <a:rPr lang="en-US" dirty="0" err="1">
                <a:latin typeface="+mj-lt"/>
              </a:rPr>
              <a:t>inspirasi</a:t>
            </a:r>
            <a:r>
              <a:rPr lang="en-US" dirty="0">
                <a:latin typeface="+mj-lt"/>
              </a:rPr>
              <a:t> </a:t>
            </a:r>
            <a:r>
              <a:rPr lang="en-US" dirty="0" err="1">
                <a:latin typeface="+mj-lt"/>
              </a:rPr>
              <a:t>bagi</a:t>
            </a:r>
            <a:r>
              <a:rPr lang="en-US" dirty="0">
                <a:latin typeface="+mj-lt"/>
              </a:rPr>
              <a:t> </a:t>
            </a:r>
            <a:r>
              <a:rPr lang="en-US" dirty="0" err="1">
                <a:latin typeface="+mj-lt"/>
              </a:rPr>
              <a:t>bangsa</a:t>
            </a:r>
            <a:r>
              <a:rPr lang="en-US" dirty="0">
                <a:latin typeface="+mj-lt"/>
              </a:rPr>
              <a:t> Indonesia </a:t>
            </a:r>
            <a:r>
              <a:rPr lang="en-US" dirty="0" err="1">
                <a:latin typeface="+mj-lt"/>
              </a:rPr>
              <a:t>dalam</a:t>
            </a:r>
            <a:r>
              <a:rPr lang="en-US" dirty="0">
                <a:latin typeface="+mj-lt"/>
              </a:rPr>
              <a:t> </a:t>
            </a:r>
            <a:r>
              <a:rPr lang="en-US" dirty="0" err="1">
                <a:latin typeface="+mj-lt"/>
              </a:rPr>
              <a:t>mengembangkan</a:t>
            </a:r>
            <a:r>
              <a:rPr lang="en-US" dirty="0">
                <a:latin typeface="+mj-lt"/>
              </a:rPr>
              <a:t> </a:t>
            </a:r>
            <a:r>
              <a:rPr lang="en-US" dirty="0" err="1">
                <a:latin typeface="+mj-lt"/>
              </a:rPr>
              <a:t>gagasan-gagasan</a:t>
            </a:r>
            <a:r>
              <a:rPr lang="en-US" dirty="0">
                <a:latin typeface="+mj-lt"/>
              </a:rPr>
              <a:t> </a:t>
            </a:r>
            <a:r>
              <a:rPr lang="en-US" dirty="0" err="1">
                <a:latin typeface="+mj-lt"/>
              </a:rPr>
              <a:t>sesuai</a:t>
            </a:r>
            <a:r>
              <a:rPr lang="en-US" dirty="0">
                <a:latin typeface="+mj-lt"/>
              </a:rPr>
              <a:t> </a:t>
            </a:r>
            <a:r>
              <a:rPr lang="en-US" dirty="0" err="1">
                <a:latin typeface="+mj-lt"/>
              </a:rPr>
              <a:t>dengan</a:t>
            </a:r>
            <a:r>
              <a:rPr lang="en-US" dirty="0">
                <a:latin typeface="+mj-lt"/>
              </a:rPr>
              <a:t> </a:t>
            </a:r>
            <a:r>
              <a:rPr lang="en-US" dirty="0" err="1">
                <a:latin typeface="+mj-lt"/>
              </a:rPr>
              <a:t>bidang</a:t>
            </a:r>
            <a:r>
              <a:rPr lang="en-US" dirty="0">
                <a:latin typeface="+mj-lt"/>
              </a:rPr>
              <a:t> </a:t>
            </a:r>
            <a:r>
              <a:rPr lang="en-US" dirty="0" err="1">
                <a:latin typeface="+mj-lt"/>
              </a:rPr>
              <a:t>ilmu</a:t>
            </a:r>
            <a:r>
              <a:rPr lang="en-US" dirty="0">
                <a:latin typeface="+mj-lt"/>
              </a:rPr>
              <a:t> yang </a:t>
            </a:r>
            <a:r>
              <a:rPr lang="en-US" dirty="0" err="1">
                <a:latin typeface="+mj-lt"/>
              </a:rPr>
              <a:t>ditekuninya</a:t>
            </a:r>
            <a:r>
              <a:rPr lang="en-US" dirty="0">
                <a:latin typeface="+mj-lt"/>
              </a:rPr>
              <a:t>.</a:t>
            </a:r>
          </a:p>
          <a:p>
            <a:endParaRPr lang="en-US" dirty="0">
              <a:latin typeface="+mj-lt"/>
            </a:endParaRPr>
          </a:p>
        </p:txBody>
      </p:sp>
    </p:spTree>
    <p:extLst>
      <p:ext uri="{BB962C8B-B14F-4D97-AF65-F5344CB8AC3E}">
        <p14:creationId xmlns:p14="http://schemas.microsoft.com/office/powerpoint/2010/main" val="3002107167"/>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plus(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plus(in)">
                                      <p:cBhvr>
                                        <p:cTn id="1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ts val="4000"/>
              </a:lnSpc>
            </a:pPr>
            <a:r>
              <a:rPr lang="en-US" dirty="0" err="1"/>
              <a:t>Pancasila</a:t>
            </a:r>
            <a:r>
              <a:rPr lang="en-US" dirty="0"/>
              <a:t> </a:t>
            </a:r>
            <a:r>
              <a:rPr lang="en-US" dirty="0" err="1"/>
              <a:t>Sebagai</a:t>
            </a:r>
            <a:r>
              <a:rPr lang="en-US" dirty="0"/>
              <a:t> </a:t>
            </a:r>
            <a:r>
              <a:rPr lang="en-US" dirty="0" err="1"/>
              <a:t>Jiwa</a:t>
            </a:r>
            <a:r>
              <a:rPr lang="en-US" dirty="0"/>
              <a:t> </a:t>
            </a:r>
            <a:r>
              <a:rPr lang="en-US" dirty="0" err="1"/>
              <a:t>dan</a:t>
            </a:r>
            <a:r>
              <a:rPr lang="en-US" dirty="0"/>
              <a:t> </a:t>
            </a:r>
            <a:r>
              <a:rPr lang="en-US" dirty="0" err="1"/>
              <a:t>Kepribadian</a:t>
            </a:r>
            <a:r>
              <a:rPr lang="en-US" dirty="0"/>
              <a:t> </a:t>
            </a:r>
            <a:r>
              <a:rPr lang="en-US" dirty="0" err="1"/>
              <a:t>Bangsa</a:t>
            </a:r>
            <a:r>
              <a:rPr lang="en-US" dirty="0"/>
              <a:t> Indonesia</a:t>
            </a:r>
          </a:p>
        </p:txBody>
      </p:sp>
      <p:sp>
        <p:nvSpPr>
          <p:cNvPr id="3" name="Content Placeholder 2"/>
          <p:cNvSpPr>
            <a:spLocks noGrp="1"/>
          </p:cNvSpPr>
          <p:nvPr>
            <p:ph idx="1"/>
          </p:nvPr>
        </p:nvSpPr>
        <p:spPr/>
        <p:txBody>
          <a:bodyPr>
            <a:normAutofit/>
          </a:bodyPr>
          <a:lstStyle/>
          <a:p>
            <a:pPr algn="just"/>
            <a:r>
              <a:rPr lang="en-US" dirty="0" err="1">
                <a:latin typeface="+mj-lt"/>
              </a:rPr>
              <a:t>Keseluruhan</a:t>
            </a:r>
            <a:r>
              <a:rPr lang="en-US" dirty="0">
                <a:latin typeface="+mj-lt"/>
              </a:rPr>
              <a:t> </a:t>
            </a:r>
            <a:r>
              <a:rPr lang="en-US" dirty="0" err="1">
                <a:latin typeface="+mj-lt"/>
              </a:rPr>
              <a:t>ciri</a:t>
            </a:r>
            <a:r>
              <a:rPr lang="en-US" dirty="0">
                <a:latin typeface="+mj-lt"/>
              </a:rPr>
              <a:t> </a:t>
            </a:r>
            <a:r>
              <a:rPr lang="en-US" dirty="0" err="1">
                <a:latin typeface="+mj-lt"/>
              </a:rPr>
              <a:t>khas</a:t>
            </a:r>
            <a:r>
              <a:rPr lang="en-US" dirty="0">
                <a:latin typeface="+mj-lt"/>
              </a:rPr>
              <a:t> </a:t>
            </a:r>
            <a:r>
              <a:rPr lang="en-US" dirty="0" err="1">
                <a:latin typeface="+mj-lt"/>
              </a:rPr>
              <a:t>bangsa</a:t>
            </a:r>
            <a:r>
              <a:rPr lang="en-US" dirty="0">
                <a:latin typeface="+mj-lt"/>
              </a:rPr>
              <a:t> Indonesia yang </a:t>
            </a:r>
            <a:r>
              <a:rPr lang="en-US" dirty="0" err="1">
                <a:latin typeface="+mj-lt"/>
              </a:rPr>
              <a:t>membedakan</a:t>
            </a:r>
            <a:r>
              <a:rPr lang="en-US" dirty="0">
                <a:latin typeface="+mj-lt"/>
              </a:rPr>
              <a:t> </a:t>
            </a:r>
            <a:r>
              <a:rPr lang="en-US" dirty="0" err="1">
                <a:latin typeface="+mj-lt"/>
              </a:rPr>
              <a:t>dengan</a:t>
            </a:r>
            <a:r>
              <a:rPr lang="en-US" dirty="0">
                <a:latin typeface="+mj-lt"/>
              </a:rPr>
              <a:t> </a:t>
            </a:r>
            <a:r>
              <a:rPr lang="en-US" dirty="0" err="1">
                <a:latin typeface="+mj-lt"/>
              </a:rPr>
              <a:t>bangsa</a:t>
            </a:r>
            <a:r>
              <a:rPr lang="en-US" dirty="0">
                <a:latin typeface="+mj-lt"/>
              </a:rPr>
              <a:t> lain</a:t>
            </a:r>
            <a:r>
              <a:rPr lang="id-ID" dirty="0">
                <a:latin typeface="+mj-lt"/>
              </a:rPr>
              <a:t>;</a:t>
            </a:r>
            <a:endParaRPr lang="en-US" dirty="0">
              <a:latin typeface="+mj-lt"/>
            </a:endParaRPr>
          </a:p>
          <a:p>
            <a:pPr algn="just"/>
            <a:r>
              <a:rPr lang="en-US" dirty="0" err="1">
                <a:latin typeface="+mj-lt"/>
              </a:rPr>
              <a:t>Keseluruhan</a:t>
            </a:r>
            <a:r>
              <a:rPr lang="en-US" dirty="0">
                <a:latin typeface="+mj-lt"/>
              </a:rPr>
              <a:t> </a:t>
            </a:r>
            <a:r>
              <a:rPr lang="en-US" dirty="0" err="1">
                <a:latin typeface="+mj-lt"/>
              </a:rPr>
              <a:t>ciri</a:t>
            </a:r>
            <a:r>
              <a:rPr lang="en-US" dirty="0">
                <a:latin typeface="+mj-lt"/>
              </a:rPr>
              <a:t> </a:t>
            </a:r>
            <a:r>
              <a:rPr lang="en-US" dirty="0" err="1">
                <a:latin typeface="+mj-lt"/>
              </a:rPr>
              <a:t>khas</a:t>
            </a:r>
            <a:r>
              <a:rPr lang="en-US" dirty="0">
                <a:latin typeface="+mj-lt"/>
              </a:rPr>
              <a:t> </a:t>
            </a:r>
            <a:r>
              <a:rPr lang="en-US" dirty="0" err="1">
                <a:latin typeface="+mj-lt"/>
              </a:rPr>
              <a:t>bangsa</a:t>
            </a:r>
            <a:r>
              <a:rPr lang="en-US" dirty="0">
                <a:latin typeface="+mj-lt"/>
              </a:rPr>
              <a:t> Indonesia </a:t>
            </a:r>
            <a:r>
              <a:rPr lang="en-US" dirty="0" err="1">
                <a:latin typeface="+mj-lt"/>
              </a:rPr>
              <a:t>sebagai</a:t>
            </a:r>
            <a:r>
              <a:rPr lang="en-US" dirty="0">
                <a:latin typeface="+mj-lt"/>
              </a:rPr>
              <a:t> </a:t>
            </a:r>
            <a:r>
              <a:rPr lang="en-US" dirty="0" err="1">
                <a:latin typeface="+mj-lt"/>
              </a:rPr>
              <a:t>pencerminan</a:t>
            </a:r>
            <a:r>
              <a:rPr lang="en-US" dirty="0">
                <a:latin typeface="+mj-lt"/>
              </a:rPr>
              <a:t> </a:t>
            </a:r>
            <a:r>
              <a:rPr lang="en-US" dirty="0" err="1">
                <a:latin typeface="+mj-lt"/>
              </a:rPr>
              <a:t>dari</a:t>
            </a:r>
            <a:r>
              <a:rPr lang="en-US" dirty="0">
                <a:latin typeface="+mj-lt"/>
              </a:rPr>
              <a:t> </a:t>
            </a:r>
            <a:r>
              <a:rPr lang="en-US" dirty="0" err="1">
                <a:latin typeface="+mj-lt"/>
              </a:rPr>
              <a:t>garis</a:t>
            </a:r>
            <a:r>
              <a:rPr lang="en-US" dirty="0">
                <a:latin typeface="+mj-lt"/>
              </a:rPr>
              <a:t> </a:t>
            </a:r>
            <a:r>
              <a:rPr lang="en-US" dirty="0" err="1">
                <a:latin typeface="+mj-lt"/>
              </a:rPr>
              <a:t>pertumbuhan</a:t>
            </a:r>
            <a:r>
              <a:rPr lang="en-US" dirty="0">
                <a:latin typeface="+mj-lt"/>
              </a:rPr>
              <a:t> </a:t>
            </a:r>
            <a:r>
              <a:rPr lang="en-US" dirty="0" err="1">
                <a:latin typeface="+mj-lt"/>
              </a:rPr>
              <a:t>dan</a:t>
            </a:r>
            <a:r>
              <a:rPr lang="en-US" dirty="0">
                <a:latin typeface="+mj-lt"/>
              </a:rPr>
              <a:t> </a:t>
            </a:r>
            <a:r>
              <a:rPr lang="en-US" dirty="0" err="1">
                <a:latin typeface="+mj-lt"/>
              </a:rPr>
              <a:t>perkembangan</a:t>
            </a:r>
            <a:r>
              <a:rPr lang="en-US" dirty="0">
                <a:latin typeface="+mj-lt"/>
              </a:rPr>
              <a:t> </a:t>
            </a:r>
            <a:r>
              <a:rPr lang="en-US" dirty="0" err="1">
                <a:latin typeface="+mj-lt"/>
              </a:rPr>
              <a:t>sepanjang</a:t>
            </a:r>
            <a:r>
              <a:rPr lang="en-US" dirty="0">
                <a:latin typeface="+mj-lt"/>
              </a:rPr>
              <a:t> masa</a:t>
            </a:r>
            <a:r>
              <a:rPr lang="id-ID" dirty="0">
                <a:latin typeface="+mj-lt"/>
              </a:rPr>
              <a:t>;</a:t>
            </a:r>
            <a:endParaRPr lang="en-US" dirty="0">
              <a:latin typeface="+mj-lt"/>
            </a:endParaRPr>
          </a:p>
          <a:p>
            <a:pPr algn="just"/>
            <a:r>
              <a:rPr lang="en-US" dirty="0" err="1">
                <a:latin typeface="+mj-lt"/>
              </a:rPr>
              <a:t>Ditentukan</a:t>
            </a:r>
            <a:r>
              <a:rPr lang="en-US" dirty="0">
                <a:latin typeface="+mj-lt"/>
              </a:rPr>
              <a:t> </a:t>
            </a:r>
            <a:r>
              <a:rPr lang="en-US" dirty="0" err="1">
                <a:latin typeface="+mj-lt"/>
              </a:rPr>
              <a:t>oleh</a:t>
            </a:r>
            <a:r>
              <a:rPr lang="en-US" dirty="0">
                <a:latin typeface="+mj-lt"/>
              </a:rPr>
              <a:t> </a:t>
            </a:r>
            <a:r>
              <a:rPr lang="en-US" dirty="0" err="1">
                <a:latin typeface="+mj-lt"/>
              </a:rPr>
              <a:t>kehidupan</a:t>
            </a:r>
            <a:r>
              <a:rPr lang="en-US" dirty="0">
                <a:latin typeface="+mj-lt"/>
              </a:rPr>
              <a:t> </a:t>
            </a:r>
            <a:r>
              <a:rPr lang="en-US" dirty="0" err="1">
                <a:latin typeface="+mj-lt"/>
              </a:rPr>
              <a:t>budi</a:t>
            </a:r>
            <a:r>
              <a:rPr lang="en-US" dirty="0">
                <a:latin typeface="+mj-lt"/>
              </a:rPr>
              <a:t> </a:t>
            </a:r>
            <a:r>
              <a:rPr lang="en-US" dirty="0" err="1">
                <a:latin typeface="+mj-lt"/>
              </a:rPr>
              <a:t>bangsa</a:t>
            </a:r>
            <a:r>
              <a:rPr lang="en-US" dirty="0">
                <a:latin typeface="+mj-lt"/>
              </a:rPr>
              <a:t> yang </a:t>
            </a:r>
            <a:r>
              <a:rPr lang="en-US" dirty="0" err="1">
                <a:latin typeface="+mj-lt"/>
              </a:rPr>
              <a:t>dipengaruhi</a:t>
            </a:r>
            <a:r>
              <a:rPr lang="en-US" dirty="0">
                <a:latin typeface="+mj-lt"/>
              </a:rPr>
              <a:t> </a:t>
            </a:r>
            <a:r>
              <a:rPr lang="en-US" dirty="0" err="1">
                <a:latin typeface="+mj-lt"/>
              </a:rPr>
              <a:t>oleh</a:t>
            </a:r>
            <a:r>
              <a:rPr lang="en-US" dirty="0">
                <a:latin typeface="+mj-lt"/>
              </a:rPr>
              <a:t> </a:t>
            </a:r>
            <a:r>
              <a:rPr lang="en-US" dirty="0" err="1">
                <a:latin typeface="+mj-lt"/>
              </a:rPr>
              <a:t>tempat</a:t>
            </a:r>
            <a:r>
              <a:rPr lang="en-US" dirty="0">
                <a:latin typeface="+mj-lt"/>
              </a:rPr>
              <a:t>, </a:t>
            </a:r>
            <a:r>
              <a:rPr lang="en-US" dirty="0" err="1">
                <a:latin typeface="+mj-lt"/>
              </a:rPr>
              <a:t>lingkungan</a:t>
            </a:r>
            <a:r>
              <a:rPr lang="en-US" dirty="0">
                <a:latin typeface="+mj-lt"/>
              </a:rPr>
              <a:t> </a:t>
            </a:r>
            <a:r>
              <a:rPr lang="en-US" dirty="0" err="1">
                <a:latin typeface="+mj-lt"/>
              </a:rPr>
              <a:t>dan</a:t>
            </a:r>
            <a:r>
              <a:rPr lang="en-US" dirty="0">
                <a:latin typeface="+mj-lt"/>
              </a:rPr>
              <a:t> </a:t>
            </a:r>
            <a:r>
              <a:rPr lang="en-US" dirty="0" err="1">
                <a:latin typeface="+mj-lt"/>
              </a:rPr>
              <a:t>suasana</a:t>
            </a:r>
            <a:r>
              <a:rPr lang="en-US" dirty="0">
                <a:latin typeface="+mj-lt"/>
              </a:rPr>
              <a:t> </a:t>
            </a:r>
            <a:r>
              <a:rPr lang="en-US" dirty="0" err="1">
                <a:latin typeface="+mj-lt"/>
              </a:rPr>
              <a:t>waktu</a:t>
            </a:r>
            <a:r>
              <a:rPr lang="en-US" dirty="0">
                <a:latin typeface="+mj-lt"/>
              </a:rPr>
              <a:t> </a:t>
            </a:r>
            <a:r>
              <a:rPr lang="en-US" dirty="0" err="1">
                <a:latin typeface="+mj-lt"/>
              </a:rPr>
              <a:t>sepanjang</a:t>
            </a:r>
            <a:r>
              <a:rPr lang="en-US" dirty="0">
                <a:latin typeface="+mj-lt"/>
              </a:rPr>
              <a:t> masa</a:t>
            </a:r>
            <a:r>
              <a:rPr lang="id-ID" dirty="0">
                <a:latin typeface="+mj-lt"/>
              </a:rPr>
              <a:t>.</a:t>
            </a:r>
            <a:endParaRPr lang="en-US" dirty="0">
              <a:latin typeface="+mj-lt"/>
            </a:endParaRPr>
          </a:p>
        </p:txBody>
      </p:sp>
    </p:spTree>
    <p:extLst>
      <p:ext uri="{BB962C8B-B14F-4D97-AF65-F5344CB8AC3E}">
        <p14:creationId xmlns:p14="http://schemas.microsoft.com/office/powerpoint/2010/main" val="2961443355"/>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edge">
                                      <p:cBhvr>
                                        <p:cTn id="13" dur="1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edg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edge">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noGrp="1"/>
          </p:cNvSpPr>
          <p:nvPr>
            <p:ph idx="1"/>
          </p:nvPr>
        </p:nvSpPr>
        <p:spPr bwMode="auto">
          <a:xfrm>
            <a:off x="457200" y="260350"/>
            <a:ext cx="7620000" cy="3024634"/>
          </a:xfrm>
          <a:prstGeom prst="rect">
            <a:avLst/>
          </a:prstGeom>
          <a:noFill/>
          <a:ln w="9525">
            <a:noFill/>
            <a:miter lim="800000"/>
            <a:headEnd/>
            <a:tailEnd/>
          </a:ln>
        </p:spPr>
        <p:txBody>
          <a:bodyPr anchor="b"/>
          <a:lstStyle/>
          <a:p>
            <a:pPr marL="114300" indent="0" algn="ctr">
              <a:buNone/>
              <a:defRPr/>
            </a:pPr>
            <a:r>
              <a:rPr lang="id-ID" sz="3600" dirty="0">
                <a:solidFill>
                  <a:schemeClr val="tx2"/>
                </a:solidFill>
                <a:latin typeface="+mj-lt"/>
                <a:ea typeface="+mj-ea"/>
                <a:cs typeface="+mj-cs"/>
              </a:rPr>
              <a:t>TERIMA KASIH</a:t>
            </a:r>
          </a:p>
        </p:txBody>
      </p:sp>
      <p:sp>
        <p:nvSpPr>
          <p:cNvPr id="4" name="Date Placeholder 3"/>
          <p:cNvSpPr>
            <a:spLocks noGrp="1"/>
          </p:cNvSpPr>
          <p:nvPr>
            <p:ph type="dt" sz="half" idx="10"/>
          </p:nvPr>
        </p:nvSpPr>
        <p:spPr/>
        <p:txBody>
          <a:bodyPr/>
          <a:lstStyle/>
          <a:p>
            <a:fld id="{7360E531-52B5-4332-A634-7031D780C8AC}" type="datetime1">
              <a:rPr lang="id-ID" smtClean="0"/>
              <a:t>12/09/2023</a:t>
            </a:fld>
            <a:endParaRPr lang="id-ID"/>
          </a:p>
        </p:txBody>
      </p:sp>
      <p:sp>
        <p:nvSpPr>
          <p:cNvPr id="5" name="Slide Number Placeholder 4"/>
          <p:cNvSpPr>
            <a:spLocks noGrp="1"/>
          </p:cNvSpPr>
          <p:nvPr>
            <p:ph type="sldNum" sz="quarter" idx="12"/>
          </p:nvPr>
        </p:nvSpPr>
        <p:spPr/>
        <p:txBody>
          <a:bodyPr/>
          <a:lstStyle/>
          <a:p>
            <a:fld id="{0BEEEC3A-66DB-44B3-B1C4-FF7A07C26C70}" type="slidenum">
              <a:rPr lang="id-ID" smtClean="0"/>
              <a:t>34</a:t>
            </a:fld>
            <a:endParaRPr lang="id-ID"/>
          </a:p>
        </p:txBody>
      </p:sp>
    </p:spTree>
    <p:extLst>
      <p:ext uri="{BB962C8B-B14F-4D97-AF65-F5344CB8AC3E}">
        <p14:creationId xmlns:p14="http://schemas.microsoft.com/office/powerpoint/2010/main" val="1069990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427</TotalTime>
  <Words>3460</Words>
  <Application>Microsoft Office PowerPoint</Application>
  <PresentationFormat>On-screen Show (4:3)</PresentationFormat>
  <Paragraphs>307</Paragraphs>
  <Slides>34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Cambria</vt:lpstr>
      <vt:lpstr>Rockwell</vt:lpstr>
      <vt:lpstr>Rockwell Condensed</vt:lpstr>
      <vt:lpstr>Times New Roman</vt:lpstr>
      <vt:lpstr>Wingdings</vt:lpstr>
      <vt:lpstr>Wingdings 3</vt:lpstr>
      <vt:lpstr>Wood Type</vt:lpstr>
      <vt:lpstr> PENDIDIKAN KEWARGANEGARAAN</vt:lpstr>
      <vt:lpstr>DASAR HUKUM MATA KULIAH PENDIDIKAN KEWARGANEGARAAN</vt:lpstr>
      <vt:lpstr>LANJUTAN (...) DASAR HUKUM</vt:lpstr>
      <vt:lpstr>KONSEP MPK</vt:lpstr>
      <vt:lpstr>PowerPoint Presentation</vt:lpstr>
      <vt:lpstr>PowerPoint Presentation</vt:lpstr>
      <vt:lpstr>PowerPoint Presentation</vt:lpstr>
      <vt:lpstr>Lanjutan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SISTEM FILSAFAT PANCASILA DAN PANCASILA SEBAGAI IDEOLOGI BANGSA DAN NEGARA</vt:lpstr>
      <vt:lpstr>Sistem Filsafat Pancasila</vt:lpstr>
      <vt:lpstr>Sistem Filsafat Pancasila</vt:lpstr>
      <vt:lpstr>Sistem Filsafat Pancasila</vt:lpstr>
      <vt:lpstr>PERTANYAAN</vt:lpstr>
      <vt:lpstr>Sistem Filsafat Pancasila</vt:lpstr>
      <vt:lpstr>Sistem Filsafat Pancasila</vt:lpstr>
      <vt:lpstr>Sistem Filsafat Pancasila</vt:lpstr>
      <vt:lpstr>Filasafat Pancasila Sebagai Pandangan Hidup Bangsa</vt:lpstr>
      <vt:lpstr>Filasafat Pancasila Sebagai Pandangan Hidup Bangsa</vt:lpstr>
      <vt:lpstr>Falsafah Pancasila Sebagai Dasar Negara Indonesia</vt:lpstr>
      <vt:lpstr>Falsafah Pancasila Sebagai Dasar Negara Indonesia</vt:lpstr>
      <vt:lpstr>Filsafat Pancasila sebagai Sumber Imajinasi</vt:lpstr>
      <vt:lpstr>Pancasila Sebagai Jiwa dan Kepribadian Bangsa Indonesia</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SOSIALISASI BANTUAN HUKUM CUMA-CUMA BERDASARKAN UNDANG-UNDANG NOMOR 16 TAHUN 2011 TENTANG BANTUAN HUKUM</dc:title>
  <dc:creator>hp</dc:creator>
  <cp:lastModifiedBy>HANA FARIDAH</cp:lastModifiedBy>
  <cp:revision>63</cp:revision>
  <dcterms:created xsi:type="dcterms:W3CDTF">2016-08-17T23:22:35Z</dcterms:created>
  <dcterms:modified xsi:type="dcterms:W3CDTF">2023-09-12T10:58:06Z</dcterms:modified>
</cp:coreProperties>
</file>